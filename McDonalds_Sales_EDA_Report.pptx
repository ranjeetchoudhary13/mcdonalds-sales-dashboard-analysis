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5.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6.xml" ContentType="application/vnd.openxmlformats-officedocument.presentationml.notesSlide+xml"/>
  <Override PartName="/ppt/charts/chart6.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c:v>
                </c:pt>
              </c:strCache>
            </c:strRef>
          </c:tx>
          <c:spPr>
            <a:solidFill>
              <a:srgbClr val="DA0000"/>
            </a:solidFill>
            <a:effectLst/>
          </c:spPr>
          <c:invertIfNegative val="0"/>
          <c:dPt>
            <c:idx val="0"/>
            <c:invertIfNegative val="0"/>
            <c:bubble3D val="0"/>
            <c:extLst>
              <c:ext xmlns:c16="http://schemas.microsoft.com/office/drawing/2014/chart" uri="{C3380CC4-5D6E-409C-BE32-E72D297353CC}">
                <c16:uniqueId val="{00000001-B02A-4FC9-9134-FEFC9A6B316D}"/>
              </c:ext>
            </c:extLst>
          </c:dPt>
          <c:dPt>
            <c:idx val="1"/>
            <c:invertIfNegative val="0"/>
            <c:bubble3D val="0"/>
            <c:extLst>
              <c:ext xmlns:c16="http://schemas.microsoft.com/office/drawing/2014/chart" uri="{C3380CC4-5D6E-409C-BE32-E72D297353CC}">
                <c16:uniqueId val="{00000003-B02A-4FC9-9134-FEFC9A6B316D}"/>
              </c:ext>
            </c:extLst>
          </c:dPt>
          <c:dPt>
            <c:idx val="2"/>
            <c:invertIfNegative val="0"/>
            <c:bubble3D val="0"/>
            <c:extLst>
              <c:ext xmlns:c16="http://schemas.microsoft.com/office/drawing/2014/chart" uri="{C3380CC4-5D6E-409C-BE32-E72D297353CC}">
                <c16:uniqueId val="{00000005-B02A-4FC9-9134-FEFC9A6B316D}"/>
              </c:ext>
            </c:extLst>
          </c:dPt>
          <c:dPt>
            <c:idx val="3"/>
            <c:invertIfNegative val="0"/>
            <c:bubble3D val="0"/>
            <c:extLst>
              <c:ext xmlns:c16="http://schemas.microsoft.com/office/drawing/2014/chart" uri="{C3380CC4-5D6E-409C-BE32-E72D297353CC}">
                <c16:uniqueId val="{00000007-B02A-4FC9-9134-FEFC9A6B316D}"/>
              </c:ext>
            </c:extLst>
          </c:dPt>
          <c:dPt>
            <c:idx val="4"/>
            <c:invertIfNegative val="0"/>
            <c:bubble3D val="0"/>
            <c:spPr>
              <a:solidFill>
                <a:srgbClr val="E5A800"/>
              </a:solidFill>
              <a:effectLst/>
            </c:spPr>
            <c:extLst>
              <c:ext xmlns:c16="http://schemas.microsoft.com/office/drawing/2014/chart" uri="{C3380CC4-5D6E-409C-BE32-E72D297353CC}">
                <c16:uniqueId val="{00000009-B02A-4FC9-9134-FEFC9A6B316D}"/>
              </c:ext>
            </c:extLst>
          </c:dPt>
          <c:dPt>
            <c:idx val="5"/>
            <c:invertIfNegative val="0"/>
            <c:bubble3D val="0"/>
            <c:spPr>
              <a:solidFill>
                <a:srgbClr val="E5A800"/>
              </a:solidFill>
              <a:effectLst/>
            </c:spPr>
            <c:extLst>
              <c:ext xmlns:c16="http://schemas.microsoft.com/office/drawing/2014/chart" uri="{C3380CC4-5D6E-409C-BE32-E72D297353CC}">
                <c16:uniqueId val="{0000000B-B02A-4FC9-9134-FEFC9A6B316D}"/>
              </c:ext>
            </c:extLst>
          </c:dPt>
          <c:dPt>
            <c:idx val="6"/>
            <c:invertIfNegative val="0"/>
            <c:bubble3D val="0"/>
            <c:spPr>
              <a:solidFill>
                <a:srgbClr val="E5A800"/>
              </a:solidFill>
              <a:effectLst/>
            </c:spPr>
            <c:extLst>
              <c:ext xmlns:c16="http://schemas.microsoft.com/office/drawing/2014/chart" uri="{C3380CC4-5D6E-409C-BE32-E72D297353CC}">
                <c16:uniqueId val="{0000000D-B02A-4FC9-9134-FEFC9A6B316D}"/>
              </c:ext>
            </c:extLst>
          </c:dPt>
          <c:dPt>
            <c:idx val="7"/>
            <c:invertIfNegative val="0"/>
            <c:bubble3D val="0"/>
            <c:spPr>
              <a:solidFill>
                <a:srgbClr val="E5A800"/>
              </a:solidFill>
              <a:effectLst/>
            </c:spPr>
            <c:extLst>
              <c:ext xmlns:c16="http://schemas.microsoft.com/office/drawing/2014/chart" uri="{C3380CC4-5D6E-409C-BE32-E72D297353CC}">
                <c16:uniqueId val="{0000000F-B02A-4FC9-9134-FEFC9A6B316D}"/>
              </c:ext>
            </c:extLst>
          </c:dPt>
          <c:dPt>
            <c:idx val="8"/>
            <c:invertIfNegative val="0"/>
            <c:bubble3D val="0"/>
            <c:spPr>
              <a:solidFill>
                <a:srgbClr val="E5A800"/>
              </a:solidFill>
              <a:effectLst/>
            </c:spPr>
            <c:extLst>
              <c:ext xmlns:c16="http://schemas.microsoft.com/office/drawing/2014/chart" uri="{C3380CC4-5D6E-409C-BE32-E72D297353CC}">
                <c16:uniqueId val="{00000011-B02A-4FC9-9134-FEFC9A6B316D}"/>
              </c:ext>
            </c:extLst>
          </c:dPt>
          <c:dPt>
            <c:idx val="9"/>
            <c:invertIfNegative val="0"/>
            <c:bubble3D val="0"/>
            <c:spPr>
              <a:solidFill>
                <a:srgbClr val="E5A800"/>
              </a:solidFill>
              <a:effectLst/>
            </c:spPr>
            <c:extLst>
              <c:ext xmlns:c16="http://schemas.microsoft.com/office/drawing/2014/chart" uri="{C3380CC4-5D6E-409C-BE32-E72D297353CC}">
                <c16:uniqueId val="{00000013-B02A-4FC9-9134-FEFC9A6B316D}"/>
              </c:ext>
            </c:extLst>
          </c:dPt>
          <c:dLbls>
            <c:numFmt formatCode="#,##0" sourceLinked="0"/>
            <c:spPr>
              <a:noFill/>
              <a:ln>
                <a:noFill/>
              </a:ln>
              <a:effectLst/>
            </c:spPr>
            <c:txPr>
              <a:bodyPr/>
              <a:lstStyle/>
              <a:p>
                <a:pPr>
                  <a:defRPr sz="8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Burger</c:v>
                </c:pt>
                <c:pt idx="1">
                  <c:v>Chicken</c:v>
                </c:pt>
                <c:pt idx="2">
                  <c:v>Pasta</c:v>
                </c:pt>
                <c:pt idx="3">
                  <c:v>Sandwich</c:v>
                </c:pt>
                <c:pt idx="4">
                  <c:v>Sides</c:v>
                </c:pt>
                <c:pt idx="5">
                  <c:v>Fries</c:v>
                </c:pt>
                <c:pt idx="6">
                  <c:v>Breakfast</c:v>
                </c:pt>
                <c:pt idx="7">
                  <c:v>Wraps</c:v>
                </c:pt>
                <c:pt idx="8">
                  <c:v>Salad</c:v>
                </c:pt>
                <c:pt idx="9">
                  <c:v>Shakes</c:v>
                </c:pt>
              </c:strCache>
            </c:strRef>
          </c:cat>
          <c:val>
            <c:numRef>
              <c:f>Sheet1!$B$2:$B$11</c:f>
              <c:numCache>
                <c:formatCode>General</c:formatCode>
                <c:ptCount val="10"/>
                <c:pt idx="0">
                  <c:v>21460</c:v>
                </c:pt>
                <c:pt idx="1">
                  <c:v>12280</c:v>
                </c:pt>
                <c:pt idx="2">
                  <c:v>9150</c:v>
                </c:pt>
                <c:pt idx="3">
                  <c:v>8130</c:v>
                </c:pt>
                <c:pt idx="4">
                  <c:v>2820</c:v>
                </c:pt>
                <c:pt idx="5">
                  <c:v>2460</c:v>
                </c:pt>
                <c:pt idx="6">
                  <c:v>1270</c:v>
                </c:pt>
                <c:pt idx="7">
                  <c:v>1220</c:v>
                </c:pt>
                <c:pt idx="8">
                  <c:v>1140</c:v>
                </c:pt>
                <c:pt idx="9">
                  <c:v>1070</c:v>
                </c:pt>
              </c:numCache>
            </c:numRef>
          </c:val>
          <c:extLst>
            <c:ext xmlns:c16="http://schemas.microsoft.com/office/drawing/2014/chart" uri="{C3380CC4-5D6E-409C-BE32-E72D297353CC}">
              <c16:uniqueId val="{00000014-B02A-4FC9-9134-FEFC9A6B316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c:v>
                </c:pt>
              </c:strCache>
            </c:strRef>
          </c:tx>
          <c:spPr>
            <a:ln w="38100" cap="flat">
              <a:solidFill>
                <a:srgbClr val="DA0000"/>
              </a:solidFill>
              <a:prstDash val="solid"/>
              <a:round/>
            </a:ln>
            <a:effectLst/>
          </c:spPr>
          <c:marker>
            <c:symbol val="circle"/>
            <c:size val="6"/>
            <c:spPr>
              <a:solidFill>
                <a:srgbClr val="DA0000"/>
              </a:solidFill>
              <a:ln w="9525" cap="flat">
                <a:solidFill>
                  <a:srgbClr val="DA0000"/>
                </a:solidFill>
                <a:prstDash val="solid"/>
                <a:round/>
              </a:ln>
              <a:effectLst/>
            </c:spPr>
          </c:marker>
          <c:dLbls>
            <c:numFmt formatCode="#,##0" sourceLinked="0"/>
            <c:spPr>
              <a:noFill/>
              <a:ln>
                <a:noFill/>
              </a:ln>
              <a:effectLst/>
            </c:spPr>
            <c:txPr>
              <a:bodyPr/>
              <a:lstStyle/>
              <a:p>
                <a:pPr>
                  <a:defRPr sz="900" b="0" i="0" u="none" strike="noStrike">
                    <a:solidFill>
                      <a:srgbClr val="DA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February</c:v>
                </c:pt>
                <c:pt idx="1">
                  <c:v>January</c:v>
                </c:pt>
                <c:pt idx="2">
                  <c:v>March</c:v>
                </c:pt>
              </c:strCache>
            </c:strRef>
          </c:cat>
          <c:val>
            <c:numRef>
              <c:f>Sheet1!$B$2:$B$4</c:f>
              <c:numCache>
                <c:formatCode>General</c:formatCode>
                <c:ptCount val="3"/>
                <c:pt idx="0">
                  <c:v>19480</c:v>
                </c:pt>
                <c:pt idx="1">
                  <c:v>20610</c:v>
                </c:pt>
                <c:pt idx="2">
                  <c:v>20910</c:v>
                </c:pt>
              </c:numCache>
            </c:numRef>
          </c:val>
          <c:smooth val="1"/>
          <c:extLst>
            <c:ext xmlns:c16="http://schemas.microsoft.com/office/drawing/2014/chart" uri="{C3380CC4-5D6E-409C-BE32-E72D297353CC}">
              <c16:uniqueId val="{00000000-F761-4770-A0C2-890DF31FE575}"/>
            </c:ext>
          </c:extLst>
        </c:ser>
        <c:dLbls>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FFC72C"/>
              </a:solidFill>
              <a:effectLst/>
            </c:spPr>
            <c:extLst>
              <c:ext xmlns:c16="http://schemas.microsoft.com/office/drawing/2014/chart" uri="{C3380CC4-5D6E-409C-BE32-E72D297353CC}">
                <c16:uniqueId val="{00000001-9E7F-4288-BA81-98283F5F636D}"/>
              </c:ext>
            </c:extLst>
          </c:dPt>
          <c:dPt>
            <c:idx val="1"/>
            <c:bubble3D val="0"/>
            <c:spPr>
              <a:solidFill>
                <a:srgbClr val="DA0000"/>
              </a:solidFill>
              <a:effectLst/>
            </c:spPr>
            <c:extLst>
              <c:ext xmlns:c16="http://schemas.microsoft.com/office/drawing/2014/chart" uri="{C3380CC4-5D6E-409C-BE32-E72D297353CC}">
                <c16:uniqueId val="{00000003-9E7F-4288-BA81-98283F5F636D}"/>
              </c:ext>
            </c:extLst>
          </c:dPt>
          <c:dLbls>
            <c:dLbl>
              <c:idx val="0"/>
              <c:numFmt formatCode="0%" sourceLinked="0"/>
              <c:spPr/>
              <c:txPr>
                <a:bodyPr/>
                <a:lstStyle/>
                <a:p>
                  <a:pPr>
                    <a:defRPr sz="900" b="0" i="0" u="none" strike="noStrike">
                      <a:solidFill>
                        <a:srgbClr val="333333"/>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9E7F-4288-BA81-98283F5F636D}"/>
                </c:ext>
              </c:extLst>
            </c:dLbl>
            <c:dLbl>
              <c:idx val="1"/>
              <c:numFmt formatCode="0%" sourceLinked="0"/>
              <c:spPr/>
              <c:txPr>
                <a:bodyPr/>
                <a:lstStyle/>
                <a:p>
                  <a:pPr>
                    <a:defRPr sz="900" b="0" i="0" u="none" strike="noStrike">
                      <a:solidFill>
                        <a:srgbClr val="333333"/>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9E7F-4288-BA81-98283F5F636D}"/>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Weekend ₹44,029</c:v>
                </c:pt>
                <c:pt idx="1">
                  <c:v>Weekday ₹16,974</c:v>
                </c:pt>
              </c:strCache>
            </c:strRef>
          </c:cat>
          <c:val>
            <c:numRef>
              <c:f>Sheet1!$B$2:$B$3</c:f>
              <c:numCache>
                <c:formatCode>General</c:formatCode>
                <c:ptCount val="2"/>
                <c:pt idx="0">
                  <c:v>44029</c:v>
                </c:pt>
                <c:pt idx="1">
                  <c:v>16974</c:v>
                </c:pt>
              </c:numCache>
            </c:numRef>
          </c:val>
          <c:extLst>
            <c:ext xmlns:c16="http://schemas.microsoft.com/office/drawing/2014/chart" uri="{C3380CC4-5D6E-409C-BE32-E72D297353CC}">
              <c16:uniqueId val="{00000004-9E7F-4288-BA81-98283F5F636D}"/>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90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Orders</c:v>
                </c:pt>
              </c:strCache>
            </c:strRef>
          </c:tx>
          <c:spPr>
            <a:ln w="38100" cap="flat">
              <a:solidFill>
                <a:srgbClr val="DA0000"/>
              </a:solidFill>
              <a:prstDash val="solid"/>
              <a:round/>
            </a:ln>
            <a:effectLst/>
          </c:spPr>
          <c:marker>
            <c:symbol val="circle"/>
            <c:size val="6"/>
            <c:spPr>
              <a:solidFill>
                <a:srgbClr val="DA0000"/>
              </a:solidFill>
              <a:ln w="9525" cap="flat">
                <a:solidFill>
                  <a:srgbClr val="DA0000"/>
                </a:solidFill>
                <a:prstDash val="solid"/>
                <a:round/>
              </a:ln>
              <a:effectLst/>
            </c:spPr>
          </c:marker>
          <c:cat>
            <c:strRef>
              <c:f>Sheet1!$A$2:$A$15</c:f>
              <c:strCache>
                <c:ptCount val="14"/>
                <c:pt idx="0">
                  <c:v>10AM</c:v>
                </c:pt>
                <c:pt idx="1">
                  <c:v>11AM</c:v>
                </c:pt>
                <c:pt idx="2">
                  <c:v>12PM</c:v>
                </c:pt>
                <c:pt idx="3">
                  <c:v>1PM</c:v>
                </c:pt>
                <c:pt idx="4">
                  <c:v>2PM</c:v>
                </c:pt>
                <c:pt idx="5">
                  <c:v>3PM</c:v>
                </c:pt>
                <c:pt idx="6">
                  <c:v>4PM</c:v>
                </c:pt>
                <c:pt idx="7">
                  <c:v>5PM</c:v>
                </c:pt>
                <c:pt idx="8">
                  <c:v>6PM</c:v>
                </c:pt>
                <c:pt idx="9">
                  <c:v>7PM</c:v>
                </c:pt>
                <c:pt idx="10">
                  <c:v>8PM</c:v>
                </c:pt>
                <c:pt idx="11">
                  <c:v>9PM</c:v>
                </c:pt>
                <c:pt idx="12">
                  <c:v>10PM</c:v>
                </c:pt>
                <c:pt idx="13">
                  <c:v>11PM</c:v>
                </c:pt>
              </c:strCache>
            </c:strRef>
          </c:cat>
          <c:val>
            <c:numRef>
              <c:f>Sheet1!$B$2:$B$15</c:f>
              <c:numCache>
                <c:formatCode>General</c:formatCode>
                <c:ptCount val="14"/>
                <c:pt idx="0">
                  <c:v>120</c:v>
                </c:pt>
                <c:pt idx="1">
                  <c:v>280</c:v>
                </c:pt>
                <c:pt idx="2">
                  <c:v>650</c:v>
                </c:pt>
                <c:pt idx="3">
                  <c:v>590</c:v>
                </c:pt>
                <c:pt idx="4">
                  <c:v>420</c:v>
                </c:pt>
                <c:pt idx="5">
                  <c:v>380</c:v>
                </c:pt>
                <c:pt idx="6">
                  <c:v>320</c:v>
                </c:pt>
                <c:pt idx="7">
                  <c:v>440</c:v>
                </c:pt>
                <c:pt idx="8">
                  <c:v>610</c:v>
                </c:pt>
                <c:pt idx="9">
                  <c:v>560</c:v>
                </c:pt>
                <c:pt idx="10">
                  <c:v>430</c:v>
                </c:pt>
                <c:pt idx="11">
                  <c:v>280</c:v>
                </c:pt>
                <c:pt idx="12">
                  <c:v>160</c:v>
                </c:pt>
                <c:pt idx="13">
                  <c:v>30</c:v>
                </c:pt>
              </c:numCache>
            </c:numRef>
          </c:val>
          <c:smooth val="1"/>
          <c:extLst>
            <c:ext xmlns:c16="http://schemas.microsoft.com/office/drawing/2014/chart" uri="{C3380CC4-5D6E-409C-BE32-E72D297353CC}">
              <c16:uniqueId val="{00000000-437D-48EE-9E2F-1B1316B1C12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EEE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DA0000"/>
              </a:solidFill>
              <a:effectLst/>
            </c:spPr>
            <c:extLst>
              <c:ext xmlns:c16="http://schemas.microsoft.com/office/drawing/2014/chart" uri="{C3380CC4-5D6E-409C-BE32-E72D297353CC}">
                <c16:uniqueId val="{00000001-72D5-483E-BEFA-38FC1CCB06D7}"/>
              </c:ext>
            </c:extLst>
          </c:dPt>
          <c:dPt>
            <c:idx val="1"/>
            <c:bubble3D val="0"/>
            <c:spPr>
              <a:solidFill>
                <a:srgbClr val="FFC72C"/>
              </a:solidFill>
              <a:effectLst/>
            </c:spPr>
            <c:extLst>
              <c:ext xmlns:c16="http://schemas.microsoft.com/office/drawing/2014/chart" uri="{C3380CC4-5D6E-409C-BE32-E72D297353CC}">
                <c16:uniqueId val="{00000003-72D5-483E-BEFA-38FC1CCB06D7}"/>
              </c:ext>
            </c:extLst>
          </c:dPt>
          <c:dPt>
            <c:idx val="2"/>
            <c:bubble3D val="0"/>
            <c:spPr>
              <a:solidFill>
                <a:srgbClr val="333333"/>
              </a:solidFill>
              <a:effectLst/>
            </c:spPr>
            <c:extLst>
              <c:ext xmlns:c16="http://schemas.microsoft.com/office/drawing/2014/chart" uri="{C3380CC4-5D6E-409C-BE32-E72D297353CC}">
                <c16:uniqueId val="{00000005-72D5-483E-BEFA-38FC1CCB06D7}"/>
              </c:ext>
            </c:extLst>
          </c:dPt>
          <c:dLbls>
            <c:dLbl>
              <c:idx val="0"/>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72D5-483E-BEFA-38FC1CCB06D7}"/>
                </c:ext>
              </c:extLst>
            </c:dLbl>
            <c:dLbl>
              <c:idx val="1"/>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72D5-483E-BEFA-38FC1CCB06D7}"/>
                </c:ext>
              </c:extLst>
            </c:dLbl>
            <c:dLbl>
              <c:idx val="2"/>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72D5-483E-BEFA-38FC1CCB06D7}"/>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Evening (2565)</c:v>
                </c:pt>
                <c:pt idx="1">
                  <c:v>Afternoon (2490)</c:v>
                </c:pt>
                <c:pt idx="2">
                  <c:v>Morning (288)</c:v>
                </c:pt>
              </c:strCache>
            </c:strRef>
          </c:cat>
          <c:val>
            <c:numRef>
              <c:f>Sheet1!$B$2:$B$4</c:f>
              <c:numCache>
                <c:formatCode>General</c:formatCode>
                <c:ptCount val="3"/>
                <c:pt idx="0">
                  <c:v>2565</c:v>
                </c:pt>
                <c:pt idx="1">
                  <c:v>2490</c:v>
                </c:pt>
                <c:pt idx="2">
                  <c:v>288</c:v>
                </c:pt>
              </c:numCache>
            </c:numRef>
          </c:val>
          <c:extLst>
            <c:ext xmlns:c16="http://schemas.microsoft.com/office/drawing/2014/chart" uri="{C3380CC4-5D6E-409C-BE32-E72D297353CC}">
              <c16:uniqueId val="{00000006-72D5-483E-BEFA-38FC1CCB06D7}"/>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850"/>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Orders</c:v>
                </c:pt>
              </c:strCache>
            </c:strRef>
          </c:tx>
          <c:spPr>
            <a:solidFill>
              <a:srgbClr val="E5A800"/>
            </a:solidFill>
            <a:effectLst/>
          </c:spPr>
          <c:invertIfNegative val="0"/>
          <c:dPt>
            <c:idx val="0"/>
            <c:invertIfNegative val="0"/>
            <c:bubble3D val="0"/>
            <c:extLst>
              <c:ext xmlns:c16="http://schemas.microsoft.com/office/drawing/2014/chart" uri="{C3380CC4-5D6E-409C-BE32-E72D297353CC}">
                <c16:uniqueId val="{00000001-6033-4991-914E-5AC756A9D277}"/>
              </c:ext>
            </c:extLst>
          </c:dPt>
          <c:dPt>
            <c:idx val="1"/>
            <c:invertIfNegative val="0"/>
            <c:bubble3D val="0"/>
            <c:spPr>
              <a:solidFill>
                <a:srgbClr val="FFC72C"/>
              </a:solidFill>
              <a:effectLst/>
            </c:spPr>
            <c:extLst>
              <c:ext xmlns:c16="http://schemas.microsoft.com/office/drawing/2014/chart" uri="{C3380CC4-5D6E-409C-BE32-E72D297353CC}">
                <c16:uniqueId val="{00000003-6033-4991-914E-5AC756A9D277}"/>
              </c:ext>
            </c:extLst>
          </c:dPt>
          <c:dPt>
            <c:idx val="2"/>
            <c:invertIfNegative val="0"/>
            <c:bubble3D val="0"/>
            <c:spPr>
              <a:solidFill>
                <a:srgbClr val="FFC72C"/>
              </a:solidFill>
              <a:effectLst/>
            </c:spPr>
            <c:extLst>
              <c:ext xmlns:c16="http://schemas.microsoft.com/office/drawing/2014/chart" uri="{C3380CC4-5D6E-409C-BE32-E72D297353CC}">
                <c16:uniqueId val="{00000005-6033-4991-914E-5AC756A9D277}"/>
              </c:ext>
            </c:extLst>
          </c:dPt>
          <c:dPt>
            <c:idx val="3"/>
            <c:invertIfNegative val="0"/>
            <c:bubble3D val="0"/>
            <c:spPr>
              <a:solidFill>
                <a:srgbClr val="DA0000"/>
              </a:solidFill>
              <a:effectLst/>
            </c:spPr>
            <c:extLst>
              <c:ext xmlns:c16="http://schemas.microsoft.com/office/drawing/2014/chart" uri="{C3380CC4-5D6E-409C-BE32-E72D297353CC}">
                <c16:uniqueId val="{00000007-6033-4991-914E-5AC756A9D277}"/>
              </c:ext>
            </c:extLst>
          </c:dPt>
          <c:dPt>
            <c:idx val="4"/>
            <c:invertIfNegative val="0"/>
            <c:bubble3D val="0"/>
            <c:spPr>
              <a:solidFill>
                <a:srgbClr val="DA0000"/>
              </a:solidFill>
              <a:effectLst/>
            </c:spPr>
            <c:extLst>
              <c:ext xmlns:c16="http://schemas.microsoft.com/office/drawing/2014/chart" uri="{C3380CC4-5D6E-409C-BE32-E72D297353CC}">
                <c16:uniqueId val="{00000009-6033-4991-914E-5AC756A9D277}"/>
              </c:ext>
            </c:extLst>
          </c:dPt>
          <c:dLbls>
            <c:numFmt formatCode="#,##0" sourceLinked="0"/>
            <c:spPr>
              <a:noFill/>
              <a:ln>
                <a:noFill/>
              </a:ln>
              <a:effectLst/>
            </c:spPr>
            <c:txPr>
              <a:bodyPr/>
              <a:lstStyle/>
              <a:p>
                <a:pPr>
                  <a:defRPr sz="10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French Fries (Lg)</c:v>
                </c:pt>
                <c:pt idx="1">
                  <c:v>Quarter Pounder</c:v>
                </c:pt>
                <c:pt idx="2">
                  <c:v>Bulgogi Burger</c:v>
                </c:pt>
                <c:pt idx="3">
                  <c:v>Side Salad</c:v>
                </c:pt>
                <c:pt idx="4">
                  <c:v>Big Mac</c:v>
                </c:pt>
              </c:strCache>
            </c:strRef>
          </c:cat>
          <c:val>
            <c:numRef>
              <c:f>Sheet1!$B$2:$B$6</c:f>
              <c:numCache>
                <c:formatCode>General</c:formatCode>
                <c:ptCount val="5"/>
                <c:pt idx="0">
                  <c:v>571</c:v>
                </c:pt>
                <c:pt idx="1">
                  <c:v>583</c:v>
                </c:pt>
                <c:pt idx="2">
                  <c:v>588</c:v>
                </c:pt>
                <c:pt idx="3">
                  <c:v>620</c:v>
                </c:pt>
                <c:pt idx="4">
                  <c:v>622</c:v>
                </c:pt>
              </c:numCache>
            </c:numRef>
          </c:val>
          <c:extLst>
            <c:ext xmlns:c16="http://schemas.microsoft.com/office/drawing/2014/chart" uri="{C3380CC4-5D6E-409C-BE32-E72D297353CC}">
              <c16:uniqueId val="{0000000A-6033-4991-914E-5AC756A9D27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EEE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555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873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000"/>
        </a:solidFill>
        <a:effectLst/>
      </p:bgPr>
    </p:bg>
    <p:spTree>
      <p:nvGrpSpPr>
        <p:cNvPr id="1" name=""/>
        <p:cNvGrpSpPr/>
        <p:nvPr/>
      </p:nvGrpSpPr>
      <p:grpSpPr>
        <a:xfrm>
          <a:off x="0" y="0"/>
          <a:ext cx="0" cy="0"/>
          <a:chOff x="0" y="0"/>
          <a:chExt cx="0" cy="0"/>
        </a:xfrm>
      </p:grpSpPr>
      <p:sp>
        <p:nvSpPr>
          <p:cNvPr id="2" name="Shape 0"/>
          <p:cNvSpPr/>
          <p:nvPr/>
        </p:nvSpPr>
        <p:spPr>
          <a:xfrm>
            <a:off x="0" y="0"/>
            <a:ext cx="5029200" cy="6858000"/>
          </a:xfrm>
          <a:prstGeom prst="rect">
            <a:avLst/>
          </a:prstGeom>
          <a:solidFill>
            <a:srgbClr val="DA0000"/>
          </a:solidFill>
          <a:ln w="12700">
            <a:solidFill>
              <a:srgbClr val="DA0000"/>
            </a:solidFill>
            <a:prstDash val="solid"/>
          </a:ln>
        </p:spPr>
      </p:sp>
      <p:sp>
        <p:nvSpPr>
          <p:cNvPr id="3" name="Shape 1"/>
          <p:cNvSpPr/>
          <p:nvPr/>
        </p:nvSpPr>
        <p:spPr>
          <a:xfrm>
            <a:off x="5029200" y="0"/>
            <a:ext cx="109728" cy="6858000"/>
          </a:xfrm>
          <a:prstGeom prst="rect">
            <a:avLst/>
          </a:prstGeom>
          <a:solidFill>
            <a:srgbClr val="FFC72C"/>
          </a:solidFill>
          <a:ln w="12700">
            <a:solidFill>
              <a:srgbClr val="FFC72C"/>
            </a:solidFill>
            <a:prstDash val="solid"/>
          </a:ln>
        </p:spPr>
      </p:sp>
      <p:sp>
        <p:nvSpPr>
          <p:cNvPr id="4" name="Text 2"/>
          <p:cNvSpPr/>
          <p:nvPr/>
        </p:nvSpPr>
        <p:spPr>
          <a:xfrm>
            <a:off x="365760" y="137160"/>
            <a:ext cx="4114800" cy="2011680"/>
          </a:xfrm>
          <a:prstGeom prst="rect">
            <a:avLst/>
          </a:prstGeom>
          <a:noFill/>
          <a:ln/>
        </p:spPr>
        <p:txBody>
          <a:bodyPr wrap="square" lIns="0" tIns="0" rIns="0" bIns="0" rtlCol="0" anchor="ctr"/>
          <a:lstStyle/>
          <a:p>
            <a:pPr marL="0" indent="0" algn="ctr">
              <a:buNone/>
            </a:pPr>
            <a:r>
              <a:rPr lang="en-US" sz="16000" b="1" dirty="0">
                <a:solidFill>
                  <a:srgbClr val="FFC72C"/>
                </a:solidFill>
                <a:latin typeface="Impact" pitchFamily="34" charset="0"/>
                <a:ea typeface="Impact" pitchFamily="34" charset="-122"/>
                <a:cs typeface="Impact" pitchFamily="34" charset="-120"/>
              </a:rPr>
              <a:t>M</a:t>
            </a:r>
            <a:endParaRPr lang="en-US" sz="16000" dirty="0"/>
          </a:p>
        </p:txBody>
      </p:sp>
      <p:sp>
        <p:nvSpPr>
          <p:cNvPr id="5" name="Text 3"/>
          <p:cNvSpPr/>
          <p:nvPr/>
        </p:nvSpPr>
        <p:spPr>
          <a:xfrm>
            <a:off x="365760" y="1920240"/>
            <a:ext cx="4206240" cy="457200"/>
          </a:xfrm>
          <a:prstGeom prst="rect">
            <a:avLst/>
          </a:prstGeom>
          <a:noFill/>
          <a:ln/>
        </p:spPr>
        <p:txBody>
          <a:bodyPr wrap="square" lIns="0" tIns="0" rIns="0" bIns="0" rtlCol="0" anchor="ctr"/>
          <a:lstStyle/>
          <a:p>
            <a:pPr marL="0" indent="0" algn="ctr">
              <a:buNone/>
            </a:pPr>
            <a:r>
              <a:rPr lang="en-US" sz="2200" b="1" kern="0" spc="400" dirty="0">
                <a:solidFill>
                  <a:srgbClr val="FFFFFF"/>
                </a:solidFill>
                <a:latin typeface="Arial Black" pitchFamily="34" charset="0"/>
                <a:ea typeface="Arial Black" pitchFamily="34" charset="-122"/>
                <a:cs typeface="Arial Black" pitchFamily="34" charset="-120"/>
              </a:rPr>
              <a:t>McDonald's</a:t>
            </a:r>
            <a:endParaRPr lang="en-US" sz="2200" dirty="0"/>
          </a:p>
        </p:txBody>
      </p:sp>
      <p:sp>
        <p:nvSpPr>
          <p:cNvPr id="6" name="Shape 4"/>
          <p:cNvSpPr/>
          <p:nvPr/>
        </p:nvSpPr>
        <p:spPr>
          <a:xfrm>
            <a:off x="548640" y="2468880"/>
            <a:ext cx="3840480" cy="36576"/>
          </a:xfrm>
          <a:prstGeom prst="rect">
            <a:avLst/>
          </a:prstGeom>
          <a:solidFill>
            <a:srgbClr val="FFC72C"/>
          </a:solidFill>
          <a:ln w="12700">
            <a:solidFill>
              <a:srgbClr val="FFC72C"/>
            </a:solidFill>
            <a:prstDash val="solid"/>
          </a:ln>
        </p:spPr>
      </p:sp>
      <p:sp>
        <p:nvSpPr>
          <p:cNvPr id="7" name="Text 5"/>
          <p:cNvSpPr/>
          <p:nvPr/>
        </p:nvSpPr>
        <p:spPr>
          <a:xfrm>
            <a:off x="365760" y="2578608"/>
            <a:ext cx="4206240" cy="365760"/>
          </a:xfrm>
          <a:prstGeom prst="rect">
            <a:avLst/>
          </a:prstGeom>
          <a:noFill/>
          <a:ln/>
        </p:spPr>
        <p:txBody>
          <a:bodyPr wrap="square" lIns="0" tIns="0" rIns="0" bIns="0" rtlCol="0" anchor="ctr"/>
          <a:lstStyle/>
          <a:p>
            <a:pPr marL="0" indent="0" algn="ctr">
              <a:buNone/>
            </a:pPr>
            <a:r>
              <a:rPr lang="en-US" sz="900" b="1" kern="0" spc="200" dirty="0">
                <a:solidFill>
                  <a:srgbClr val="FFC72C"/>
                </a:solidFill>
                <a:latin typeface="Arial" pitchFamily="34" charset="0"/>
                <a:ea typeface="Arial" pitchFamily="34" charset="-122"/>
                <a:cs typeface="Arial" pitchFamily="34" charset="-120"/>
              </a:rPr>
              <a:t>EXPLORATORY DATA ANALYSIS REPORT</a:t>
            </a:r>
            <a:endParaRPr lang="en-US" sz="900" dirty="0"/>
          </a:p>
        </p:txBody>
      </p:sp>
      <p:sp>
        <p:nvSpPr>
          <p:cNvPr id="8" name="Text 6"/>
          <p:cNvSpPr/>
          <p:nvPr/>
        </p:nvSpPr>
        <p:spPr>
          <a:xfrm>
            <a:off x="274320" y="3063240"/>
            <a:ext cx="4480560" cy="1188720"/>
          </a:xfrm>
          <a:prstGeom prst="rect">
            <a:avLst/>
          </a:prstGeom>
          <a:noFill/>
          <a:ln/>
        </p:spPr>
        <p:txBody>
          <a:bodyPr wrap="square" lIns="0" tIns="0" rIns="0" bIns="0" rtlCol="0" anchor="ctr"/>
          <a:lstStyle/>
          <a:p>
            <a:pPr algn="ctr"/>
            <a:r>
              <a:rPr lang="en-IN" sz="3200" b="1" dirty="0">
                <a:solidFill>
                  <a:srgbClr val="FFFFFF"/>
                </a:solidFill>
                <a:latin typeface="Arial Black" pitchFamily="34" charset="0"/>
              </a:rPr>
              <a:t>McDonald’s Sales Dashboard Analysis</a:t>
            </a:r>
            <a:endParaRPr lang="en-US" sz="3200" b="1" dirty="0">
              <a:solidFill>
                <a:srgbClr val="FFFFFF"/>
              </a:solidFill>
              <a:latin typeface="Arial Black" pitchFamily="34" charset="0"/>
            </a:endParaRPr>
          </a:p>
        </p:txBody>
      </p:sp>
      <p:sp>
        <p:nvSpPr>
          <p:cNvPr id="9" name="Shape 7"/>
          <p:cNvSpPr/>
          <p:nvPr/>
        </p:nvSpPr>
        <p:spPr>
          <a:xfrm>
            <a:off x="548640" y="4480560"/>
            <a:ext cx="3840480" cy="1371600"/>
          </a:xfrm>
          <a:prstGeom prst="rect">
            <a:avLst/>
          </a:prstGeom>
          <a:solidFill>
            <a:srgbClr val="9B0000"/>
          </a:solidFill>
          <a:ln w="12700">
            <a:solidFill>
              <a:srgbClr val="FFC72C"/>
            </a:solidFill>
            <a:prstDash val="solid"/>
          </a:ln>
          <a:effectLst>
            <a:outerShdw blurRad="101600" dist="38100" dir="8100000" algn="bl" rotWithShape="0">
              <a:srgbClr val="000000">
                <a:alpha val="12000"/>
              </a:srgbClr>
            </a:outerShdw>
          </a:effectLst>
        </p:spPr>
      </p:sp>
      <p:sp>
        <p:nvSpPr>
          <p:cNvPr id="10" name="Text 8"/>
          <p:cNvSpPr/>
          <p:nvPr/>
        </p:nvSpPr>
        <p:spPr>
          <a:xfrm>
            <a:off x="548640" y="4572000"/>
            <a:ext cx="3840480" cy="274320"/>
          </a:xfrm>
          <a:prstGeom prst="rect">
            <a:avLst/>
          </a:prstGeom>
          <a:noFill/>
          <a:ln/>
        </p:spPr>
        <p:txBody>
          <a:bodyPr wrap="square" lIns="0" tIns="0" rIns="0" bIns="0" rtlCol="0" anchor="ctr"/>
          <a:lstStyle/>
          <a:p>
            <a:pPr marL="0" indent="0" algn="ctr">
              <a:buNone/>
            </a:pPr>
            <a:r>
              <a:rPr lang="en-US" sz="900" b="1" kern="0" spc="300" dirty="0">
                <a:solidFill>
                  <a:srgbClr val="FFC72C"/>
                </a:solidFill>
                <a:latin typeface="Arial" pitchFamily="34" charset="0"/>
                <a:ea typeface="Arial" pitchFamily="34" charset="-122"/>
                <a:cs typeface="Arial" pitchFamily="34" charset="-120"/>
              </a:rPr>
              <a:t>PREPARED BY</a:t>
            </a:r>
            <a:endParaRPr lang="en-US" sz="900" dirty="0"/>
          </a:p>
        </p:txBody>
      </p:sp>
      <p:sp>
        <p:nvSpPr>
          <p:cNvPr id="11" name="Text 9"/>
          <p:cNvSpPr/>
          <p:nvPr/>
        </p:nvSpPr>
        <p:spPr>
          <a:xfrm>
            <a:off x="548640" y="4846320"/>
            <a:ext cx="384048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RANJEET ANADA</a:t>
            </a:r>
            <a:endParaRPr lang="en-US" sz="2200" dirty="0"/>
          </a:p>
        </p:txBody>
      </p:sp>
      <p:sp>
        <p:nvSpPr>
          <p:cNvPr id="12" name="Text 10"/>
          <p:cNvSpPr/>
          <p:nvPr/>
        </p:nvSpPr>
        <p:spPr>
          <a:xfrm>
            <a:off x="548640" y="5321808"/>
            <a:ext cx="3840480" cy="274320"/>
          </a:xfrm>
          <a:prstGeom prst="rect">
            <a:avLst/>
          </a:prstGeom>
          <a:noFill/>
          <a:ln/>
        </p:spPr>
        <p:txBody>
          <a:bodyPr wrap="square" lIns="0" tIns="0" rIns="0" bIns="0" rtlCol="0" anchor="ctr"/>
          <a:lstStyle/>
          <a:p>
            <a:pPr marL="0" indent="0" algn="ctr">
              <a:buNone/>
            </a:pPr>
            <a:r>
              <a:rPr lang="en-US" sz="1000" dirty="0">
                <a:solidFill>
                  <a:srgbClr val="FFC000"/>
                </a:solidFill>
              </a:rPr>
              <a:t>Data Analyst | Excel &amp; Power Query Project</a:t>
            </a:r>
            <a:endParaRPr lang="en-US" sz="950" dirty="0">
              <a:solidFill>
                <a:srgbClr val="FFC000"/>
              </a:solidFill>
            </a:endParaRPr>
          </a:p>
        </p:txBody>
      </p:sp>
      <p:sp>
        <p:nvSpPr>
          <p:cNvPr id="13" name="Text 11"/>
          <p:cNvSpPr/>
          <p:nvPr/>
        </p:nvSpPr>
        <p:spPr>
          <a:xfrm>
            <a:off x="548640" y="5623560"/>
            <a:ext cx="3840480" cy="182880"/>
          </a:xfrm>
          <a:prstGeom prst="rect">
            <a:avLst/>
          </a:prstGeom>
          <a:noFill/>
          <a:ln/>
        </p:spPr>
        <p:txBody>
          <a:bodyPr wrap="square" lIns="0" tIns="0" rIns="0" bIns="0" rtlCol="0" anchor="ctr"/>
          <a:lstStyle/>
          <a:p>
            <a:pPr marL="0" indent="0" algn="ctr">
              <a:buNone/>
            </a:pPr>
            <a:r>
              <a:rPr lang="en-US" sz="900" dirty="0">
                <a:solidFill>
                  <a:srgbClr val="FFDDAA"/>
                </a:solidFill>
                <a:latin typeface="Arial" pitchFamily="34" charset="0"/>
                <a:ea typeface="Arial" pitchFamily="34" charset="-122"/>
                <a:cs typeface="Arial" pitchFamily="34" charset="-120"/>
              </a:rPr>
              <a:t>May 2026</a:t>
            </a:r>
            <a:endParaRPr lang="en-US" sz="900" dirty="0"/>
          </a:p>
        </p:txBody>
      </p:sp>
      <p:sp>
        <p:nvSpPr>
          <p:cNvPr id="14" name="Text 12"/>
          <p:cNvSpPr/>
          <p:nvPr/>
        </p:nvSpPr>
        <p:spPr>
          <a:xfrm>
            <a:off x="5394960" y="457200"/>
            <a:ext cx="6400800" cy="320040"/>
          </a:xfrm>
          <a:prstGeom prst="rect">
            <a:avLst/>
          </a:prstGeom>
          <a:noFill/>
          <a:ln/>
        </p:spPr>
        <p:txBody>
          <a:bodyPr wrap="square" lIns="0" tIns="0" rIns="0" bIns="0" rtlCol="0" anchor="ctr"/>
          <a:lstStyle/>
          <a:p>
            <a:pPr marL="0" indent="0">
              <a:buNone/>
            </a:pPr>
            <a:r>
              <a:rPr lang="en-US" sz="1000" b="1" kern="0" spc="300" dirty="0">
                <a:solidFill>
                  <a:srgbClr val="FFC72C"/>
                </a:solidFill>
                <a:latin typeface="Arial" pitchFamily="34" charset="0"/>
                <a:ea typeface="Arial" pitchFamily="34" charset="-122"/>
                <a:cs typeface="Arial" pitchFamily="34" charset="-120"/>
              </a:rPr>
              <a:t>PROJECT OVERVIEW</a:t>
            </a:r>
            <a:endParaRPr lang="en-US" sz="1000" dirty="0"/>
          </a:p>
        </p:txBody>
      </p:sp>
      <p:sp>
        <p:nvSpPr>
          <p:cNvPr id="15" name="Shape 13"/>
          <p:cNvSpPr/>
          <p:nvPr/>
        </p:nvSpPr>
        <p:spPr>
          <a:xfrm>
            <a:off x="5394960" y="804672"/>
            <a:ext cx="6400800" cy="36576"/>
          </a:xfrm>
          <a:prstGeom prst="rect">
            <a:avLst/>
          </a:prstGeom>
          <a:solidFill>
            <a:srgbClr val="FFC72C"/>
          </a:solidFill>
          <a:ln w="12700">
            <a:solidFill>
              <a:srgbClr val="FFC72C"/>
            </a:solidFill>
            <a:prstDash val="solid"/>
          </a:ln>
        </p:spPr>
      </p:sp>
      <p:sp>
        <p:nvSpPr>
          <p:cNvPr id="16" name="Text 14"/>
          <p:cNvSpPr/>
          <p:nvPr/>
        </p:nvSpPr>
        <p:spPr>
          <a:xfrm>
            <a:off x="5394960" y="914400"/>
            <a:ext cx="6400800" cy="868680"/>
          </a:xfrm>
          <a:prstGeom prst="rect">
            <a:avLst/>
          </a:prstGeom>
          <a:noFill/>
          <a:ln/>
        </p:spPr>
        <p:txBody>
          <a:bodyPr wrap="square" lIns="0" tIns="0" rIns="0" bIns="0" rtlCol="0" anchor="t"/>
          <a:lstStyle/>
          <a:p>
            <a:pPr marL="0" indent="0" algn="l">
              <a:buNone/>
            </a:pPr>
            <a:r>
              <a:rPr lang="en-US" sz="1100" dirty="0">
                <a:solidFill>
                  <a:srgbClr val="CCCCCC"/>
                </a:solidFill>
                <a:latin typeface="Calibri" pitchFamily="34" charset="0"/>
                <a:ea typeface="Calibri" pitchFamily="34" charset="-122"/>
                <a:cs typeface="Calibri" pitchFamily="34" charset="-120"/>
              </a:rPr>
              <a:t>This report presents a comprehensive Exploratory Data Analysis of McDonald's restaurant sales data. Using Microsoft Excel, Power Query, Pivot Tables, and Dashboard Visualization, the project uncovers deep insights into revenue patterns, customer behavior, and product performance.</a:t>
            </a:r>
            <a:endParaRPr lang="en-US" sz="1100" dirty="0"/>
          </a:p>
        </p:txBody>
      </p:sp>
      <p:sp>
        <p:nvSpPr>
          <p:cNvPr id="17" name="Shape 15"/>
          <p:cNvSpPr/>
          <p:nvPr/>
        </p:nvSpPr>
        <p:spPr>
          <a:xfrm>
            <a:off x="5394960" y="1874520"/>
            <a:ext cx="2011680" cy="201168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18" name="Shape 16"/>
          <p:cNvSpPr/>
          <p:nvPr/>
        </p:nvSpPr>
        <p:spPr>
          <a:xfrm>
            <a:off x="5394960" y="1874520"/>
            <a:ext cx="2011680" cy="320040"/>
          </a:xfrm>
          <a:prstGeom prst="rect">
            <a:avLst/>
          </a:prstGeom>
          <a:solidFill>
            <a:srgbClr val="DA0000"/>
          </a:solidFill>
          <a:ln w="12700">
            <a:solidFill>
              <a:srgbClr val="DA0000"/>
            </a:solidFill>
            <a:prstDash val="solid"/>
          </a:ln>
        </p:spPr>
      </p:sp>
      <p:sp>
        <p:nvSpPr>
          <p:cNvPr id="19" name="Text 17"/>
          <p:cNvSpPr/>
          <p:nvPr/>
        </p:nvSpPr>
        <p:spPr>
          <a:xfrm>
            <a:off x="5394960" y="1874520"/>
            <a:ext cx="2011680" cy="32004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TOOLS USED</a:t>
            </a:r>
            <a:endParaRPr lang="en-US" sz="900" dirty="0"/>
          </a:p>
        </p:txBody>
      </p:sp>
      <p:sp>
        <p:nvSpPr>
          <p:cNvPr id="20" name="Text 18"/>
          <p:cNvSpPr/>
          <p:nvPr/>
        </p:nvSpPr>
        <p:spPr>
          <a:xfrm>
            <a:off x="5468112" y="2240280"/>
            <a:ext cx="1874520" cy="1554480"/>
          </a:xfrm>
          <a:prstGeom prst="rect">
            <a:avLst/>
          </a:prstGeom>
          <a:noFill/>
          <a:ln/>
        </p:spPr>
        <p:txBody>
          <a:bodyPr wrap="square" lIns="0" tIns="0" rIns="0" bIns="0" rtlCol="0" anchor="t"/>
          <a:lstStyle/>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Microsoft Excel</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Power Query</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Pivot Tables &amp; Charts</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Dashboard Design</a:t>
            </a:r>
            <a:endParaRPr lang="en-US" sz="1000" dirty="0"/>
          </a:p>
        </p:txBody>
      </p:sp>
      <p:sp>
        <p:nvSpPr>
          <p:cNvPr id="21" name="Shape 19"/>
          <p:cNvSpPr/>
          <p:nvPr/>
        </p:nvSpPr>
        <p:spPr>
          <a:xfrm>
            <a:off x="7589520" y="1874520"/>
            <a:ext cx="2011680" cy="201168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22" name="Shape 20"/>
          <p:cNvSpPr/>
          <p:nvPr/>
        </p:nvSpPr>
        <p:spPr>
          <a:xfrm>
            <a:off x="7589520" y="1874520"/>
            <a:ext cx="2011680" cy="320040"/>
          </a:xfrm>
          <a:prstGeom prst="rect">
            <a:avLst/>
          </a:prstGeom>
          <a:solidFill>
            <a:srgbClr val="DA0000"/>
          </a:solidFill>
          <a:ln w="12700">
            <a:solidFill>
              <a:srgbClr val="DA0000"/>
            </a:solidFill>
            <a:prstDash val="solid"/>
          </a:ln>
        </p:spPr>
      </p:sp>
      <p:sp>
        <p:nvSpPr>
          <p:cNvPr id="23" name="Text 21"/>
          <p:cNvSpPr/>
          <p:nvPr/>
        </p:nvSpPr>
        <p:spPr>
          <a:xfrm>
            <a:off x="7589520" y="1874520"/>
            <a:ext cx="2011680" cy="32004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DATASET</a:t>
            </a:r>
            <a:endParaRPr lang="en-US" sz="900" dirty="0"/>
          </a:p>
        </p:txBody>
      </p:sp>
      <p:sp>
        <p:nvSpPr>
          <p:cNvPr id="24" name="Text 22"/>
          <p:cNvSpPr/>
          <p:nvPr/>
        </p:nvSpPr>
        <p:spPr>
          <a:xfrm>
            <a:off x="7662672" y="2240280"/>
            <a:ext cx="1874520" cy="1554480"/>
          </a:xfrm>
          <a:prstGeom prst="rect">
            <a:avLst/>
          </a:prstGeom>
          <a:noFill/>
          <a:ln/>
        </p:spPr>
        <p:txBody>
          <a:bodyPr wrap="square" lIns="0" tIns="0" rIns="0" bIns="0" rtlCol="0" anchor="t"/>
          <a:lstStyle/>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order_details table</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menu_items table</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5,343 Total Orders</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Jan–Mar 2024</a:t>
            </a:r>
            <a:endParaRPr lang="en-US" sz="1000" dirty="0"/>
          </a:p>
        </p:txBody>
      </p:sp>
      <p:sp>
        <p:nvSpPr>
          <p:cNvPr id="25" name="Shape 23"/>
          <p:cNvSpPr/>
          <p:nvPr/>
        </p:nvSpPr>
        <p:spPr>
          <a:xfrm>
            <a:off x="9784080" y="1874520"/>
            <a:ext cx="2011680" cy="201168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26" name="Shape 24"/>
          <p:cNvSpPr/>
          <p:nvPr/>
        </p:nvSpPr>
        <p:spPr>
          <a:xfrm>
            <a:off x="9784080" y="1874520"/>
            <a:ext cx="2011680" cy="320040"/>
          </a:xfrm>
          <a:prstGeom prst="rect">
            <a:avLst/>
          </a:prstGeom>
          <a:solidFill>
            <a:srgbClr val="DA0000"/>
          </a:solidFill>
          <a:ln w="12700">
            <a:solidFill>
              <a:srgbClr val="DA0000"/>
            </a:solidFill>
            <a:prstDash val="solid"/>
          </a:ln>
        </p:spPr>
      </p:sp>
      <p:sp>
        <p:nvSpPr>
          <p:cNvPr id="27" name="Text 25"/>
          <p:cNvSpPr/>
          <p:nvPr/>
        </p:nvSpPr>
        <p:spPr>
          <a:xfrm>
            <a:off x="9784080" y="1874520"/>
            <a:ext cx="2011680" cy="320040"/>
          </a:xfrm>
          <a:prstGeom prst="rect">
            <a:avLst/>
          </a:prstGeom>
          <a:noFill/>
          <a:ln/>
        </p:spPr>
        <p:txBody>
          <a:bodyPr wrap="square" lIns="0" tIns="0" rIns="0" bIns="0" rtlCol="0" anchor="ctr"/>
          <a:lstStyle/>
          <a:p>
            <a:pPr marL="0" indent="0" algn="ctr">
              <a:buNone/>
            </a:pPr>
            <a:r>
              <a:rPr lang="en-US" sz="900" b="1" kern="0" spc="100" dirty="0">
                <a:solidFill>
                  <a:srgbClr val="FFFFFF"/>
                </a:solidFill>
                <a:latin typeface="Arial" pitchFamily="34" charset="0"/>
                <a:ea typeface="Arial" pitchFamily="34" charset="-122"/>
                <a:cs typeface="Arial" pitchFamily="34" charset="-120"/>
              </a:rPr>
              <a:t>OBJECTIVES</a:t>
            </a:r>
            <a:endParaRPr lang="en-US" sz="900" dirty="0"/>
          </a:p>
        </p:txBody>
      </p:sp>
      <p:sp>
        <p:nvSpPr>
          <p:cNvPr id="28" name="Text 26"/>
          <p:cNvSpPr/>
          <p:nvPr/>
        </p:nvSpPr>
        <p:spPr>
          <a:xfrm>
            <a:off x="9857232" y="2240280"/>
            <a:ext cx="1874520" cy="1554480"/>
          </a:xfrm>
          <a:prstGeom prst="rect">
            <a:avLst/>
          </a:prstGeom>
          <a:noFill/>
          <a:ln/>
        </p:spPr>
        <p:txBody>
          <a:bodyPr wrap="square" lIns="0" tIns="0" rIns="0" bIns="0" rtlCol="0" anchor="t"/>
          <a:lstStyle/>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Analyze Sales Performance</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Identify Revenue Trends</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Customer Behavior Study</a:t>
            </a:r>
            <a:endParaRPr lang="en-US" sz="1000" dirty="0"/>
          </a:p>
          <a:p>
            <a:pPr marL="342900" indent="-342900">
              <a:buSzPct val="100000"/>
              <a:buChar char="•"/>
            </a:pPr>
            <a:r>
              <a:rPr lang="en-US" sz="1000" dirty="0">
                <a:solidFill>
                  <a:srgbClr val="DDDDDD"/>
                </a:solidFill>
                <a:latin typeface="Calibri" pitchFamily="34" charset="0"/>
                <a:ea typeface="Calibri" pitchFamily="34" charset="-122"/>
                <a:cs typeface="Calibri" pitchFamily="34" charset="-120"/>
              </a:rPr>
              <a:t>Product Insights</a:t>
            </a:r>
            <a:endParaRPr lang="en-US" sz="1000" dirty="0"/>
          </a:p>
        </p:txBody>
      </p:sp>
      <p:sp>
        <p:nvSpPr>
          <p:cNvPr id="29" name="Shape 27"/>
          <p:cNvSpPr/>
          <p:nvPr/>
        </p:nvSpPr>
        <p:spPr>
          <a:xfrm>
            <a:off x="5394960" y="4023360"/>
            <a:ext cx="6492240" cy="36576"/>
          </a:xfrm>
          <a:prstGeom prst="rect">
            <a:avLst/>
          </a:prstGeom>
          <a:solidFill>
            <a:srgbClr val="FFC72C"/>
          </a:solidFill>
          <a:ln w="12700">
            <a:solidFill>
              <a:srgbClr val="FFC72C"/>
            </a:solidFill>
            <a:prstDash val="solid"/>
          </a:ln>
        </p:spPr>
      </p:sp>
      <p:sp>
        <p:nvSpPr>
          <p:cNvPr id="30" name="Text 28"/>
          <p:cNvSpPr/>
          <p:nvPr/>
        </p:nvSpPr>
        <p:spPr>
          <a:xfrm>
            <a:off x="5394960" y="4114800"/>
            <a:ext cx="6492240" cy="274320"/>
          </a:xfrm>
          <a:prstGeom prst="rect">
            <a:avLst/>
          </a:prstGeom>
          <a:noFill/>
          <a:ln/>
        </p:spPr>
        <p:txBody>
          <a:bodyPr wrap="square" lIns="0" tIns="0" rIns="0" bIns="0" rtlCol="0" anchor="ctr"/>
          <a:lstStyle/>
          <a:p>
            <a:pPr marL="0" indent="0" algn="ctr">
              <a:buNone/>
            </a:pPr>
            <a:r>
              <a:rPr lang="en-US" sz="900" b="1" kern="0" spc="300" dirty="0">
                <a:solidFill>
                  <a:srgbClr val="FFC72C"/>
                </a:solidFill>
                <a:latin typeface="Arial" pitchFamily="34" charset="0"/>
                <a:ea typeface="Arial" pitchFamily="34" charset="-122"/>
                <a:cs typeface="Arial" pitchFamily="34" charset="-120"/>
              </a:rPr>
              <a:t>KEY PERFORMANCE INDICATORS</a:t>
            </a:r>
            <a:endParaRPr lang="en-US" sz="900" dirty="0"/>
          </a:p>
        </p:txBody>
      </p:sp>
      <p:sp>
        <p:nvSpPr>
          <p:cNvPr id="31" name="Shape 29"/>
          <p:cNvSpPr/>
          <p:nvPr/>
        </p:nvSpPr>
        <p:spPr>
          <a:xfrm>
            <a:off x="5394960" y="4434840"/>
            <a:ext cx="1536192" cy="1097280"/>
          </a:xfrm>
          <a:prstGeom prst="rect">
            <a:avLst/>
          </a:prstGeom>
          <a:solidFill>
            <a:srgbClr val="DA0000"/>
          </a:solidFill>
          <a:ln w="12700">
            <a:solidFill>
              <a:srgbClr val="9B0000"/>
            </a:solidFill>
            <a:prstDash val="solid"/>
          </a:ln>
          <a:effectLst>
            <a:outerShdw blurRad="101600" dist="38100" dir="8100000" algn="bl" rotWithShape="0">
              <a:srgbClr val="000000">
                <a:alpha val="12000"/>
              </a:srgbClr>
            </a:outerShdw>
          </a:effectLst>
        </p:spPr>
      </p:sp>
      <p:sp>
        <p:nvSpPr>
          <p:cNvPr id="32" name="Text 30"/>
          <p:cNvSpPr/>
          <p:nvPr/>
        </p:nvSpPr>
        <p:spPr>
          <a:xfrm>
            <a:off x="5394960" y="4480560"/>
            <a:ext cx="1536192" cy="594360"/>
          </a:xfrm>
          <a:prstGeom prst="rect">
            <a:avLst/>
          </a:prstGeom>
          <a:noFill/>
          <a:ln/>
        </p:spPr>
        <p:txBody>
          <a:bodyPr wrap="square" lIns="0" tIns="0" rIns="0" bIns="0" rtlCol="0" anchor="b"/>
          <a:lstStyle/>
          <a:p>
            <a:pPr marL="0" indent="0" algn="ctr">
              <a:buNone/>
            </a:pPr>
            <a:r>
              <a:rPr lang="en-US" sz="1400" b="1" dirty="0">
                <a:solidFill>
                  <a:srgbClr val="FFC72C"/>
                </a:solidFill>
                <a:latin typeface="Arial Black" pitchFamily="34" charset="0"/>
                <a:ea typeface="Arial Black" pitchFamily="34" charset="-122"/>
                <a:cs typeface="Arial Black" pitchFamily="34" charset="-120"/>
              </a:rPr>
              <a:t>₹61,004</a:t>
            </a:r>
            <a:endParaRPr lang="en-US" sz="1400" dirty="0"/>
          </a:p>
        </p:txBody>
      </p:sp>
      <p:sp>
        <p:nvSpPr>
          <p:cNvPr id="33" name="Text 31"/>
          <p:cNvSpPr/>
          <p:nvPr/>
        </p:nvSpPr>
        <p:spPr>
          <a:xfrm>
            <a:off x="5394960" y="5074920"/>
            <a:ext cx="1536192" cy="320040"/>
          </a:xfrm>
          <a:prstGeom prst="rect">
            <a:avLst/>
          </a:prstGeom>
          <a:noFill/>
          <a:ln/>
        </p:spPr>
        <p:txBody>
          <a:bodyPr wrap="square" lIns="0" tIns="0" rIns="0" bIns="0" rtlCol="0" anchor="ctr"/>
          <a:lstStyle/>
          <a:p>
            <a:pPr marL="0" indent="0" algn="ctr">
              <a:buNone/>
            </a:pPr>
            <a:r>
              <a:rPr lang="en-US" sz="750" kern="0" spc="100" dirty="0">
                <a:solidFill>
                  <a:srgbClr val="FFFFFF"/>
                </a:solidFill>
                <a:latin typeface="Arial" pitchFamily="34" charset="0"/>
                <a:ea typeface="Arial" pitchFamily="34" charset="-122"/>
                <a:cs typeface="Arial" pitchFamily="34" charset="-120"/>
              </a:rPr>
              <a:t>TOTAL REVENUE</a:t>
            </a:r>
            <a:endParaRPr lang="en-US" sz="750" dirty="0"/>
          </a:p>
        </p:txBody>
      </p:sp>
      <p:sp>
        <p:nvSpPr>
          <p:cNvPr id="34" name="Shape 32"/>
          <p:cNvSpPr/>
          <p:nvPr/>
        </p:nvSpPr>
        <p:spPr>
          <a:xfrm>
            <a:off x="7022592" y="4434840"/>
            <a:ext cx="1536192" cy="1097280"/>
          </a:xfrm>
          <a:prstGeom prst="rect">
            <a:avLst/>
          </a:prstGeom>
          <a:solidFill>
            <a:srgbClr val="DA0000"/>
          </a:solidFill>
          <a:ln w="12700">
            <a:solidFill>
              <a:srgbClr val="9B0000"/>
            </a:solidFill>
            <a:prstDash val="solid"/>
          </a:ln>
          <a:effectLst>
            <a:outerShdw blurRad="101600" dist="38100" dir="8100000" algn="bl" rotWithShape="0">
              <a:srgbClr val="000000">
                <a:alpha val="12000"/>
              </a:srgbClr>
            </a:outerShdw>
          </a:effectLst>
        </p:spPr>
      </p:sp>
      <p:sp>
        <p:nvSpPr>
          <p:cNvPr id="35" name="Text 33"/>
          <p:cNvSpPr/>
          <p:nvPr/>
        </p:nvSpPr>
        <p:spPr>
          <a:xfrm>
            <a:off x="7022592" y="4480560"/>
            <a:ext cx="1536192" cy="594360"/>
          </a:xfrm>
          <a:prstGeom prst="rect">
            <a:avLst/>
          </a:prstGeom>
          <a:noFill/>
          <a:ln/>
        </p:spPr>
        <p:txBody>
          <a:bodyPr wrap="square" lIns="0" tIns="0" rIns="0" bIns="0" rtlCol="0" anchor="b"/>
          <a:lstStyle/>
          <a:p>
            <a:pPr marL="0" indent="0" algn="ctr">
              <a:buNone/>
            </a:pPr>
            <a:r>
              <a:rPr lang="en-US" sz="1800" b="1" dirty="0">
                <a:solidFill>
                  <a:srgbClr val="FFC72C"/>
                </a:solidFill>
                <a:latin typeface="Arial Black" pitchFamily="34" charset="0"/>
                <a:ea typeface="Arial Black" pitchFamily="34" charset="-122"/>
                <a:cs typeface="Arial Black" pitchFamily="34" charset="-120"/>
              </a:rPr>
              <a:t>5,343</a:t>
            </a:r>
            <a:endParaRPr lang="en-US" sz="1800" dirty="0"/>
          </a:p>
        </p:txBody>
      </p:sp>
      <p:sp>
        <p:nvSpPr>
          <p:cNvPr id="36" name="Text 34"/>
          <p:cNvSpPr/>
          <p:nvPr/>
        </p:nvSpPr>
        <p:spPr>
          <a:xfrm>
            <a:off x="7022592" y="5074920"/>
            <a:ext cx="1536192" cy="320040"/>
          </a:xfrm>
          <a:prstGeom prst="rect">
            <a:avLst/>
          </a:prstGeom>
          <a:noFill/>
          <a:ln/>
        </p:spPr>
        <p:txBody>
          <a:bodyPr wrap="square" lIns="0" tIns="0" rIns="0" bIns="0" rtlCol="0" anchor="ctr"/>
          <a:lstStyle/>
          <a:p>
            <a:pPr marL="0" indent="0" algn="ctr">
              <a:buNone/>
            </a:pPr>
            <a:r>
              <a:rPr lang="en-US" sz="750" kern="0" spc="100" dirty="0">
                <a:solidFill>
                  <a:srgbClr val="FFFFFF"/>
                </a:solidFill>
                <a:latin typeface="Arial" pitchFamily="34" charset="0"/>
                <a:ea typeface="Arial" pitchFamily="34" charset="-122"/>
                <a:cs typeface="Arial" pitchFamily="34" charset="-120"/>
              </a:rPr>
              <a:t>TOTAL ORDERS</a:t>
            </a:r>
            <a:endParaRPr lang="en-US" sz="750" dirty="0"/>
          </a:p>
        </p:txBody>
      </p:sp>
      <p:sp>
        <p:nvSpPr>
          <p:cNvPr id="37" name="Shape 35"/>
          <p:cNvSpPr/>
          <p:nvPr/>
        </p:nvSpPr>
        <p:spPr>
          <a:xfrm>
            <a:off x="8650224" y="4434840"/>
            <a:ext cx="1536192" cy="1097280"/>
          </a:xfrm>
          <a:prstGeom prst="rect">
            <a:avLst/>
          </a:prstGeom>
          <a:solidFill>
            <a:srgbClr val="DA0000"/>
          </a:solidFill>
          <a:ln w="12700">
            <a:solidFill>
              <a:srgbClr val="9B0000"/>
            </a:solidFill>
            <a:prstDash val="solid"/>
          </a:ln>
          <a:effectLst>
            <a:outerShdw blurRad="101600" dist="38100" dir="8100000" algn="bl" rotWithShape="0">
              <a:srgbClr val="000000">
                <a:alpha val="12000"/>
              </a:srgbClr>
            </a:outerShdw>
          </a:effectLst>
        </p:spPr>
      </p:sp>
      <p:sp>
        <p:nvSpPr>
          <p:cNvPr id="38" name="Text 36"/>
          <p:cNvSpPr/>
          <p:nvPr/>
        </p:nvSpPr>
        <p:spPr>
          <a:xfrm>
            <a:off x="8650224" y="4480560"/>
            <a:ext cx="1536192" cy="594360"/>
          </a:xfrm>
          <a:prstGeom prst="rect">
            <a:avLst/>
          </a:prstGeom>
          <a:noFill/>
          <a:ln/>
        </p:spPr>
        <p:txBody>
          <a:bodyPr wrap="square" lIns="0" tIns="0" rIns="0" bIns="0" rtlCol="0" anchor="b"/>
          <a:lstStyle/>
          <a:p>
            <a:pPr marL="0" indent="0" algn="ctr">
              <a:buNone/>
            </a:pPr>
            <a:r>
              <a:rPr lang="en-US" sz="1800" b="1" dirty="0">
                <a:solidFill>
                  <a:srgbClr val="FFC72C"/>
                </a:solidFill>
                <a:latin typeface="Arial Black" pitchFamily="34" charset="0"/>
                <a:ea typeface="Arial Black" pitchFamily="34" charset="-122"/>
                <a:cs typeface="Arial Black" pitchFamily="34" charset="-120"/>
              </a:rPr>
              <a:t>2.26</a:t>
            </a:r>
            <a:endParaRPr lang="en-US" sz="1800" dirty="0"/>
          </a:p>
        </p:txBody>
      </p:sp>
      <p:sp>
        <p:nvSpPr>
          <p:cNvPr id="39" name="Text 37"/>
          <p:cNvSpPr/>
          <p:nvPr/>
        </p:nvSpPr>
        <p:spPr>
          <a:xfrm>
            <a:off x="8650224" y="5074920"/>
            <a:ext cx="1536192" cy="320040"/>
          </a:xfrm>
          <a:prstGeom prst="rect">
            <a:avLst/>
          </a:prstGeom>
          <a:noFill/>
          <a:ln/>
        </p:spPr>
        <p:txBody>
          <a:bodyPr wrap="square" lIns="0" tIns="0" rIns="0" bIns="0" rtlCol="0" anchor="ctr"/>
          <a:lstStyle/>
          <a:p>
            <a:pPr marL="0" indent="0" algn="ctr">
              <a:buNone/>
            </a:pPr>
            <a:r>
              <a:rPr lang="en-US" sz="750" kern="0" spc="100" dirty="0">
                <a:solidFill>
                  <a:srgbClr val="FFFFFF"/>
                </a:solidFill>
                <a:latin typeface="Arial" pitchFamily="34" charset="0"/>
                <a:ea typeface="Arial" pitchFamily="34" charset="-122"/>
                <a:cs typeface="Arial" pitchFamily="34" charset="-120"/>
              </a:rPr>
              <a:t>AVG ITEMS/ORDER</a:t>
            </a:r>
            <a:endParaRPr lang="en-US" sz="750" dirty="0"/>
          </a:p>
        </p:txBody>
      </p:sp>
      <p:sp>
        <p:nvSpPr>
          <p:cNvPr id="40" name="Shape 38"/>
          <p:cNvSpPr/>
          <p:nvPr/>
        </p:nvSpPr>
        <p:spPr>
          <a:xfrm>
            <a:off x="10277856" y="4434840"/>
            <a:ext cx="1536192" cy="1097280"/>
          </a:xfrm>
          <a:prstGeom prst="rect">
            <a:avLst/>
          </a:prstGeom>
          <a:solidFill>
            <a:srgbClr val="DA0000"/>
          </a:solidFill>
          <a:ln w="12700">
            <a:solidFill>
              <a:srgbClr val="9B0000"/>
            </a:solidFill>
            <a:prstDash val="solid"/>
          </a:ln>
          <a:effectLst>
            <a:outerShdw blurRad="101600" dist="38100" dir="8100000" algn="bl" rotWithShape="0">
              <a:srgbClr val="000000">
                <a:alpha val="12000"/>
              </a:srgbClr>
            </a:outerShdw>
          </a:effectLst>
        </p:spPr>
      </p:sp>
      <p:sp>
        <p:nvSpPr>
          <p:cNvPr id="41" name="Text 39"/>
          <p:cNvSpPr/>
          <p:nvPr/>
        </p:nvSpPr>
        <p:spPr>
          <a:xfrm>
            <a:off x="10277856" y="4480560"/>
            <a:ext cx="1536192" cy="594360"/>
          </a:xfrm>
          <a:prstGeom prst="rect">
            <a:avLst/>
          </a:prstGeom>
          <a:noFill/>
          <a:ln/>
        </p:spPr>
        <p:txBody>
          <a:bodyPr wrap="square" lIns="0" tIns="0" rIns="0" bIns="0" rtlCol="0" anchor="b"/>
          <a:lstStyle/>
          <a:p>
            <a:pPr marL="0" indent="0" algn="ctr">
              <a:buNone/>
            </a:pPr>
            <a:r>
              <a:rPr lang="en-US" sz="1400" b="1" dirty="0">
                <a:solidFill>
                  <a:srgbClr val="FFC72C"/>
                </a:solidFill>
                <a:latin typeface="Arial Black" pitchFamily="34" charset="0"/>
                <a:ea typeface="Arial Black" pitchFamily="34" charset="-122"/>
                <a:cs typeface="Arial Black" pitchFamily="34" charset="-120"/>
              </a:rPr>
              <a:t>Big Mac</a:t>
            </a:r>
            <a:endParaRPr lang="en-US" sz="1400" dirty="0"/>
          </a:p>
        </p:txBody>
      </p:sp>
      <p:sp>
        <p:nvSpPr>
          <p:cNvPr id="42" name="Text 40"/>
          <p:cNvSpPr/>
          <p:nvPr/>
        </p:nvSpPr>
        <p:spPr>
          <a:xfrm>
            <a:off x="10277856" y="5074920"/>
            <a:ext cx="1536192" cy="320040"/>
          </a:xfrm>
          <a:prstGeom prst="rect">
            <a:avLst/>
          </a:prstGeom>
          <a:noFill/>
          <a:ln/>
        </p:spPr>
        <p:txBody>
          <a:bodyPr wrap="square" lIns="0" tIns="0" rIns="0" bIns="0" rtlCol="0" anchor="ctr"/>
          <a:lstStyle/>
          <a:p>
            <a:pPr marL="0" indent="0" algn="ctr">
              <a:buNone/>
            </a:pPr>
            <a:r>
              <a:rPr lang="en-US" sz="750" kern="0" spc="100" dirty="0">
                <a:solidFill>
                  <a:srgbClr val="FFFFFF"/>
                </a:solidFill>
                <a:latin typeface="Arial" pitchFamily="34" charset="0"/>
                <a:ea typeface="Arial" pitchFamily="34" charset="-122"/>
                <a:cs typeface="Arial" pitchFamily="34" charset="-120"/>
              </a:rPr>
              <a:t>TOP ITEM</a:t>
            </a:r>
            <a:endParaRPr lang="en-US" sz="750" dirty="0"/>
          </a:p>
        </p:txBody>
      </p:sp>
      <p:sp>
        <p:nvSpPr>
          <p:cNvPr id="43" name="Shape 41"/>
          <p:cNvSpPr/>
          <p:nvPr/>
        </p:nvSpPr>
        <p:spPr>
          <a:xfrm>
            <a:off x="0" y="6537960"/>
            <a:ext cx="12161520" cy="320040"/>
          </a:xfrm>
          <a:prstGeom prst="rect">
            <a:avLst/>
          </a:prstGeom>
          <a:solidFill>
            <a:srgbClr val="0A0000"/>
          </a:solidFill>
          <a:ln w="12700">
            <a:solidFill>
              <a:srgbClr val="0A0000"/>
            </a:solidFill>
            <a:prstDash val="solid"/>
          </a:ln>
        </p:spPr>
      </p:sp>
      <p:sp>
        <p:nvSpPr>
          <p:cNvPr id="44" name="Text 42"/>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00" dirty="0">
                <a:solidFill>
                  <a:srgbClr val="888888"/>
                </a:solidFill>
                <a:latin typeface="Arial" pitchFamily="34" charset="0"/>
                <a:ea typeface="Arial" pitchFamily="34" charset="-122"/>
                <a:cs typeface="Arial" pitchFamily="34" charset="-120"/>
              </a:rPr>
              <a:t>McDonald's Sales Analysis Dashboard  |  Exploratory Data Analysis Report  |  Ranjeet Anada  |  May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DA0000"/>
          </a:solidFill>
          <a:ln w="12700">
            <a:solidFill>
              <a:srgbClr val="DA0000"/>
            </a:solidFill>
            <a:prstDash val="solid"/>
          </a:ln>
        </p:spPr>
      </p:sp>
      <p:sp>
        <p:nvSpPr>
          <p:cNvPr id="3" name="Text 1"/>
          <p:cNvSpPr/>
          <p:nvPr/>
        </p:nvSpPr>
        <p:spPr>
          <a:xfrm>
            <a:off x="457200" y="73152"/>
            <a:ext cx="91440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EXECUTIVE SUMMARY</a:t>
            </a:r>
            <a:endParaRPr lang="en-US" sz="2600" dirty="0"/>
          </a:p>
        </p:txBody>
      </p:sp>
      <p:sp>
        <p:nvSpPr>
          <p:cNvPr id="4" name="Text 2"/>
          <p:cNvSpPr/>
          <p:nvPr/>
        </p:nvSpPr>
        <p:spPr>
          <a:xfrm>
            <a:off x="457200" y="530352"/>
            <a:ext cx="9144000" cy="274320"/>
          </a:xfrm>
          <a:prstGeom prst="rect">
            <a:avLst/>
          </a:prstGeom>
          <a:noFill/>
          <a:ln/>
        </p:spPr>
        <p:txBody>
          <a:bodyPr wrap="square" lIns="0" tIns="0" rIns="0" bIns="0" rtlCol="0" anchor="ctr"/>
          <a:lstStyle/>
          <a:p>
            <a:pPr marL="0" indent="0">
              <a:buNone/>
            </a:pPr>
            <a:r>
              <a:rPr lang="en-US" sz="1100" i="1" dirty="0">
                <a:solidFill>
                  <a:srgbClr val="FFC72C"/>
                </a:solidFill>
                <a:latin typeface="Calibri" pitchFamily="34" charset="0"/>
                <a:ea typeface="Calibri" pitchFamily="34" charset="-122"/>
                <a:cs typeface="Calibri" pitchFamily="34" charset="-120"/>
              </a:rPr>
              <a:t>McDonald's Sales Analysis Dashboard  |  Jan – Mar 2024</a:t>
            </a:r>
            <a:endParaRPr lang="en-US" sz="1100" dirty="0"/>
          </a:p>
        </p:txBody>
      </p:sp>
      <p:sp>
        <p:nvSpPr>
          <p:cNvPr id="5" name="Text 3"/>
          <p:cNvSpPr/>
          <p:nvPr/>
        </p:nvSpPr>
        <p:spPr>
          <a:xfrm>
            <a:off x="11247120" y="182880"/>
            <a:ext cx="640080" cy="548640"/>
          </a:xfrm>
          <a:prstGeom prst="rect">
            <a:avLst/>
          </a:prstGeom>
          <a:noFill/>
          <a:ln/>
        </p:spPr>
        <p:txBody>
          <a:bodyPr wrap="square" lIns="0" tIns="0" rIns="0" bIns="0" rtlCol="0" anchor="ctr"/>
          <a:lstStyle/>
          <a:p>
            <a:pPr marL="0" indent="0" algn="ctr">
              <a:buNone/>
            </a:pPr>
            <a:r>
              <a:rPr lang="en-US" sz="2800" b="1" dirty="0">
                <a:solidFill>
                  <a:srgbClr val="FFC72C"/>
                </a:solidFill>
                <a:latin typeface="Arial Black" pitchFamily="34" charset="0"/>
                <a:ea typeface="Arial Black" pitchFamily="34" charset="-122"/>
                <a:cs typeface="Arial Black" pitchFamily="34" charset="-120"/>
              </a:rPr>
              <a:t>02</a:t>
            </a:r>
            <a:endParaRPr lang="en-US" sz="2800" dirty="0"/>
          </a:p>
        </p:txBody>
      </p:sp>
      <p:sp>
        <p:nvSpPr>
          <p:cNvPr id="6" name="Shape 4"/>
          <p:cNvSpPr/>
          <p:nvPr/>
        </p:nvSpPr>
        <p:spPr>
          <a:xfrm>
            <a:off x="320040" y="1051560"/>
            <a:ext cx="2651760" cy="1280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7" name="Shape 5"/>
          <p:cNvSpPr/>
          <p:nvPr/>
        </p:nvSpPr>
        <p:spPr>
          <a:xfrm>
            <a:off x="320040" y="1051560"/>
            <a:ext cx="2651760" cy="73152"/>
          </a:xfrm>
          <a:prstGeom prst="rect">
            <a:avLst/>
          </a:prstGeom>
          <a:solidFill>
            <a:srgbClr val="DA0000"/>
          </a:solidFill>
          <a:ln w="12700">
            <a:solidFill>
              <a:srgbClr val="DA0000"/>
            </a:solidFill>
            <a:prstDash val="solid"/>
          </a:ln>
        </p:spPr>
      </p:sp>
      <p:sp>
        <p:nvSpPr>
          <p:cNvPr id="8" name="Text 6"/>
          <p:cNvSpPr/>
          <p:nvPr/>
        </p:nvSpPr>
        <p:spPr>
          <a:xfrm>
            <a:off x="320040" y="1143000"/>
            <a:ext cx="2651760" cy="594360"/>
          </a:xfrm>
          <a:prstGeom prst="rect">
            <a:avLst/>
          </a:prstGeom>
          <a:noFill/>
          <a:ln/>
        </p:spPr>
        <p:txBody>
          <a:bodyPr wrap="square" lIns="0" tIns="0" rIns="0" bIns="0" rtlCol="0" anchor="ctr"/>
          <a:lstStyle/>
          <a:p>
            <a:pPr marL="0" indent="0" algn="ctr">
              <a:buNone/>
            </a:pPr>
            <a:r>
              <a:rPr lang="en-US" sz="2200" b="1" dirty="0">
                <a:solidFill>
                  <a:srgbClr val="DA0000"/>
                </a:solidFill>
                <a:latin typeface="Arial Black" pitchFamily="34" charset="0"/>
                <a:ea typeface="Arial Black" pitchFamily="34" charset="-122"/>
                <a:cs typeface="Arial Black" pitchFamily="34" charset="-120"/>
              </a:rPr>
              <a:t>💰  ₹61,004</a:t>
            </a:r>
            <a:endParaRPr lang="en-US" sz="2200" dirty="0"/>
          </a:p>
        </p:txBody>
      </p:sp>
      <p:sp>
        <p:nvSpPr>
          <p:cNvPr id="9" name="Text 7"/>
          <p:cNvSpPr/>
          <p:nvPr/>
        </p:nvSpPr>
        <p:spPr>
          <a:xfrm>
            <a:off x="320040" y="1737360"/>
            <a:ext cx="2651760"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Arial" pitchFamily="34" charset="0"/>
                <a:ea typeface="Arial" pitchFamily="34" charset="-122"/>
                <a:cs typeface="Arial" pitchFamily="34" charset="-120"/>
              </a:rPr>
              <a:t>Total Revenue</a:t>
            </a:r>
            <a:endParaRPr lang="en-US" sz="1100" dirty="0"/>
          </a:p>
        </p:txBody>
      </p:sp>
      <p:sp>
        <p:nvSpPr>
          <p:cNvPr id="10" name="Text 8"/>
          <p:cNvSpPr/>
          <p:nvPr/>
        </p:nvSpPr>
        <p:spPr>
          <a:xfrm>
            <a:off x="320040" y="1993392"/>
            <a:ext cx="2651760" cy="22860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Q1 Combined</a:t>
            </a:r>
            <a:endParaRPr lang="en-US" sz="900" dirty="0"/>
          </a:p>
        </p:txBody>
      </p:sp>
      <p:sp>
        <p:nvSpPr>
          <p:cNvPr id="11" name="Shape 9"/>
          <p:cNvSpPr/>
          <p:nvPr/>
        </p:nvSpPr>
        <p:spPr>
          <a:xfrm>
            <a:off x="3200400" y="1051560"/>
            <a:ext cx="2651760" cy="1280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2" name="Shape 10"/>
          <p:cNvSpPr/>
          <p:nvPr/>
        </p:nvSpPr>
        <p:spPr>
          <a:xfrm>
            <a:off x="3200400" y="1051560"/>
            <a:ext cx="2651760" cy="73152"/>
          </a:xfrm>
          <a:prstGeom prst="rect">
            <a:avLst/>
          </a:prstGeom>
          <a:solidFill>
            <a:srgbClr val="DA0000"/>
          </a:solidFill>
          <a:ln w="12700">
            <a:solidFill>
              <a:srgbClr val="DA0000"/>
            </a:solidFill>
            <a:prstDash val="solid"/>
          </a:ln>
        </p:spPr>
      </p:sp>
      <p:sp>
        <p:nvSpPr>
          <p:cNvPr id="13" name="Text 11"/>
          <p:cNvSpPr/>
          <p:nvPr/>
        </p:nvSpPr>
        <p:spPr>
          <a:xfrm>
            <a:off x="3200400" y="1143000"/>
            <a:ext cx="2651760" cy="594360"/>
          </a:xfrm>
          <a:prstGeom prst="rect">
            <a:avLst/>
          </a:prstGeom>
          <a:noFill/>
          <a:ln/>
        </p:spPr>
        <p:txBody>
          <a:bodyPr wrap="square" lIns="0" tIns="0" rIns="0" bIns="0" rtlCol="0" anchor="ctr"/>
          <a:lstStyle/>
          <a:p>
            <a:pPr marL="0" indent="0" algn="ctr">
              <a:buNone/>
            </a:pPr>
            <a:r>
              <a:rPr lang="en-US" sz="2200" b="1" dirty="0">
                <a:solidFill>
                  <a:srgbClr val="DA0000"/>
                </a:solidFill>
                <a:latin typeface="Arial Black" pitchFamily="34" charset="0"/>
                <a:ea typeface="Arial Black" pitchFamily="34" charset="-122"/>
                <a:cs typeface="Arial Black" pitchFamily="34" charset="-120"/>
              </a:rPr>
              <a:t>🧾  5,343</a:t>
            </a:r>
            <a:endParaRPr lang="en-US" sz="2200" dirty="0"/>
          </a:p>
        </p:txBody>
      </p:sp>
      <p:sp>
        <p:nvSpPr>
          <p:cNvPr id="14" name="Text 12"/>
          <p:cNvSpPr/>
          <p:nvPr/>
        </p:nvSpPr>
        <p:spPr>
          <a:xfrm>
            <a:off x="3200400" y="1737360"/>
            <a:ext cx="2651760"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Arial" pitchFamily="34" charset="0"/>
                <a:ea typeface="Arial" pitchFamily="34" charset="-122"/>
                <a:cs typeface="Arial" pitchFamily="34" charset="-120"/>
              </a:rPr>
              <a:t>Total Orders</a:t>
            </a:r>
            <a:endParaRPr lang="en-US" sz="1100" dirty="0"/>
          </a:p>
        </p:txBody>
      </p:sp>
      <p:sp>
        <p:nvSpPr>
          <p:cNvPr id="15" name="Text 13"/>
          <p:cNvSpPr/>
          <p:nvPr/>
        </p:nvSpPr>
        <p:spPr>
          <a:xfrm>
            <a:off x="3200400" y="1993392"/>
            <a:ext cx="2651760" cy="22860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Jan–Mar</a:t>
            </a:r>
            <a:endParaRPr lang="en-US" sz="900" dirty="0"/>
          </a:p>
        </p:txBody>
      </p:sp>
      <p:sp>
        <p:nvSpPr>
          <p:cNvPr id="16" name="Shape 14"/>
          <p:cNvSpPr/>
          <p:nvPr/>
        </p:nvSpPr>
        <p:spPr>
          <a:xfrm>
            <a:off x="6080760" y="1051560"/>
            <a:ext cx="2651760" cy="1280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7" name="Shape 15"/>
          <p:cNvSpPr/>
          <p:nvPr/>
        </p:nvSpPr>
        <p:spPr>
          <a:xfrm>
            <a:off x="6080760" y="1051560"/>
            <a:ext cx="2651760" cy="73152"/>
          </a:xfrm>
          <a:prstGeom prst="rect">
            <a:avLst/>
          </a:prstGeom>
          <a:solidFill>
            <a:srgbClr val="DA0000"/>
          </a:solidFill>
          <a:ln w="12700">
            <a:solidFill>
              <a:srgbClr val="DA0000"/>
            </a:solidFill>
            <a:prstDash val="solid"/>
          </a:ln>
        </p:spPr>
      </p:sp>
      <p:sp>
        <p:nvSpPr>
          <p:cNvPr id="18" name="Text 16"/>
          <p:cNvSpPr/>
          <p:nvPr/>
        </p:nvSpPr>
        <p:spPr>
          <a:xfrm>
            <a:off x="6080760" y="1143000"/>
            <a:ext cx="2651760" cy="594360"/>
          </a:xfrm>
          <a:prstGeom prst="rect">
            <a:avLst/>
          </a:prstGeom>
          <a:noFill/>
          <a:ln/>
        </p:spPr>
        <p:txBody>
          <a:bodyPr wrap="square" lIns="0" tIns="0" rIns="0" bIns="0" rtlCol="0" anchor="ctr"/>
          <a:lstStyle/>
          <a:p>
            <a:pPr marL="0" indent="0" algn="ctr">
              <a:buNone/>
            </a:pPr>
            <a:r>
              <a:rPr lang="en-US" sz="2200" b="1" dirty="0">
                <a:solidFill>
                  <a:srgbClr val="DA0000"/>
                </a:solidFill>
                <a:latin typeface="Arial Black" pitchFamily="34" charset="0"/>
                <a:ea typeface="Arial Black" pitchFamily="34" charset="-122"/>
                <a:cs typeface="Arial Black" pitchFamily="34" charset="-120"/>
              </a:rPr>
              <a:t>⚖  2.26</a:t>
            </a:r>
            <a:endParaRPr lang="en-US" sz="2200" dirty="0"/>
          </a:p>
        </p:txBody>
      </p:sp>
      <p:sp>
        <p:nvSpPr>
          <p:cNvPr id="19" name="Text 17"/>
          <p:cNvSpPr/>
          <p:nvPr/>
        </p:nvSpPr>
        <p:spPr>
          <a:xfrm>
            <a:off x="6080760" y="1737360"/>
            <a:ext cx="2651760"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Arial" pitchFamily="34" charset="0"/>
                <a:ea typeface="Arial" pitchFamily="34" charset="-122"/>
                <a:cs typeface="Arial" pitchFamily="34" charset="-120"/>
              </a:rPr>
              <a:t>Avg Items/Order</a:t>
            </a:r>
            <a:endParaRPr lang="en-US" sz="1100" dirty="0"/>
          </a:p>
        </p:txBody>
      </p:sp>
      <p:sp>
        <p:nvSpPr>
          <p:cNvPr id="20" name="Text 18"/>
          <p:cNvSpPr/>
          <p:nvPr/>
        </p:nvSpPr>
        <p:spPr>
          <a:xfrm>
            <a:off x="6080760" y="1993392"/>
            <a:ext cx="2651760" cy="22860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Per Transaction</a:t>
            </a:r>
            <a:endParaRPr lang="en-US" sz="900" dirty="0"/>
          </a:p>
        </p:txBody>
      </p:sp>
      <p:sp>
        <p:nvSpPr>
          <p:cNvPr id="21" name="Shape 19"/>
          <p:cNvSpPr/>
          <p:nvPr/>
        </p:nvSpPr>
        <p:spPr>
          <a:xfrm>
            <a:off x="8961120" y="1051560"/>
            <a:ext cx="2651760" cy="12801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2" name="Shape 20"/>
          <p:cNvSpPr/>
          <p:nvPr/>
        </p:nvSpPr>
        <p:spPr>
          <a:xfrm>
            <a:off x="8961120" y="1051560"/>
            <a:ext cx="2651760" cy="73152"/>
          </a:xfrm>
          <a:prstGeom prst="rect">
            <a:avLst/>
          </a:prstGeom>
          <a:solidFill>
            <a:srgbClr val="DA0000"/>
          </a:solidFill>
          <a:ln w="12700">
            <a:solidFill>
              <a:srgbClr val="DA0000"/>
            </a:solidFill>
            <a:prstDash val="solid"/>
          </a:ln>
        </p:spPr>
      </p:sp>
      <p:sp>
        <p:nvSpPr>
          <p:cNvPr id="23" name="Text 21"/>
          <p:cNvSpPr/>
          <p:nvPr/>
        </p:nvSpPr>
        <p:spPr>
          <a:xfrm>
            <a:off x="8961120" y="1143000"/>
            <a:ext cx="2651760" cy="594360"/>
          </a:xfrm>
          <a:prstGeom prst="rect">
            <a:avLst/>
          </a:prstGeom>
          <a:noFill/>
          <a:ln/>
        </p:spPr>
        <p:txBody>
          <a:bodyPr wrap="square" lIns="0" tIns="0" rIns="0" bIns="0" rtlCol="0" anchor="ctr"/>
          <a:lstStyle/>
          <a:p>
            <a:pPr marL="0" indent="0" algn="ctr">
              <a:buNone/>
            </a:pPr>
            <a:r>
              <a:rPr lang="en-US" sz="1800" b="1" dirty="0">
                <a:solidFill>
                  <a:srgbClr val="DA0000"/>
                </a:solidFill>
                <a:latin typeface="Arial Black" pitchFamily="34" charset="0"/>
                <a:ea typeface="Arial Black" pitchFamily="34" charset="-122"/>
                <a:cs typeface="Arial Black" pitchFamily="34" charset="-120"/>
              </a:rPr>
              <a:t>👑  Big Mac</a:t>
            </a:r>
            <a:endParaRPr lang="en-US" sz="1800" dirty="0"/>
          </a:p>
        </p:txBody>
      </p:sp>
      <p:sp>
        <p:nvSpPr>
          <p:cNvPr id="24" name="Text 22"/>
          <p:cNvSpPr/>
          <p:nvPr/>
        </p:nvSpPr>
        <p:spPr>
          <a:xfrm>
            <a:off x="8961120" y="1737360"/>
            <a:ext cx="2651760" cy="256032"/>
          </a:xfrm>
          <a:prstGeom prst="rect">
            <a:avLst/>
          </a:prstGeom>
          <a:noFill/>
          <a:ln/>
        </p:spPr>
        <p:txBody>
          <a:bodyPr wrap="square" lIns="0" tIns="0" rIns="0" bIns="0" rtlCol="0" anchor="ctr"/>
          <a:lstStyle/>
          <a:p>
            <a:pPr marL="0" indent="0" algn="ctr">
              <a:buNone/>
            </a:pPr>
            <a:r>
              <a:rPr lang="en-US" sz="1100" b="1" dirty="0">
                <a:solidFill>
                  <a:srgbClr val="1A1A1A"/>
                </a:solidFill>
                <a:latin typeface="Arial" pitchFamily="34" charset="0"/>
                <a:ea typeface="Arial" pitchFamily="34" charset="-122"/>
                <a:cs typeface="Arial" pitchFamily="34" charset="-120"/>
              </a:rPr>
              <a:t>Top Item</a:t>
            </a:r>
            <a:endParaRPr lang="en-US" sz="1100" dirty="0"/>
          </a:p>
        </p:txBody>
      </p:sp>
      <p:sp>
        <p:nvSpPr>
          <p:cNvPr id="25" name="Text 23"/>
          <p:cNvSpPr/>
          <p:nvPr/>
        </p:nvSpPr>
        <p:spPr>
          <a:xfrm>
            <a:off x="8961120" y="1993392"/>
            <a:ext cx="2651760" cy="228600"/>
          </a:xfrm>
          <a:prstGeom prst="rect">
            <a:avLst/>
          </a:prstGeom>
          <a:noFill/>
          <a:ln/>
        </p:spPr>
        <p:txBody>
          <a:bodyPr wrap="square" lIns="0" tIns="0" rIns="0" bIns="0" rtlCol="0" anchor="ctr"/>
          <a:lstStyle/>
          <a:p>
            <a:pPr marL="0" indent="0" algn="ctr">
              <a:buNone/>
            </a:pPr>
            <a:r>
              <a:rPr lang="en-US" sz="900" i="1" dirty="0">
                <a:solidFill>
                  <a:srgbClr val="888888"/>
                </a:solidFill>
                <a:latin typeface="Calibri" pitchFamily="34" charset="0"/>
                <a:ea typeface="Calibri" pitchFamily="34" charset="-122"/>
                <a:cs typeface="Calibri" pitchFamily="34" charset="-120"/>
              </a:rPr>
              <a:t>622 Orders</a:t>
            </a:r>
            <a:endParaRPr lang="en-US" sz="900" dirty="0"/>
          </a:p>
        </p:txBody>
      </p:sp>
      <p:sp>
        <p:nvSpPr>
          <p:cNvPr id="26" name="Shape 24"/>
          <p:cNvSpPr/>
          <p:nvPr/>
        </p:nvSpPr>
        <p:spPr>
          <a:xfrm>
            <a:off x="320040" y="2468880"/>
            <a:ext cx="5303520" cy="3108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7" name="Shape 25"/>
          <p:cNvSpPr/>
          <p:nvPr/>
        </p:nvSpPr>
        <p:spPr>
          <a:xfrm>
            <a:off x="320040" y="2468880"/>
            <a:ext cx="5303520" cy="347472"/>
          </a:xfrm>
          <a:prstGeom prst="rect">
            <a:avLst/>
          </a:prstGeom>
          <a:solidFill>
            <a:srgbClr val="DA0000"/>
          </a:solidFill>
          <a:ln w="12700">
            <a:solidFill>
              <a:srgbClr val="DA0000"/>
            </a:solidFill>
            <a:prstDash val="solid"/>
          </a:ln>
        </p:spPr>
      </p:sp>
      <p:sp>
        <p:nvSpPr>
          <p:cNvPr id="28" name="Text 26"/>
          <p:cNvSpPr/>
          <p:nvPr/>
        </p:nvSpPr>
        <p:spPr>
          <a:xfrm>
            <a:off x="320040" y="2487168"/>
            <a:ext cx="5303520" cy="310896"/>
          </a:xfrm>
          <a:prstGeom prst="rect">
            <a:avLst/>
          </a:prstGeom>
          <a:noFill/>
          <a:ln/>
        </p:spPr>
        <p:txBody>
          <a:bodyPr wrap="square" lIns="0" tIns="0" rIns="0" bIns="0" rtlCol="0" anchor="ctr"/>
          <a:lstStyle/>
          <a:p>
            <a:pPr marL="0" indent="0" algn="ctr">
              <a:buNone/>
            </a:pPr>
            <a:r>
              <a:rPr lang="en-US" sz="1200" b="1" kern="0" spc="200" dirty="0">
                <a:solidFill>
                  <a:srgbClr val="FFFFFF"/>
                </a:solidFill>
                <a:latin typeface="Arial" pitchFamily="34" charset="0"/>
                <a:ea typeface="Arial" pitchFamily="34" charset="-122"/>
                <a:cs typeface="Arial" pitchFamily="34" charset="-120"/>
              </a:rPr>
              <a:t>PROJECT CONTEXT</a:t>
            </a:r>
            <a:endParaRPr lang="en-US" sz="1200" dirty="0"/>
          </a:p>
        </p:txBody>
      </p:sp>
      <p:sp>
        <p:nvSpPr>
          <p:cNvPr id="29" name="Text 27"/>
          <p:cNvSpPr/>
          <p:nvPr/>
        </p:nvSpPr>
        <p:spPr>
          <a:xfrm>
            <a:off x="457200" y="2907792"/>
            <a:ext cx="5029200" cy="2514600"/>
          </a:xfrm>
          <a:prstGeom prst="rect">
            <a:avLst/>
          </a:prstGeom>
          <a:noFill/>
          <a:ln/>
        </p:spPr>
        <p:txBody>
          <a:bodyPr wrap="square" lIns="0" tIns="0" rIns="0" bIns="0" rtlCol="0" anchor="t"/>
          <a:lstStyle/>
          <a:p>
            <a:pPr marL="0" indent="0">
              <a:spcAft>
                <a:spcPts val="800"/>
              </a:spcAft>
              <a:buNone/>
            </a:pPr>
            <a:r>
              <a:rPr lang="en-US" sz="1050" dirty="0">
                <a:solidFill>
                  <a:srgbClr val="4A4A4A"/>
                </a:solidFill>
                <a:latin typeface="Calibri" pitchFamily="34" charset="0"/>
                <a:ea typeface="Calibri" pitchFamily="34" charset="-122"/>
                <a:cs typeface="Calibri" pitchFamily="34" charset="-120"/>
              </a:rPr>
              <a:t>This EDA report analyzes McDonald's sales data from January through March 2024, covering 5,343 transactions across multiple product categories.</a:t>
            </a:r>
            <a:endParaRPr lang="en-US" sz="1050" dirty="0"/>
          </a:p>
          <a:p>
            <a:pPr marL="0" indent="0">
              <a:spcAft>
                <a:spcPts val="800"/>
              </a:spcAft>
              <a:buNone/>
            </a:pPr>
            <a:r>
              <a:rPr lang="en-US" sz="1050" dirty="0">
                <a:solidFill>
                  <a:srgbClr val="4A4A4A"/>
                </a:solidFill>
                <a:latin typeface="Calibri" pitchFamily="34" charset="0"/>
                <a:ea typeface="Calibri" pitchFamily="34" charset="-122"/>
                <a:cs typeface="Calibri" pitchFamily="34" charset="-120"/>
              </a:rPr>
              <a:t>The dataset integrates two tables — order_details and menu_items — enriched through Power Query with engineered features including Month Name, Day Name, Hour, Day Type, and Time Bucket.</a:t>
            </a:r>
            <a:endParaRPr lang="en-US" sz="1050" dirty="0"/>
          </a:p>
          <a:p>
            <a:pPr marL="0" indent="0">
              <a:spcAft>
                <a:spcPts val="800"/>
              </a:spcAft>
              <a:buNone/>
            </a:pPr>
            <a:r>
              <a:rPr lang="en-US" sz="1050" dirty="0">
                <a:solidFill>
                  <a:srgbClr val="4A4A4A"/>
                </a:solidFill>
                <a:latin typeface="Calibri" pitchFamily="34" charset="0"/>
                <a:ea typeface="Calibri" pitchFamily="34" charset="-122"/>
                <a:cs typeface="Calibri" pitchFamily="34" charset="-120"/>
              </a:rPr>
              <a:t>The analysis spans 10 product categories including Burgers, Chicken, Pasta, Sandwich, and more, revealing critical patterns in consumer behavior and revenue distribution.</a:t>
            </a:r>
            <a:endParaRPr lang="en-US" sz="1050" dirty="0"/>
          </a:p>
          <a:p>
            <a:pPr marL="0" indent="0">
              <a:buNone/>
            </a:pPr>
            <a:r>
              <a:rPr lang="en-US" sz="1050" dirty="0">
                <a:solidFill>
                  <a:srgbClr val="4A4A4A"/>
                </a:solidFill>
                <a:latin typeface="Calibri" pitchFamily="34" charset="0"/>
                <a:ea typeface="Calibri" pitchFamily="34" charset="-122"/>
                <a:cs typeface="Calibri" pitchFamily="34" charset="-120"/>
              </a:rPr>
              <a:t>Key deliverables include an interactive Excel dashboard with slicers for Month, Category, and Day Type — enabling dynamic drill-down exploration of sales trends.</a:t>
            </a:r>
            <a:endParaRPr lang="en-US" sz="1050" dirty="0"/>
          </a:p>
        </p:txBody>
      </p:sp>
      <p:sp>
        <p:nvSpPr>
          <p:cNvPr id="30" name="Shape 28"/>
          <p:cNvSpPr/>
          <p:nvPr/>
        </p:nvSpPr>
        <p:spPr>
          <a:xfrm>
            <a:off x="5943600" y="2468880"/>
            <a:ext cx="5897880" cy="3108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1" name="Shape 29"/>
          <p:cNvSpPr/>
          <p:nvPr/>
        </p:nvSpPr>
        <p:spPr>
          <a:xfrm>
            <a:off x="5943600" y="2468880"/>
            <a:ext cx="5897880" cy="347472"/>
          </a:xfrm>
          <a:prstGeom prst="rect">
            <a:avLst/>
          </a:prstGeom>
          <a:solidFill>
            <a:srgbClr val="E5A800"/>
          </a:solidFill>
          <a:ln w="12700">
            <a:solidFill>
              <a:srgbClr val="E5A800"/>
            </a:solidFill>
            <a:prstDash val="solid"/>
          </a:ln>
        </p:spPr>
      </p:sp>
      <p:sp>
        <p:nvSpPr>
          <p:cNvPr id="32" name="Text 30"/>
          <p:cNvSpPr/>
          <p:nvPr/>
        </p:nvSpPr>
        <p:spPr>
          <a:xfrm>
            <a:off x="5943600" y="2487168"/>
            <a:ext cx="5897880" cy="310896"/>
          </a:xfrm>
          <a:prstGeom prst="rect">
            <a:avLst/>
          </a:prstGeom>
          <a:noFill/>
          <a:ln/>
        </p:spPr>
        <p:txBody>
          <a:bodyPr wrap="square" lIns="0" tIns="0" rIns="0" bIns="0" rtlCol="0" anchor="ctr"/>
          <a:lstStyle/>
          <a:p>
            <a:pPr marL="0" indent="0" algn="ctr">
              <a:buNone/>
            </a:pPr>
            <a:r>
              <a:rPr lang="en-US" sz="1200" b="1" kern="0" spc="200" dirty="0">
                <a:solidFill>
                  <a:srgbClr val="1A1A1A"/>
                </a:solidFill>
                <a:latin typeface="Arial" pitchFamily="34" charset="0"/>
                <a:ea typeface="Arial" pitchFamily="34" charset="-122"/>
                <a:cs typeface="Arial" pitchFamily="34" charset="-120"/>
              </a:rPr>
              <a:t>KEY FINDINGS AT A GLANCE</a:t>
            </a:r>
            <a:endParaRPr lang="en-US" sz="1200" dirty="0"/>
          </a:p>
        </p:txBody>
      </p:sp>
      <p:sp>
        <p:nvSpPr>
          <p:cNvPr id="33" name="Shape 31"/>
          <p:cNvSpPr/>
          <p:nvPr/>
        </p:nvSpPr>
        <p:spPr>
          <a:xfrm>
            <a:off x="6035040" y="2907792"/>
            <a:ext cx="5669280" cy="347472"/>
          </a:xfrm>
          <a:prstGeom prst="rect">
            <a:avLst/>
          </a:prstGeom>
          <a:solidFill>
            <a:srgbClr val="FFF8E8"/>
          </a:solidFill>
          <a:ln w="12700">
            <a:solidFill>
              <a:srgbClr val="EEEEEE"/>
            </a:solidFill>
            <a:prstDash val="solid"/>
          </a:ln>
        </p:spPr>
      </p:sp>
      <p:sp>
        <p:nvSpPr>
          <p:cNvPr id="34" name="Text 32"/>
          <p:cNvSpPr/>
          <p:nvPr/>
        </p:nvSpPr>
        <p:spPr>
          <a:xfrm>
            <a:off x="6080760" y="2926080"/>
            <a:ext cx="5577840" cy="31089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  Burger category is the revenue leader with ₹21.46K (35% share)</a:t>
            </a:r>
            <a:endParaRPr lang="en-US" sz="1050" dirty="0"/>
          </a:p>
        </p:txBody>
      </p:sp>
      <p:sp>
        <p:nvSpPr>
          <p:cNvPr id="35" name="Shape 33"/>
          <p:cNvSpPr/>
          <p:nvPr/>
        </p:nvSpPr>
        <p:spPr>
          <a:xfrm>
            <a:off x="6035040" y="3328416"/>
            <a:ext cx="5669280" cy="347472"/>
          </a:xfrm>
          <a:prstGeom prst="rect">
            <a:avLst/>
          </a:prstGeom>
          <a:solidFill>
            <a:srgbClr val="FFFFFF"/>
          </a:solidFill>
          <a:ln w="12700">
            <a:solidFill>
              <a:srgbClr val="EEEEEE"/>
            </a:solidFill>
            <a:prstDash val="solid"/>
          </a:ln>
        </p:spPr>
      </p:sp>
      <p:sp>
        <p:nvSpPr>
          <p:cNvPr id="36" name="Text 34"/>
          <p:cNvSpPr/>
          <p:nvPr/>
        </p:nvSpPr>
        <p:spPr>
          <a:xfrm>
            <a:off x="6080760" y="3346704"/>
            <a:ext cx="5577840" cy="31089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  Evening is peak order period — 2,565 orders (48% of daily volume)</a:t>
            </a:r>
            <a:endParaRPr lang="en-US" sz="1050" dirty="0"/>
          </a:p>
        </p:txBody>
      </p:sp>
      <p:sp>
        <p:nvSpPr>
          <p:cNvPr id="37" name="Shape 35"/>
          <p:cNvSpPr/>
          <p:nvPr/>
        </p:nvSpPr>
        <p:spPr>
          <a:xfrm>
            <a:off x="6035040" y="3749040"/>
            <a:ext cx="5669280" cy="347472"/>
          </a:xfrm>
          <a:prstGeom prst="rect">
            <a:avLst/>
          </a:prstGeom>
          <a:solidFill>
            <a:srgbClr val="FFF8E8"/>
          </a:solidFill>
          <a:ln w="12700">
            <a:solidFill>
              <a:srgbClr val="EEEEEE"/>
            </a:solidFill>
            <a:prstDash val="solid"/>
          </a:ln>
        </p:spPr>
      </p:sp>
      <p:sp>
        <p:nvSpPr>
          <p:cNvPr id="38" name="Text 36"/>
          <p:cNvSpPr/>
          <p:nvPr/>
        </p:nvSpPr>
        <p:spPr>
          <a:xfrm>
            <a:off x="6080760" y="3767328"/>
            <a:ext cx="5577840" cy="31089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  Weekends drive 72% of total revenue (₹44,029 vs ₹16,974 weekday)</a:t>
            </a:r>
            <a:endParaRPr lang="en-US" sz="1050" dirty="0"/>
          </a:p>
        </p:txBody>
      </p:sp>
      <p:sp>
        <p:nvSpPr>
          <p:cNvPr id="39" name="Shape 37"/>
          <p:cNvSpPr/>
          <p:nvPr/>
        </p:nvSpPr>
        <p:spPr>
          <a:xfrm>
            <a:off x="6035040" y="4169664"/>
            <a:ext cx="5669280" cy="347472"/>
          </a:xfrm>
          <a:prstGeom prst="rect">
            <a:avLst/>
          </a:prstGeom>
          <a:solidFill>
            <a:srgbClr val="FFFFFF"/>
          </a:solidFill>
          <a:ln w="12700">
            <a:solidFill>
              <a:srgbClr val="EEEEEE"/>
            </a:solidFill>
            <a:prstDash val="solid"/>
          </a:ln>
        </p:spPr>
      </p:sp>
      <p:sp>
        <p:nvSpPr>
          <p:cNvPr id="40" name="Text 38"/>
          <p:cNvSpPr/>
          <p:nvPr/>
        </p:nvSpPr>
        <p:spPr>
          <a:xfrm>
            <a:off x="6080760" y="4187952"/>
            <a:ext cx="5577840" cy="31089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  Big Mac leads product performance with 622 individual orders</a:t>
            </a:r>
            <a:endParaRPr lang="en-US" sz="1050" dirty="0"/>
          </a:p>
        </p:txBody>
      </p:sp>
      <p:sp>
        <p:nvSpPr>
          <p:cNvPr id="41" name="Shape 39"/>
          <p:cNvSpPr/>
          <p:nvPr/>
        </p:nvSpPr>
        <p:spPr>
          <a:xfrm>
            <a:off x="6035040" y="4590288"/>
            <a:ext cx="5669280" cy="347472"/>
          </a:xfrm>
          <a:prstGeom prst="rect">
            <a:avLst/>
          </a:prstGeom>
          <a:solidFill>
            <a:srgbClr val="FFF8E8"/>
          </a:solidFill>
          <a:ln w="12700">
            <a:solidFill>
              <a:srgbClr val="EEEEEE"/>
            </a:solidFill>
            <a:prstDash val="solid"/>
          </a:ln>
        </p:spPr>
      </p:sp>
      <p:sp>
        <p:nvSpPr>
          <p:cNvPr id="42" name="Text 40"/>
          <p:cNvSpPr/>
          <p:nvPr/>
        </p:nvSpPr>
        <p:spPr>
          <a:xfrm>
            <a:off x="6080760" y="4608576"/>
            <a:ext cx="5577840" cy="31089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  Revenue grew steadily: Feb ₹19.48K → Jan ₹20.61K → Mar ₹20.91K</a:t>
            </a:r>
            <a:endParaRPr lang="en-US" sz="1050" dirty="0"/>
          </a:p>
        </p:txBody>
      </p:sp>
      <p:sp>
        <p:nvSpPr>
          <p:cNvPr id="43" name="Shape 41"/>
          <p:cNvSpPr/>
          <p:nvPr/>
        </p:nvSpPr>
        <p:spPr>
          <a:xfrm>
            <a:off x="6035040" y="5010912"/>
            <a:ext cx="5669280" cy="347472"/>
          </a:xfrm>
          <a:prstGeom prst="rect">
            <a:avLst/>
          </a:prstGeom>
          <a:solidFill>
            <a:srgbClr val="FFFFFF"/>
          </a:solidFill>
          <a:ln w="12700">
            <a:solidFill>
              <a:srgbClr val="EEEEEE"/>
            </a:solidFill>
            <a:prstDash val="solid"/>
          </a:ln>
        </p:spPr>
      </p:sp>
      <p:sp>
        <p:nvSpPr>
          <p:cNvPr id="44" name="Text 42"/>
          <p:cNvSpPr/>
          <p:nvPr/>
        </p:nvSpPr>
        <p:spPr>
          <a:xfrm>
            <a:off x="6080760" y="5029200"/>
            <a:ext cx="5577840" cy="310896"/>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  Morning segment is underdeveloped — only 288 orders (5.4%)</a:t>
            </a:r>
            <a:endParaRPr lang="en-US" sz="1050" dirty="0"/>
          </a:p>
        </p:txBody>
      </p:sp>
      <p:sp>
        <p:nvSpPr>
          <p:cNvPr id="45" name="Shape 43"/>
          <p:cNvSpPr/>
          <p:nvPr/>
        </p:nvSpPr>
        <p:spPr>
          <a:xfrm>
            <a:off x="0" y="6537960"/>
            <a:ext cx="12161520" cy="320040"/>
          </a:xfrm>
          <a:prstGeom prst="rect">
            <a:avLst/>
          </a:prstGeom>
          <a:solidFill>
            <a:srgbClr val="DA0000"/>
          </a:solidFill>
          <a:ln w="12700">
            <a:solidFill>
              <a:srgbClr val="DA0000"/>
            </a:solidFill>
            <a:prstDash val="solid"/>
          </a:ln>
        </p:spPr>
      </p:sp>
      <p:sp>
        <p:nvSpPr>
          <p:cNvPr id="46" name="Text 44"/>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Executive Summary  |  Prepared by: Ranjeet Anada</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DA0000"/>
          </a:solidFill>
          <a:ln w="12700">
            <a:solidFill>
              <a:srgbClr val="DA0000"/>
            </a:solidFill>
            <a:prstDash val="solid"/>
          </a:ln>
        </p:spPr>
      </p:sp>
      <p:sp>
        <p:nvSpPr>
          <p:cNvPr id="3" name="Text 1"/>
          <p:cNvSpPr/>
          <p:nvPr/>
        </p:nvSpPr>
        <p:spPr>
          <a:xfrm>
            <a:off x="457200" y="73152"/>
            <a:ext cx="9144000" cy="402336"/>
          </a:xfrm>
          <a:prstGeom prst="rect">
            <a:avLst/>
          </a:prstGeom>
          <a:noFill/>
          <a:ln/>
        </p:spPr>
        <p:txBody>
          <a:bodyPr wrap="square" lIns="0" tIns="0" rIns="0" bIns="0"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INTERACTIVE DASHBOARD OVERVIEW</a:t>
            </a:r>
            <a:endParaRPr lang="en-US" sz="2400" dirty="0"/>
          </a:p>
        </p:txBody>
      </p:sp>
      <p:sp>
        <p:nvSpPr>
          <p:cNvPr id="4" name="Text 2"/>
          <p:cNvSpPr/>
          <p:nvPr/>
        </p:nvSpPr>
        <p:spPr>
          <a:xfrm>
            <a:off x="457200" y="475488"/>
            <a:ext cx="9144000" cy="256032"/>
          </a:xfrm>
          <a:prstGeom prst="rect">
            <a:avLst/>
          </a:prstGeom>
          <a:noFill/>
          <a:ln/>
        </p:spPr>
        <p:txBody>
          <a:bodyPr wrap="square" lIns="0" tIns="0" rIns="0" bIns="0" rtlCol="0" anchor="ctr"/>
          <a:lstStyle/>
          <a:p>
            <a:pPr marL="0" indent="0">
              <a:buNone/>
            </a:pPr>
            <a:r>
              <a:rPr lang="en-US" sz="1050" i="1" dirty="0">
                <a:solidFill>
                  <a:srgbClr val="FFC72C"/>
                </a:solidFill>
                <a:latin typeface="Calibri" pitchFamily="34" charset="0"/>
                <a:ea typeface="Calibri" pitchFamily="34" charset="-122"/>
                <a:cs typeface="Calibri" pitchFamily="34" charset="-120"/>
              </a:rPr>
              <a:t>Power Query + Pivot Charts + Dynamic Slicers  |  Microsoft Excel Dashboard</a:t>
            </a:r>
            <a:endParaRPr lang="en-US" sz="1050" dirty="0"/>
          </a:p>
        </p:txBody>
      </p:sp>
      <p:sp>
        <p:nvSpPr>
          <p:cNvPr id="5" name="Text 3"/>
          <p:cNvSpPr/>
          <p:nvPr/>
        </p:nvSpPr>
        <p:spPr>
          <a:xfrm>
            <a:off x="11247120" y="137160"/>
            <a:ext cx="640080" cy="502920"/>
          </a:xfrm>
          <a:prstGeom prst="rect">
            <a:avLst/>
          </a:prstGeom>
          <a:noFill/>
          <a:ln/>
        </p:spPr>
        <p:txBody>
          <a:bodyPr wrap="square" lIns="0" tIns="0" rIns="0" bIns="0" rtlCol="0" anchor="ctr"/>
          <a:lstStyle/>
          <a:p>
            <a:pPr marL="0" indent="0" algn="ctr">
              <a:buNone/>
            </a:pPr>
            <a:r>
              <a:rPr lang="en-US" sz="2600" b="1" dirty="0">
                <a:solidFill>
                  <a:srgbClr val="FFC72C"/>
                </a:solidFill>
                <a:latin typeface="Arial Black" pitchFamily="34" charset="0"/>
                <a:ea typeface="Arial Black" pitchFamily="34" charset="-122"/>
                <a:cs typeface="Arial Black" pitchFamily="34" charset="-120"/>
              </a:rPr>
              <a:t>03</a:t>
            </a:r>
            <a:endParaRPr lang="en-US" sz="2600" dirty="0"/>
          </a:p>
        </p:txBody>
      </p:sp>
      <p:sp>
        <p:nvSpPr>
          <p:cNvPr id="6" name="Shape 4"/>
          <p:cNvSpPr/>
          <p:nvPr/>
        </p:nvSpPr>
        <p:spPr>
          <a:xfrm>
            <a:off x="274320" y="914400"/>
            <a:ext cx="8503920" cy="5029200"/>
          </a:xfrm>
          <a:prstGeom prst="rect">
            <a:avLst/>
          </a:prstGeom>
          <a:solidFill>
            <a:srgbClr val="222222"/>
          </a:solidFill>
          <a:ln w="12700">
            <a:solidFill>
              <a:srgbClr val="FFC72C"/>
            </a:solidFill>
            <a:prstDash val="solid"/>
          </a:ln>
          <a:effectLst>
            <a:outerShdw blurRad="254000" dist="63500" dir="8100000" algn="bl" rotWithShape="0">
              <a:srgbClr val="000000">
                <a:alpha val="50000"/>
              </a:srgbClr>
            </a:outerShdw>
          </a:effectLst>
        </p:spPr>
      </p:sp>
      <p:pic>
        <p:nvPicPr>
          <p:cNvPr id="7" name="Image 0" descr="/home/claude/dashboard.png"/>
          <p:cNvPicPr>
            <a:picLocks noChangeAspect="1"/>
          </p:cNvPicPr>
          <p:nvPr/>
        </p:nvPicPr>
        <p:blipFill>
          <a:blip r:embed="rId3"/>
          <a:srcRect/>
          <a:stretch/>
        </p:blipFill>
        <p:spPr>
          <a:xfrm>
            <a:off x="320040" y="960120"/>
            <a:ext cx="8412480" cy="4937760"/>
          </a:xfrm>
          <a:prstGeom prst="rect">
            <a:avLst/>
          </a:prstGeom>
        </p:spPr>
      </p:pic>
      <p:sp>
        <p:nvSpPr>
          <p:cNvPr id="8" name="Shape 5"/>
          <p:cNvSpPr/>
          <p:nvPr/>
        </p:nvSpPr>
        <p:spPr>
          <a:xfrm>
            <a:off x="8915400" y="914400"/>
            <a:ext cx="2926080" cy="5029200"/>
          </a:xfrm>
          <a:prstGeom prst="rect">
            <a:avLst/>
          </a:prstGeom>
          <a:solidFill>
            <a:srgbClr val="1C1C1C"/>
          </a:solidFill>
          <a:ln w="12700">
            <a:solidFill>
              <a:srgbClr val="333333"/>
            </a:solidFill>
            <a:prstDash val="solid"/>
          </a:ln>
        </p:spPr>
      </p:sp>
      <p:sp>
        <p:nvSpPr>
          <p:cNvPr id="9" name="Shape 6"/>
          <p:cNvSpPr/>
          <p:nvPr/>
        </p:nvSpPr>
        <p:spPr>
          <a:xfrm>
            <a:off x="8915400" y="914400"/>
            <a:ext cx="2926080" cy="347472"/>
          </a:xfrm>
          <a:prstGeom prst="rect">
            <a:avLst/>
          </a:prstGeom>
          <a:solidFill>
            <a:srgbClr val="DA0000"/>
          </a:solidFill>
          <a:ln w="12700">
            <a:solidFill>
              <a:srgbClr val="DA0000"/>
            </a:solidFill>
            <a:prstDash val="solid"/>
          </a:ln>
        </p:spPr>
      </p:sp>
      <p:sp>
        <p:nvSpPr>
          <p:cNvPr id="10" name="Text 7"/>
          <p:cNvSpPr/>
          <p:nvPr/>
        </p:nvSpPr>
        <p:spPr>
          <a:xfrm>
            <a:off x="8915400" y="923544"/>
            <a:ext cx="2926080" cy="329184"/>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itchFamily="34" charset="0"/>
                <a:ea typeface="Arial" pitchFamily="34" charset="-122"/>
                <a:cs typeface="Arial" pitchFamily="34" charset="-120"/>
              </a:rPr>
              <a:t>DASHBOARD FEATURES</a:t>
            </a:r>
            <a:endParaRPr lang="en-US" sz="950" dirty="0"/>
          </a:p>
        </p:txBody>
      </p:sp>
      <p:sp>
        <p:nvSpPr>
          <p:cNvPr id="11" name="Shape 8"/>
          <p:cNvSpPr/>
          <p:nvPr/>
        </p:nvSpPr>
        <p:spPr>
          <a:xfrm>
            <a:off x="9006840" y="1325880"/>
            <a:ext cx="2743200" cy="566928"/>
          </a:xfrm>
          <a:prstGeom prst="rect">
            <a:avLst/>
          </a:prstGeom>
          <a:solidFill>
            <a:srgbClr val="2A2A2A"/>
          </a:solidFill>
          <a:ln w="12700">
            <a:solidFill>
              <a:srgbClr val="3A3A3A"/>
            </a:solidFill>
            <a:prstDash val="solid"/>
          </a:ln>
        </p:spPr>
      </p:sp>
      <p:sp>
        <p:nvSpPr>
          <p:cNvPr id="12" name="Shape 9"/>
          <p:cNvSpPr/>
          <p:nvPr/>
        </p:nvSpPr>
        <p:spPr>
          <a:xfrm>
            <a:off x="9006840" y="1325880"/>
            <a:ext cx="54864" cy="566928"/>
          </a:xfrm>
          <a:prstGeom prst="rect">
            <a:avLst/>
          </a:prstGeom>
          <a:solidFill>
            <a:srgbClr val="FFC72C"/>
          </a:solidFill>
          <a:ln w="12700">
            <a:solidFill>
              <a:srgbClr val="FFC72C"/>
            </a:solidFill>
            <a:prstDash val="solid"/>
          </a:ln>
        </p:spPr>
      </p:sp>
      <p:sp>
        <p:nvSpPr>
          <p:cNvPr id="13" name="Text 10"/>
          <p:cNvSpPr/>
          <p:nvPr/>
        </p:nvSpPr>
        <p:spPr>
          <a:xfrm>
            <a:off x="9098280" y="1362456"/>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Category Revenue Bar Chart</a:t>
            </a:r>
            <a:endParaRPr lang="en-US" sz="900" dirty="0"/>
          </a:p>
        </p:txBody>
      </p:sp>
      <p:sp>
        <p:nvSpPr>
          <p:cNvPr id="14" name="Text 11"/>
          <p:cNvSpPr/>
          <p:nvPr/>
        </p:nvSpPr>
        <p:spPr>
          <a:xfrm>
            <a:off x="9098280" y="1600200"/>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Revenue breakdown across 10 product categories</a:t>
            </a:r>
            <a:endParaRPr lang="en-US" sz="850" dirty="0"/>
          </a:p>
        </p:txBody>
      </p:sp>
      <p:sp>
        <p:nvSpPr>
          <p:cNvPr id="15" name="Shape 12"/>
          <p:cNvSpPr/>
          <p:nvPr/>
        </p:nvSpPr>
        <p:spPr>
          <a:xfrm>
            <a:off x="9006840" y="1984248"/>
            <a:ext cx="2743200" cy="566928"/>
          </a:xfrm>
          <a:prstGeom prst="rect">
            <a:avLst/>
          </a:prstGeom>
          <a:solidFill>
            <a:srgbClr val="2A2A2A"/>
          </a:solidFill>
          <a:ln w="12700">
            <a:solidFill>
              <a:srgbClr val="3A3A3A"/>
            </a:solidFill>
            <a:prstDash val="solid"/>
          </a:ln>
        </p:spPr>
      </p:sp>
      <p:sp>
        <p:nvSpPr>
          <p:cNvPr id="16" name="Shape 13"/>
          <p:cNvSpPr/>
          <p:nvPr/>
        </p:nvSpPr>
        <p:spPr>
          <a:xfrm>
            <a:off x="9006840" y="1984248"/>
            <a:ext cx="54864" cy="566928"/>
          </a:xfrm>
          <a:prstGeom prst="rect">
            <a:avLst/>
          </a:prstGeom>
          <a:solidFill>
            <a:srgbClr val="FFC72C"/>
          </a:solidFill>
          <a:ln w="12700">
            <a:solidFill>
              <a:srgbClr val="FFC72C"/>
            </a:solidFill>
            <a:prstDash val="solid"/>
          </a:ln>
        </p:spPr>
      </p:sp>
      <p:sp>
        <p:nvSpPr>
          <p:cNvPr id="17" name="Text 14"/>
          <p:cNvSpPr/>
          <p:nvPr/>
        </p:nvSpPr>
        <p:spPr>
          <a:xfrm>
            <a:off x="9098280" y="2020824"/>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Monthly Revenue Trend Line</a:t>
            </a:r>
            <a:endParaRPr lang="en-US" sz="900" dirty="0"/>
          </a:p>
        </p:txBody>
      </p:sp>
      <p:sp>
        <p:nvSpPr>
          <p:cNvPr id="18" name="Text 15"/>
          <p:cNvSpPr/>
          <p:nvPr/>
        </p:nvSpPr>
        <p:spPr>
          <a:xfrm>
            <a:off x="9098280" y="2258568"/>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Feb to Mar growth trajectory analysis</a:t>
            </a:r>
            <a:endParaRPr lang="en-US" sz="850" dirty="0"/>
          </a:p>
        </p:txBody>
      </p:sp>
      <p:sp>
        <p:nvSpPr>
          <p:cNvPr id="19" name="Shape 16"/>
          <p:cNvSpPr/>
          <p:nvPr/>
        </p:nvSpPr>
        <p:spPr>
          <a:xfrm>
            <a:off x="9006840" y="2642616"/>
            <a:ext cx="2743200" cy="566928"/>
          </a:xfrm>
          <a:prstGeom prst="rect">
            <a:avLst/>
          </a:prstGeom>
          <a:solidFill>
            <a:srgbClr val="2A2A2A"/>
          </a:solidFill>
          <a:ln w="12700">
            <a:solidFill>
              <a:srgbClr val="3A3A3A"/>
            </a:solidFill>
            <a:prstDash val="solid"/>
          </a:ln>
        </p:spPr>
      </p:sp>
      <p:sp>
        <p:nvSpPr>
          <p:cNvPr id="20" name="Shape 17"/>
          <p:cNvSpPr/>
          <p:nvPr/>
        </p:nvSpPr>
        <p:spPr>
          <a:xfrm>
            <a:off x="9006840" y="2642616"/>
            <a:ext cx="54864" cy="566928"/>
          </a:xfrm>
          <a:prstGeom prst="rect">
            <a:avLst/>
          </a:prstGeom>
          <a:solidFill>
            <a:srgbClr val="FFC72C"/>
          </a:solidFill>
          <a:ln w="12700">
            <a:solidFill>
              <a:srgbClr val="FFC72C"/>
            </a:solidFill>
            <a:prstDash val="solid"/>
          </a:ln>
        </p:spPr>
      </p:sp>
      <p:sp>
        <p:nvSpPr>
          <p:cNvPr id="21" name="Text 18"/>
          <p:cNvSpPr/>
          <p:nvPr/>
        </p:nvSpPr>
        <p:spPr>
          <a:xfrm>
            <a:off x="9098280" y="2679192"/>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Orders by Hour (Line Chart)</a:t>
            </a:r>
            <a:endParaRPr lang="en-US" sz="900" dirty="0"/>
          </a:p>
        </p:txBody>
      </p:sp>
      <p:sp>
        <p:nvSpPr>
          <p:cNvPr id="22" name="Text 19"/>
          <p:cNvSpPr/>
          <p:nvPr/>
        </p:nvSpPr>
        <p:spPr>
          <a:xfrm>
            <a:off x="9098280" y="2916936"/>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Peak hour identification for operations</a:t>
            </a:r>
            <a:endParaRPr lang="en-US" sz="850" dirty="0"/>
          </a:p>
        </p:txBody>
      </p:sp>
      <p:sp>
        <p:nvSpPr>
          <p:cNvPr id="23" name="Shape 20"/>
          <p:cNvSpPr/>
          <p:nvPr/>
        </p:nvSpPr>
        <p:spPr>
          <a:xfrm>
            <a:off x="9006840" y="3300984"/>
            <a:ext cx="2743200" cy="566928"/>
          </a:xfrm>
          <a:prstGeom prst="rect">
            <a:avLst/>
          </a:prstGeom>
          <a:solidFill>
            <a:srgbClr val="2A2A2A"/>
          </a:solidFill>
          <a:ln w="12700">
            <a:solidFill>
              <a:srgbClr val="3A3A3A"/>
            </a:solidFill>
            <a:prstDash val="solid"/>
          </a:ln>
        </p:spPr>
      </p:sp>
      <p:sp>
        <p:nvSpPr>
          <p:cNvPr id="24" name="Shape 21"/>
          <p:cNvSpPr/>
          <p:nvPr/>
        </p:nvSpPr>
        <p:spPr>
          <a:xfrm>
            <a:off x="9006840" y="3300984"/>
            <a:ext cx="54864" cy="566928"/>
          </a:xfrm>
          <a:prstGeom prst="rect">
            <a:avLst/>
          </a:prstGeom>
          <a:solidFill>
            <a:srgbClr val="FFC72C"/>
          </a:solidFill>
          <a:ln w="12700">
            <a:solidFill>
              <a:srgbClr val="FFC72C"/>
            </a:solidFill>
            <a:prstDash val="solid"/>
          </a:ln>
        </p:spPr>
      </p:sp>
      <p:sp>
        <p:nvSpPr>
          <p:cNvPr id="25" name="Text 22"/>
          <p:cNvSpPr/>
          <p:nvPr/>
        </p:nvSpPr>
        <p:spPr>
          <a:xfrm>
            <a:off x="9098280" y="3337560"/>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Time Bucket Donut Chart</a:t>
            </a:r>
            <a:endParaRPr lang="en-US" sz="900" dirty="0"/>
          </a:p>
        </p:txBody>
      </p:sp>
      <p:sp>
        <p:nvSpPr>
          <p:cNvPr id="26" name="Text 23"/>
          <p:cNvSpPr/>
          <p:nvPr/>
        </p:nvSpPr>
        <p:spPr>
          <a:xfrm>
            <a:off x="9098280" y="3575304"/>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Morning / Afternoon / Evening split</a:t>
            </a:r>
            <a:endParaRPr lang="en-US" sz="850" dirty="0"/>
          </a:p>
        </p:txBody>
      </p:sp>
      <p:sp>
        <p:nvSpPr>
          <p:cNvPr id="27" name="Shape 24"/>
          <p:cNvSpPr/>
          <p:nvPr/>
        </p:nvSpPr>
        <p:spPr>
          <a:xfrm>
            <a:off x="9006840" y="3959352"/>
            <a:ext cx="2743200" cy="566928"/>
          </a:xfrm>
          <a:prstGeom prst="rect">
            <a:avLst/>
          </a:prstGeom>
          <a:solidFill>
            <a:srgbClr val="2A2A2A"/>
          </a:solidFill>
          <a:ln w="12700">
            <a:solidFill>
              <a:srgbClr val="3A3A3A"/>
            </a:solidFill>
            <a:prstDash val="solid"/>
          </a:ln>
        </p:spPr>
      </p:sp>
      <p:sp>
        <p:nvSpPr>
          <p:cNvPr id="28" name="Shape 25"/>
          <p:cNvSpPr/>
          <p:nvPr/>
        </p:nvSpPr>
        <p:spPr>
          <a:xfrm>
            <a:off x="9006840" y="3959352"/>
            <a:ext cx="54864" cy="566928"/>
          </a:xfrm>
          <a:prstGeom prst="rect">
            <a:avLst/>
          </a:prstGeom>
          <a:solidFill>
            <a:srgbClr val="FFC72C"/>
          </a:solidFill>
          <a:ln w="12700">
            <a:solidFill>
              <a:srgbClr val="FFC72C"/>
            </a:solidFill>
            <a:prstDash val="solid"/>
          </a:ln>
        </p:spPr>
      </p:sp>
      <p:sp>
        <p:nvSpPr>
          <p:cNvPr id="29" name="Text 26"/>
          <p:cNvSpPr/>
          <p:nvPr/>
        </p:nvSpPr>
        <p:spPr>
          <a:xfrm>
            <a:off x="9098280" y="3995928"/>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Weekday vs Weekend Revenue</a:t>
            </a:r>
            <a:endParaRPr lang="en-US" sz="900" dirty="0"/>
          </a:p>
        </p:txBody>
      </p:sp>
      <p:sp>
        <p:nvSpPr>
          <p:cNvPr id="30" name="Text 27"/>
          <p:cNvSpPr/>
          <p:nvPr/>
        </p:nvSpPr>
        <p:spPr>
          <a:xfrm>
            <a:off x="9098280" y="4233672"/>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Revenue comparison donut visualization</a:t>
            </a:r>
            <a:endParaRPr lang="en-US" sz="850" dirty="0"/>
          </a:p>
        </p:txBody>
      </p:sp>
      <p:sp>
        <p:nvSpPr>
          <p:cNvPr id="31" name="Shape 28"/>
          <p:cNvSpPr/>
          <p:nvPr/>
        </p:nvSpPr>
        <p:spPr>
          <a:xfrm>
            <a:off x="9006840" y="4617720"/>
            <a:ext cx="2743200" cy="566928"/>
          </a:xfrm>
          <a:prstGeom prst="rect">
            <a:avLst/>
          </a:prstGeom>
          <a:solidFill>
            <a:srgbClr val="2A2A2A"/>
          </a:solidFill>
          <a:ln w="12700">
            <a:solidFill>
              <a:srgbClr val="3A3A3A"/>
            </a:solidFill>
            <a:prstDash val="solid"/>
          </a:ln>
        </p:spPr>
      </p:sp>
      <p:sp>
        <p:nvSpPr>
          <p:cNvPr id="32" name="Shape 29"/>
          <p:cNvSpPr/>
          <p:nvPr/>
        </p:nvSpPr>
        <p:spPr>
          <a:xfrm>
            <a:off x="9006840" y="4617720"/>
            <a:ext cx="54864" cy="566928"/>
          </a:xfrm>
          <a:prstGeom prst="rect">
            <a:avLst/>
          </a:prstGeom>
          <a:solidFill>
            <a:srgbClr val="FFC72C"/>
          </a:solidFill>
          <a:ln w="12700">
            <a:solidFill>
              <a:srgbClr val="FFC72C"/>
            </a:solidFill>
            <a:prstDash val="solid"/>
          </a:ln>
        </p:spPr>
      </p:sp>
      <p:sp>
        <p:nvSpPr>
          <p:cNvPr id="33" name="Text 30"/>
          <p:cNvSpPr/>
          <p:nvPr/>
        </p:nvSpPr>
        <p:spPr>
          <a:xfrm>
            <a:off x="9098280" y="4654296"/>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Top 5 Products Bar Chart</a:t>
            </a:r>
            <a:endParaRPr lang="en-US" sz="900" dirty="0"/>
          </a:p>
        </p:txBody>
      </p:sp>
      <p:sp>
        <p:nvSpPr>
          <p:cNvPr id="34" name="Text 31"/>
          <p:cNvSpPr/>
          <p:nvPr/>
        </p:nvSpPr>
        <p:spPr>
          <a:xfrm>
            <a:off x="9098280" y="4892040"/>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Best-performing menu items ranked</a:t>
            </a:r>
            <a:endParaRPr lang="en-US" sz="850" dirty="0"/>
          </a:p>
        </p:txBody>
      </p:sp>
      <p:sp>
        <p:nvSpPr>
          <p:cNvPr id="35" name="Shape 32"/>
          <p:cNvSpPr/>
          <p:nvPr/>
        </p:nvSpPr>
        <p:spPr>
          <a:xfrm>
            <a:off x="9006840" y="5276088"/>
            <a:ext cx="2743200" cy="566928"/>
          </a:xfrm>
          <a:prstGeom prst="rect">
            <a:avLst/>
          </a:prstGeom>
          <a:solidFill>
            <a:srgbClr val="2A2A2A"/>
          </a:solidFill>
          <a:ln w="12700">
            <a:solidFill>
              <a:srgbClr val="3A3A3A"/>
            </a:solidFill>
            <a:prstDash val="solid"/>
          </a:ln>
        </p:spPr>
      </p:sp>
      <p:sp>
        <p:nvSpPr>
          <p:cNvPr id="36" name="Shape 33"/>
          <p:cNvSpPr/>
          <p:nvPr/>
        </p:nvSpPr>
        <p:spPr>
          <a:xfrm>
            <a:off x="9006840" y="5276088"/>
            <a:ext cx="54864" cy="566928"/>
          </a:xfrm>
          <a:prstGeom prst="rect">
            <a:avLst/>
          </a:prstGeom>
          <a:solidFill>
            <a:srgbClr val="FFC72C"/>
          </a:solidFill>
          <a:ln w="12700">
            <a:solidFill>
              <a:srgbClr val="FFC72C"/>
            </a:solidFill>
            <a:prstDash val="solid"/>
          </a:ln>
        </p:spPr>
      </p:sp>
      <p:sp>
        <p:nvSpPr>
          <p:cNvPr id="37" name="Text 34"/>
          <p:cNvSpPr/>
          <p:nvPr/>
        </p:nvSpPr>
        <p:spPr>
          <a:xfrm>
            <a:off x="9098280" y="5312664"/>
            <a:ext cx="2606040" cy="256032"/>
          </a:xfrm>
          <a:prstGeom prst="rect">
            <a:avLst/>
          </a:prstGeom>
          <a:noFill/>
          <a:ln/>
        </p:spPr>
        <p:txBody>
          <a:bodyPr wrap="square" lIns="0" tIns="0" rIns="0" bIns="0" rtlCol="0" anchor="ctr"/>
          <a:lstStyle/>
          <a:p>
            <a:pPr marL="0" indent="0">
              <a:buNone/>
            </a:pPr>
            <a:r>
              <a:rPr lang="en-US" sz="900" b="1" dirty="0">
                <a:solidFill>
                  <a:srgbClr val="FFC72C"/>
                </a:solidFill>
                <a:latin typeface="Arial" pitchFamily="34" charset="0"/>
                <a:ea typeface="Arial" pitchFamily="34" charset="-122"/>
                <a:cs typeface="Arial" pitchFamily="34" charset="-120"/>
              </a:rPr>
              <a:t>🎛 Dynamic Slicers</a:t>
            </a:r>
            <a:endParaRPr lang="en-US" sz="900" dirty="0"/>
          </a:p>
        </p:txBody>
      </p:sp>
      <p:sp>
        <p:nvSpPr>
          <p:cNvPr id="38" name="Text 35"/>
          <p:cNvSpPr/>
          <p:nvPr/>
        </p:nvSpPr>
        <p:spPr>
          <a:xfrm>
            <a:off x="9098280" y="5550408"/>
            <a:ext cx="2606040" cy="237744"/>
          </a:xfrm>
          <a:prstGeom prst="rect">
            <a:avLst/>
          </a:prstGeom>
          <a:noFill/>
          <a:ln/>
        </p:spPr>
        <p:txBody>
          <a:bodyPr wrap="square" lIns="0" tIns="0" rIns="0" bIns="0" rtlCol="0" anchor="ctr"/>
          <a:lstStyle/>
          <a:p>
            <a:pPr marL="0" indent="0">
              <a:buNone/>
            </a:pPr>
            <a:r>
              <a:rPr lang="en-US" sz="850" dirty="0">
                <a:solidFill>
                  <a:srgbClr val="BBBBBB"/>
                </a:solidFill>
                <a:latin typeface="Calibri" pitchFamily="34" charset="0"/>
                <a:ea typeface="Calibri" pitchFamily="34" charset="-122"/>
                <a:cs typeface="Calibri" pitchFamily="34" charset="-120"/>
              </a:rPr>
              <a:t>Month, Category, and Day Type filters</a:t>
            </a:r>
            <a:endParaRPr lang="en-US" sz="850" dirty="0"/>
          </a:p>
        </p:txBody>
      </p:sp>
      <p:sp>
        <p:nvSpPr>
          <p:cNvPr id="39" name="Shape 36"/>
          <p:cNvSpPr/>
          <p:nvPr/>
        </p:nvSpPr>
        <p:spPr>
          <a:xfrm>
            <a:off x="0" y="6537960"/>
            <a:ext cx="12161520" cy="320040"/>
          </a:xfrm>
          <a:prstGeom prst="rect">
            <a:avLst/>
          </a:prstGeom>
          <a:solidFill>
            <a:srgbClr val="DA0000"/>
          </a:solidFill>
          <a:ln w="12700">
            <a:solidFill>
              <a:srgbClr val="DA0000"/>
            </a:solidFill>
            <a:prstDash val="solid"/>
          </a:ln>
        </p:spPr>
      </p:sp>
      <p:sp>
        <p:nvSpPr>
          <p:cNvPr id="40" name="Text 37"/>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Dashboard Overview  |  Prepared by: Ranjeet Anada</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DA0000"/>
          </a:solidFill>
          <a:ln w="12700">
            <a:solidFill>
              <a:srgbClr val="DA0000"/>
            </a:solidFill>
            <a:prstDash val="solid"/>
          </a:ln>
        </p:spPr>
      </p:sp>
      <p:sp>
        <p:nvSpPr>
          <p:cNvPr id="3" name="Text 1"/>
          <p:cNvSpPr/>
          <p:nvPr/>
        </p:nvSpPr>
        <p:spPr>
          <a:xfrm>
            <a:off x="457200" y="73152"/>
            <a:ext cx="91440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REVENUE ANALYSIS</a:t>
            </a:r>
            <a:endParaRPr lang="en-US" sz="2600" dirty="0"/>
          </a:p>
        </p:txBody>
      </p:sp>
      <p:sp>
        <p:nvSpPr>
          <p:cNvPr id="4" name="Text 2"/>
          <p:cNvSpPr/>
          <p:nvPr/>
        </p:nvSpPr>
        <p:spPr>
          <a:xfrm>
            <a:off x="457200" y="530352"/>
            <a:ext cx="9144000" cy="274320"/>
          </a:xfrm>
          <a:prstGeom prst="rect">
            <a:avLst/>
          </a:prstGeom>
          <a:noFill/>
          <a:ln/>
        </p:spPr>
        <p:txBody>
          <a:bodyPr wrap="square" lIns="0" tIns="0" rIns="0" bIns="0" rtlCol="0" anchor="ctr"/>
          <a:lstStyle/>
          <a:p>
            <a:pPr marL="0" indent="0">
              <a:buNone/>
            </a:pPr>
            <a:r>
              <a:rPr lang="en-US" sz="1100" i="1" dirty="0">
                <a:solidFill>
                  <a:srgbClr val="FFC72C"/>
                </a:solidFill>
                <a:latin typeface="Calibri" pitchFamily="34" charset="0"/>
                <a:ea typeface="Calibri" pitchFamily="34" charset="-122"/>
                <a:cs typeface="Calibri" pitchFamily="34" charset="-120"/>
              </a:rPr>
              <a:t>Category-Wise Revenue  |  Monthly Trend  |  Weekday vs Weekend Breakdown</a:t>
            </a:r>
            <a:endParaRPr lang="en-US" sz="1100" dirty="0"/>
          </a:p>
        </p:txBody>
      </p:sp>
      <p:sp>
        <p:nvSpPr>
          <p:cNvPr id="5" name="Text 3"/>
          <p:cNvSpPr/>
          <p:nvPr/>
        </p:nvSpPr>
        <p:spPr>
          <a:xfrm>
            <a:off x="11247120" y="182880"/>
            <a:ext cx="640080" cy="548640"/>
          </a:xfrm>
          <a:prstGeom prst="rect">
            <a:avLst/>
          </a:prstGeom>
          <a:noFill/>
          <a:ln/>
        </p:spPr>
        <p:txBody>
          <a:bodyPr wrap="square" lIns="0" tIns="0" rIns="0" bIns="0" rtlCol="0" anchor="ctr"/>
          <a:lstStyle/>
          <a:p>
            <a:pPr marL="0" indent="0" algn="ctr">
              <a:buNone/>
            </a:pPr>
            <a:r>
              <a:rPr lang="en-US" sz="2800" b="1" dirty="0">
                <a:solidFill>
                  <a:srgbClr val="FFC72C"/>
                </a:solidFill>
                <a:latin typeface="Arial Black" pitchFamily="34" charset="0"/>
                <a:ea typeface="Arial Black" pitchFamily="34" charset="-122"/>
                <a:cs typeface="Arial Black" pitchFamily="34" charset="-120"/>
              </a:rPr>
              <a:t>04</a:t>
            </a:r>
            <a:endParaRPr lang="en-US" sz="2800" dirty="0"/>
          </a:p>
        </p:txBody>
      </p:sp>
      <p:sp>
        <p:nvSpPr>
          <p:cNvPr id="6" name="Shape 4"/>
          <p:cNvSpPr/>
          <p:nvPr/>
        </p:nvSpPr>
        <p:spPr>
          <a:xfrm>
            <a:off x="320040" y="1005840"/>
            <a:ext cx="6858000" cy="32918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7" name="Shape 5"/>
          <p:cNvSpPr/>
          <p:nvPr/>
        </p:nvSpPr>
        <p:spPr>
          <a:xfrm>
            <a:off x="320040" y="1005840"/>
            <a:ext cx="6858000" cy="347472"/>
          </a:xfrm>
          <a:prstGeom prst="rect">
            <a:avLst/>
          </a:prstGeom>
          <a:solidFill>
            <a:srgbClr val="DA0000"/>
          </a:solidFill>
          <a:ln w="12700">
            <a:solidFill>
              <a:srgbClr val="DA0000"/>
            </a:solidFill>
            <a:prstDash val="solid"/>
          </a:ln>
        </p:spPr>
      </p:sp>
      <p:sp>
        <p:nvSpPr>
          <p:cNvPr id="8" name="Text 6"/>
          <p:cNvSpPr/>
          <p:nvPr/>
        </p:nvSpPr>
        <p:spPr>
          <a:xfrm>
            <a:off x="320040" y="1024128"/>
            <a:ext cx="685800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  CATEGORY-WISE REVENUE BREAKDOWN</a:t>
            </a:r>
            <a:endParaRPr lang="en-US" sz="1100" dirty="0"/>
          </a:p>
        </p:txBody>
      </p:sp>
      <p:graphicFrame>
        <p:nvGraphicFramePr>
          <p:cNvPr id="9" name="Chart 0"/>
          <p:cNvGraphicFramePr/>
          <p:nvPr/>
        </p:nvGraphicFramePr>
        <p:xfrm>
          <a:off x="365760" y="1389888"/>
          <a:ext cx="67665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406640" y="1005840"/>
            <a:ext cx="4434840" cy="16916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1" name="Shape 8"/>
          <p:cNvSpPr/>
          <p:nvPr/>
        </p:nvSpPr>
        <p:spPr>
          <a:xfrm>
            <a:off x="7406640" y="1005840"/>
            <a:ext cx="4434840" cy="320040"/>
          </a:xfrm>
          <a:prstGeom prst="rect">
            <a:avLst/>
          </a:prstGeom>
          <a:solidFill>
            <a:srgbClr val="E5A800"/>
          </a:solidFill>
          <a:ln w="12700">
            <a:solidFill>
              <a:srgbClr val="E5A800"/>
            </a:solidFill>
            <a:prstDash val="solid"/>
          </a:ln>
        </p:spPr>
      </p:sp>
      <p:sp>
        <p:nvSpPr>
          <p:cNvPr id="12" name="Text 9"/>
          <p:cNvSpPr/>
          <p:nvPr/>
        </p:nvSpPr>
        <p:spPr>
          <a:xfrm>
            <a:off x="7406640" y="1024128"/>
            <a:ext cx="4434840" cy="283464"/>
          </a:xfrm>
          <a:prstGeom prst="rect">
            <a:avLst/>
          </a:prstGeom>
          <a:noFill/>
          <a:ln/>
        </p:spPr>
        <p:txBody>
          <a:bodyPr wrap="square" lIns="0" tIns="0" rIns="0" bIns="0" rtlCol="0" anchor="ctr"/>
          <a:lstStyle/>
          <a:p>
            <a:pPr marL="0" indent="0" algn="ctr">
              <a:buNone/>
            </a:pPr>
            <a:r>
              <a:rPr lang="en-US" sz="1050" b="1" kern="0" spc="100" dirty="0">
                <a:solidFill>
                  <a:srgbClr val="1A1A1A"/>
                </a:solidFill>
                <a:latin typeface="Arial" pitchFamily="34" charset="0"/>
                <a:ea typeface="Arial" pitchFamily="34" charset="-122"/>
                <a:cs typeface="Arial" pitchFamily="34" charset="-120"/>
              </a:rPr>
              <a:t>📈  MONTHLY REVENUE TREND</a:t>
            </a:r>
            <a:endParaRPr lang="en-US" sz="1050" dirty="0"/>
          </a:p>
        </p:txBody>
      </p:sp>
      <p:graphicFrame>
        <p:nvGraphicFramePr>
          <p:cNvPr id="13" name="Chart 1"/>
          <p:cNvGraphicFramePr/>
          <p:nvPr/>
        </p:nvGraphicFramePr>
        <p:xfrm>
          <a:off x="7452360" y="1353312"/>
          <a:ext cx="4343400" cy="1298448"/>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7406640" y="2834640"/>
            <a:ext cx="4434840" cy="14630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5" name="Shape 11"/>
          <p:cNvSpPr/>
          <p:nvPr/>
        </p:nvSpPr>
        <p:spPr>
          <a:xfrm>
            <a:off x="7406640" y="2834640"/>
            <a:ext cx="4434840" cy="320040"/>
          </a:xfrm>
          <a:prstGeom prst="rect">
            <a:avLst/>
          </a:prstGeom>
          <a:solidFill>
            <a:srgbClr val="DA0000"/>
          </a:solidFill>
          <a:ln w="12700">
            <a:solidFill>
              <a:srgbClr val="DA0000"/>
            </a:solidFill>
            <a:prstDash val="solid"/>
          </a:ln>
        </p:spPr>
      </p:sp>
      <p:sp>
        <p:nvSpPr>
          <p:cNvPr id="16" name="Text 12"/>
          <p:cNvSpPr/>
          <p:nvPr/>
        </p:nvSpPr>
        <p:spPr>
          <a:xfrm>
            <a:off x="7406640" y="2852928"/>
            <a:ext cx="4434840" cy="283464"/>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Arial" pitchFamily="34" charset="0"/>
                <a:ea typeface="Arial" pitchFamily="34" charset="-122"/>
                <a:cs typeface="Arial" pitchFamily="34" charset="-120"/>
              </a:rPr>
              <a:t>🗓  WEEKDAY vs WEEKEND REVENUE</a:t>
            </a:r>
            <a:endParaRPr lang="en-US" sz="1000" dirty="0"/>
          </a:p>
        </p:txBody>
      </p:sp>
      <p:graphicFrame>
        <p:nvGraphicFramePr>
          <p:cNvPr id="17" name="Chart 2"/>
          <p:cNvGraphicFramePr/>
          <p:nvPr/>
        </p:nvGraphicFramePr>
        <p:xfrm>
          <a:off x="7452360" y="3182112"/>
          <a:ext cx="4343400" cy="1069848"/>
        </p:xfrm>
        <a:graphic>
          <a:graphicData uri="http://schemas.openxmlformats.org/drawingml/2006/chart">
            <c:chart xmlns:c="http://schemas.openxmlformats.org/drawingml/2006/chart" xmlns:r="http://schemas.openxmlformats.org/officeDocument/2006/relationships" r:id="rId5"/>
          </a:graphicData>
        </a:graphic>
      </p:graphicFrame>
      <p:sp>
        <p:nvSpPr>
          <p:cNvPr id="18" name="Shape 13"/>
          <p:cNvSpPr/>
          <p:nvPr/>
        </p:nvSpPr>
        <p:spPr>
          <a:xfrm>
            <a:off x="320040" y="4407408"/>
            <a:ext cx="11521440" cy="1664208"/>
          </a:xfrm>
          <a:prstGeom prst="rect">
            <a:avLst/>
          </a:prstGeom>
          <a:solidFill>
            <a:srgbClr val="FFF3F3"/>
          </a:solidFill>
          <a:ln w="12700">
            <a:solidFill>
              <a:srgbClr val="DA0000"/>
            </a:solidFill>
            <a:prstDash val="solid"/>
          </a:ln>
        </p:spPr>
      </p:sp>
      <p:sp>
        <p:nvSpPr>
          <p:cNvPr id="19" name="Shape 14"/>
          <p:cNvSpPr/>
          <p:nvPr/>
        </p:nvSpPr>
        <p:spPr>
          <a:xfrm>
            <a:off x="320040" y="4407408"/>
            <a:ext cx="11521440" cy="310896"/>
          </a:xfrm>
          <a:prstGeom prst="rect">
            <a:avLst/>
          </a:prstGeom>
          <a:solidFill>
            <a:srgbClr val="DA0000"/>
          </a:solidFill>
          <a:ln w="12700">
            <a:solidFill>
              <a:srgbClr val="DA0000"/>
            </a:solidFill>
            <a:prstDash val="solid"/>
          </a:ln>
        </p:spPr>
      </p:sp>
      <p:sp>
        <p:nvSpPr>
          <p:cNvPr id="20" name="Text 15"/>
          <p:cNvSpPr/>
          <p:nvPr/>
        </p:nvSpPr>
        <p:spPr>
          <a:xfrm>
            <a:off x="320040" y="4425696"/>
            <a:ext cx="11521440" cy="27432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  REVENUE INSIGHTS</a:t>
            </a:r>
            <a:endParaRPr lang="en-US" sz="1100" dirty="0"/>
          </a:p>
        </p:txBody>
      </p:sp>
      <p:sp>
        <p:nvSpPr>
          <p:cNvPr id="21" name="Shape 16"/>
          <p:cNvSpPr/>
          <p:nvPr/>
        </p:nvSpPr>
        <p:spPr>
          <a:xfrm>
            <a:off x="457200" y="4800600"/>
            <a:ext cx="54864" cy="1097280"/>
          </a:xfrm>
          <a:prstGeom prst="rect">
            <a:avLst/>
          </a:prstGeom>
          <a:solidFill>
            <a:srgbClr val="DA0000"/>
          </a:solidFill>
          <a:ln w="12700">
            <a:solidFill>
              <a:srgbClr val="DA0000"/>
            </a:solidFill>
            <a:prstDash val="solid"/>
          </a:ln>
        </p:spPr>
      </p:sp>
      <p:sp>
        <p:nvSpPr>
          <p:cNvPr id="22" name="Text 17"/>
          <p:cNvSpPr/>
          <p:nvPr/>
        </p:nvSpPr>
        <p:spPr>
          <a:xfrm>
            <a:off x="566928" y="4828032"/>
            <a:ext cx="2651760" cy="32004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35.2% Revenue Share</a:t>
            </a:r>
            <a:endParaRPr lang="en-US" sz="1050" dirty="0"/>
          </a:p>
        </p:txBody>
      </p:sp>
      <p:sp>
        <p:nvSpPr>
          <p:cNvPr id="23" name="Text 18"/>
          <p:cNvSpPr/>
          <p:nvPr/>
        </p:nvSpPr>
        <p:spPr>
          <a:xfrm>
            <a:off x="566928" y="5138928"/>
            <a:ext cx="2651760" cy="64008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Burgers dominate — nearly 1 in 3 rupees spent is on Burgers</a:t>
            </a:r>
            <a:endParaRPr lang="en-US" sz="950" dirty="0"/>
          </a:p>
        </p:txBody>
      </p:sp>
      <p:sp>
        <p:nvSpPr>
          <p:cNvPr id="24" name="Shape 19"/>
          <p:cNvSpPr/>
          <p:nvPr/>
        </p:nvSpPr>
        <p:spPr>
          <a:xfrm>
            <a:off x="3337560" y="4800600"/>
            <a:ext cx="54864" cy="1097280"/>
          </a:xfrm>
          <a:prstGeom prst="rect">
            <a:avLst/>
          </a:prstGeom>
          <a:solidFill>
            <a:srgbClr val="DA0000"/>
          </a:solidFill>
          <a:ln w="12700">
            <a:solidFill>
              <a:srgbClr val="DA0000"/>
            </a:solidFill>
            <a:prstDash val="solid"/>
          </a:ln>
        </p:spPr>
      </p:sp>
      <p:sp>
        <p:nvSpPr>
          <p:cNvPr id="25" name="Text 20"/>
          <p:cNvSpPr/>
          <p:nvPr/>
        </p:nvSpPr>
        <p:spPr>
          <a:xfrm>
            <a:off x="3447288" y="4828032"/>
            <a:ext cx="2651760" cy="32004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7.3% Monthly Growth</a:t>
            </a:r>
            <a:endParaRPr lang="en-US" sz="1050" dirty="0"/>
          </a:p>
        </p:txBody>
      </p:sp>
      <p:sp>
        <p:nvSpPr>
          <p:cNvPr id="26" name="Text 21"/>
          <p:cNvSpPr/>
          <p:nvPr/>
        </p:nvSpPr>
        <p:spPr>
          <a:xfrm>
            <a:off x="3447288" y="5138928"/>
            <a:ext cx="2651760" cy="64008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Revenue grew consistently from Feb to March 2026</a:t>
            </a:r>
            <a:endParaRPr lang="en-US" sz="950" dirty="0"/>
          </a:p>
        </p:txBody>
      </p:sp>
      <p:sp>
        <p:nvSpPr>
          <p:cNvPr id="27" name="Shape 22"/>
          <p:cNvSpPr/>
          <p:nvPr/>
        </p:nvSpPr>
        <p:spPr>
          <a:xfrm>
            <a:off x="6217920" y="4800600"/>
            <a:ext cx="54864" cy="1097280"/>
          </a:xfrm>
          <a:prstGeom prst="rect">
            <a:avLst/>
          </a:prstGeom>
          <a:solidFill>
            <a:srgbClr val="DA0000"/>
          </a:solidFill>
          <a:ln w="12700">
            <a:solidFill>
              <a:srgbClr val="DA0000"/>
            </a:solidFill>
            <a:prstDash val="solid"/>
          </a:ln>
        </p:spPr>
      </p:sp>
      <p:sp>
        <p:nvSpPr>
          <p:cNvPr id="28" name="Text 23"/>
          <p:cNvSpPr/>
          <p:nvPr/>
        </p:nvSpPr>
        <p:spPr>
          <a:xfrm>
            <a:off x="6327648" y="4828032"/>
            <a:ext cx="2651760" cy="32004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72% Weekend Dominance</a:t>
            </a:r>
            <a:endParaRPr lang="en-US" sz="1050" dirty="0"/>
          </a:p>
        </p:txBody>
      </p:sp>
      <p:sp>
        <p:nvSpPr>
          <p:cNvPr id="29" name="Text 24"/>
          <p:cNvSpPr/>
          <p:nvPr/>
        </p:nvSpPr>
        <p:spPr>
          <a:xfrm>
            <a:off x="6327648" y="5138928"/>
            <a:ext cx="2651760" cy="64008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Weekend sales are 2.6× higher than weekday sales</a:t>
            </a:r>
            <a:endParaRPr lang="en-US" sz="950" dirty="0"/>
          </a:p>
        </p:txBody>
      </p:sp>
      <p:sp>
        <p:nvSpPr>
          <p:cNvPr id="30" name="Shape 25"/>
          <p:cNvSpPr/>
          <p:nvPr/>
        </p:nvSpPr>
        <p:spPr>
          <a:xfrm>
            <a:off x="9098280" y="4800600"/>
            <a:ext cx="54864" cy="1097280"/>
          </a:xfrm>
          <a:prstGeom prst="rect">
            <a:avLst/>
          </a:prstGeom>
          <a:solidFill>
            <a:srgbClr val="DA0000"/>
          </a:solidFill>
          <a:ln w="12700">
            <a:solidFill>
              <a:srgbClr val="DA0000"/>
            </a:solidFill>
            <a:prstDash val="solid"/>
          </a:ln>
        </p:spPr>
      </p:sp>
      <p:sp>
        <p:nvSpPr>
          <p:cNvPr id="31" name="Text 26"/>
          <p:cNvSpPr/>
          <p:nvPr/>
        </p:nvSpPr>
        <p:spPr>
          <a:xfrm>
            <a:off x="9208008" y="4828032"/>
            <a:ext cx="2651760" cy="32004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Low-Performers</a:t>
            </a:r>
            <a:endParaRPr lang="en-US" sz="1050" dirty="0"/>
          </a:p>
        </p:txBody>
      </p:sp>
      <p:sp>
        <p:nvSpPr>
          <p:cNvPr id="32" name="Text 27"/>
          <p:cNvSpPr/>
          <p:nvPr/>
        </p:nvSpPr>
        <p:spPr>
          <a:xfrm>
            <a:off x="9208008" y="5138928"/>
            <a:ext cx="2651760" cy="64008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Shakes (1.8%) and Salads (1.9%) signal untapped potential</a:t>
            </a:r>
            <a:endParaRPr lang="en-US" sz="950" dirty="0"/>
          </a:p>
        </p:txBody>
      </p:sp>
      <p:sp>
        <p:nvSpPr>
          <p:cNvPr id="33" name="Shape 28"/>
          <p:cNvSpPr/>
          <p:nvPr/>
        </p:nvSpPr>
        <p:spPr>
          <a:xfrm>
            <a:off x="0" y="6537960"/>
            <a:ext cx="12161520" cy="320040"/>
          </a:xfrm>
          <a:prstGeom prst="rect">
            <a:avLst/>
          </a:prstGeom>
          <a:solidFill>
            <a:srgbClr val="DA0000"/>
          </a:solidFill>
          <a:ln w="12700">
            <a:solidFill>
              <a:srgbClr val="DA0000"/>
            </a:solidFill>
            <a:prstDash val="solid"/>
          </a:ln>
        </p:spPr>
      </p:sp>
      <p:sp>
        <p:nvSpPr>
          <p:cNvPr id="34" name="Text 29"/>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Revenue Analysis  |  Prepared by: Ranjeet Anada</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DA0000"/>
          </a:solidFill>
          <a:ln w="12700">
            <a:solidFill>
              <a:srgbClr val="DA0000"/>
            </a:solidFill>
            <a:prstDash val="solid"/>
          </a:ln>
        </p:spPr>
      </p:sp>
      <p:sp>
        <p:nvSpPr>
          <p:cNvPr id="3" name="Text 1"/>
          <p:cNvSpPr/>
          <p:nvPr/>
        </p:nvSpPr>
        <p:spPr>
          <a:xfrm>
            <a:off x="457200" y="73152"/>
            <a:ext cx="91440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CUSTOMER BEHAVIOR ANALYSIS</a:t>
            </a:r>
            <a:endParaRPr lang="en-US" sz="2600" dirty="0"/>
          </a:p>
        </p:txBody>
      </p:sp>
      <p:sp>
        <p:nvSpPr>
          <p:cNvPr id="4" name="Text 2"/>
          <p:cNvSpPr/>
          <p:nvPr/>
        </p:nvSpPr>
        <p:spPr>
          <a:xfrm>
            <a:off x="457200" y="530352"/>
            <a:ext cx="9144000" cy="274320"/>
          </a:xfrm>
          <a:prstGeom prst="rect">
            <a:avLst/>
          </a:prstGeom>
          <a:noFill/>
          <a:ln/>
        </p:spPr>
        <p:txBody>
          <a:bodyPr wrap="square" lIns="0" tIns="0" rIns="0" bIns="0" rtlCol="0" anchor="ctr"/>
          <a:lstStyle/>
          <a:p>
            <a:pPr marL="0" indent="0">
              <a:buNone/>
            </a:pPr>
            <a:r>
              <a:rPr lang="en-US" sz="1100" i="1" dirty="0">
                <a:solidFill>
                  <a:srgbClr val="FFC72C"/>
                </a:solidFill>
                <a:latin typeface="Calibri" pitchFamily="34" charset="0"/>
                <a:ea typeface="Calibri" pitchFamily="34" charset="-122"/>
                <a:cs typeface="Calibri" pitchFamily="34" charset="-120"/>
              </a:rPr>
              <a:t>Orders by Hour  |  Time Bucket Analysis  |  Ordering Pattern Insights</a:t>
            </a:r>
            <a:endParaRPr lang="en-US" sz="1100" dirty="0"/>
          </a:p>
        </p:txBody>
      </p:sp>
      <p:sp>
        <p:nvSpPr>
          <p:cNvPr id="5" name="Text 3"/>
          <p:cNvSpPr/>
          <p:nvPr/>
        </p:nvSpPr>
        <p:spPr>
          <a:xfrm>
            <a:off x="11247120" y="182880"/>
            <a:ext cx="640080" cy="548640"/>
          </a:xfrm>
          <a:prstGeom prst="rect">
            <a:avLst/>
          </a:prstGeom>
          <a:noFill/>
          <a:ln/>
        </p:spPr>
        <p:txBody>
          <a:bodyPr wrap="square" lIns="0" tIns="0" rIns="0" bIns="0" rtlCol="0" anchor="ctr"/>
          <a:lstStyle/>
          <a:p>
            <a:pPr marL="0" indent="0" algn="ctr">
              <a:buNone/>
            </a:pPr>
            <a:r>
              <a:rPr lang="en-US" sz="2800" b="1" dirty="0">
                <a:solidFill>
                  <a:srgbClr val="FFC72C"/>
                </a:solidFill>
                <a:latin typeface="Arial Black" pitchFamily="34" charset="0"/>
                <a:ea typeface="Arial Black" pitchFamily="34" charset="-122"/>
                <a:cs typeface="Arial Black" pitchFamily="34" charset="-120"/>
              </a:rPr>
              <a:t>05</a:t>
            </a:r>
            <a:endParaRPr lang="en-US" sz="2800" dirty="0"/>
          </a:p>
        </p:txBody>
      </p:sp>
      <p:sp>
        <p:nvSpPr>
          <p:cNvPr id="6" name="Shape 4"/>
          <p:cNvSpPr/>
          <p:nvPr/>
        </p:nvSpPr>
        <p:spPr>
          <a:xfrm>
            <a:off x="320040" y="1005840"/>
            <a:ext cx="7223760" cy="320040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7" name="Shape 5"/>
          <p:cNvSpPr/>
          <p:nvPr/>
        </p:nvSpPr>
        <p:spPr>
          <a:xfrm>
            <a:off x="320040" y="1005840"/>
            <a:ext cx="7223760" cy="347472"/>
          </a:xfrm>
          <a:prstGeom prst="rect">
            <a:avLst/>
          </a:prstGeom>
          <a:solidFill>
            <a:srgbClr val="DA0000"/>
          </a:solidFill>
          <a:ln w="12700">
            <a:solidFill>
              <a:srgbClr val="DA0000"/>
            </a:solidFill>
            <a:prstDash val="solid"/>
          </a:ln>
        </p:spPr>
      </p:sp>
      <p:sp>
        <p:nvSpPr>
          <p:cNvPr id="8" name="Text 6"/>
          <p:cNvSpPr/>
          <p:nvPr/>
        </p:nvSpPr>
        <p:spPr>
          <a:xfrm>
            <a:off x="320040" y="1024128"/>
            <a:ext cx="722376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  ORDERS BY HOUR OF DAY</a:t>
            </a:r>
            <a:endParaRPr lang="en-US" sz="1100" dirty="0"/>
          </a:p>
        </p:txBody>
      </p:sp>
      <p:graphicFrame>
        <p:nvGraphicFramePr>
          <p:cNvPr id="9" name="Chart 0"/>
          <p:cNvGraphicFramePr/>
          <p:nvPr/>
        </p:nvGraphicFramePr>
        <p:xfrm>
          <a:off x="365760" y="1389888"/>
          <a:ext cx="7132320" cy="2761488"/>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772400" y="1005840"/>
            <a:ext cx="4069080" cy="1965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1" name="Shape 8"/>
          <p:cNvSpPr/>
          <p:nvPr/>
        </p:nvSpPr>
        <p:spPr>
          <a:xfrm>
            <a:off x="7772400" y="1005840"/>
            <a:ext cx="4069080" cy="320040"/>
          </a:xfrm>
          <a:prstGeom prst="rect">
            <a:avLst/>
          </a:prstGeom>
          <a:solidFill>
            <a:srgbClr val="E5A800"/>
          </a:solidFill>
          <a:ln w="12700">
            <a:solidFill>
              <a:srgbClr val="E5A800"/>
            </a:solidFill>
            <a:prstDash val="solid"/>
          </a:ln>
        </p:spPr>
      </p:sp>
      <p:sp>
        <p:nvSpPr>
          <p:cNvPr id="12" name="Text 9"/>
          <p:cNvSpPr/>
          <p:nvPr/>
        </p:nvSpPr>
        <p:spPr>
          <a:xfrm>
            <a:off x="7772400" y="1024128"/>
            <a:ext cx="4069080" cy="283464"/>
          </a:xfrm>
          <a:prstGeom prst="rect">
            <a:avLst/>
          </a:prstGeom>
          <a:noFill/>
          <a:ln/>
        </p:spPr>
        <p:txBody>
          <a:bodyPr wrap="square" lIns="0" tIns="0" rIns="0" bIns="0" rtlCol="0" anchor="ctr"/>
          <a:lstStyle/>
          <a:p>
            <a:pPr marL="0" indent="0" algn="ctr">
              <a:buNone/>
            </a:pPr>
            <a:r>
              <a:rPr lang="en-US" sz="1050" b="1" kern="0" spc="100" dirty="0">
                <a:solidFill>
                  <a:srgbClr val="1A1A1A"/>
                </a:solidFill>
                <a:latin typeface="Arial" pitchFamily="34" charset="0"/>
                <a:ea typeface="Arial" pitchFamily="34" charset="-122"/>
                <a:cs typeface="Arial" pitchFamily="34" charset="-120"/>
              </a:rPr>
              <a:t>⏱  ORDERS BY TIME BUCKET</a:t>
            </a:r>
            <a:endParaRPr lang="en-US" sz="1050" dirty="0"/>
          </a:p>
        </p:txBody>
      </p:sp>
      <p:graphicFrame>
        <p:nvGraphicFramePr>
          <p:cNvPr id="13" name="Chart 1"/>
          <p:cNvGraphicFramePr/>
          <p:nvPr/>
        </p:nvGraphicFramePr>
        <p:xfrm>
          <a:off x="7818120" y="1353312"/>
          <a:ext cx="3977640" cy="1572768"/>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10"/>
          <p:cNvSpPr/>
          <p:nvPr/>
        </p:nvSpPr>
        <p:spPr>
          <a:xfrm>
            <a:off x="7772400" y="3090672"/>
            <a:ext cx="1938528" cy="822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5" name="Shape 11"/>
          <p:cNvSpPr/>
          <p:nvPr/>
        </p:nvSpPr>
        <p:spPr>
          <a:xfrm>
            <a:off x="7772400" y="3090672"/>
            <a:ext cx="54864" cy="822960"/>
          </a:xfrm>
          <a:prstGeom prst="rect">
            <a:avLst/>
          </a:prstGeom>
          <a:solidFill>
            <a:srgbClr val="DA0000"/>
          </a:solidFill>
          <a:ln w="12700">
            <a:solidFill>
              <a:srgbClr val="DA0000"/>
            </a:solidFill>
            <a:prstDash val="solid"/>
          </a:ln>
        </p:spPr>
      </p:sp>
      <p:sp>
        <p:nvSpPr>
          <p:cNvPr id="16" name="Text 12"/>
          <p:cNvSpPr/>
          <p:nvPr/>
        </p:nvSpPr>
        <p:spPr>
          <a:xfrm>
            <a:off x="7882128" y="3163824"/>
            <a:ext cx="1737360" cy="329184"/>
          </a:xfrm>
          <a:prstGeom prst="rect">
            <a:avLst/>
          </a:prstGeom>
          <a:noFill/>
          <a:ln/>
        </p:spPr>
        <p:txBody>
          <a:bodyPr wrap="square" lIns="0" tIns="0" rIns="0" bIns="0" rtlCol="0" anchor="ctr"/>
          <a:lstStyle/>
          <a:p>
            <a:pPr marL="0" indent="0">
              <a:buNone/>
            </a:pPr>
            <a:r>
              <a:rPr lang="en-US" sz="1400" b="1" dirty="0">
                <a:solidFill>
                  <a:srgbClr val="DA0000"/>
                </a:solidFill>
                <a:latin typeface="Arial Black" pitchFamily="34" charset="0"/>
                <a:ea typeface="Arial Black" pitchFamily="34" charset="-122"/>
                <a:cs typeface="Arial Black" pitchFamily="34" charset="-120"/>
              </a:rPr>
              <a:t>🌙  2,565</a:t>
            </a:r>
            <a:endParaRPr lang="en-US" sz="1400" dirty="0"/>
          </a:p>
        </p:txBody>
      </p:sp>
      <p:sp>
        <p:nvSpPr>
          <p:cNvPr id="17" name="Text 13"/>
          <p:cNvSpPr/>
          <p:nvPr/>
        </p:nvSpPr>
        <p:spPr>
          <a:xfrm>
            <a:off x="7882128" y="3493008"/>
            <a:ext cx="1737360" cy="201168"/>
          </a:xfrm>
          <a:prstGeom prst="rect">
            <a:avLst/>
          </a:prstGeom>
          <a:noFill/>
          <a:ln/>
        </p:spPr>
        <p:txBody>
          <a:bodyPr wrap="square" lIns="0" tIns="0" rIns="0" bIns="0" rtlCol="0" anchor="ctr"/>
          <a:lstStyle/>
          <a:p>
            <a:pPr marL="0" indent="0">
              <a:buNone/>
            </a:pPr>
            <a:r>
              <a:rPr lang="en-US" sz="900" b="1" dirty="0">
                <a:solidFill>
                  <a:srgbClr val="1A1A1A"/>
                </a:solidFill>
                <a:latin typeface="Arial" pitchFamily="34" charset="0"/>
                <a:ea typeface="Arial" pitchFamily="34" charset="-122"/>
                <a:cs typeface="Arial" pitchFamily="34" charset="-120"/>
              </a:rPr>
              <a:t>Evening Orders</a:t>
            </a:r>
            <a:endParaRPr lang="en-US" sz="900" dirty="0"/>
          </a:p>
        </p:txBody>
      </p:sp>
      <p:sp>
        <p:nvSpPr>
          <p:cNvPr id="18" name="Text 14"/>
          <p:cNvSpPr/>
          <p:nvPr/>
        </p:nvSpPr>
        <p:spPr>
          <a:xfrm>
            <a:off x="7882128" y="3685032"/>
            <a:ext cx="1737360" cy="182880"/>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47.9% of Total</a:t>
            </a:r>
            <a:endParaRPr lang="en-US" sz="800" dirty="0"/>
          </a:p>
        </p:txBody>
      </p:sp>
      <p:sp>
        <p:nvSpPr>
          <p:cNvPr id="19" name="Shape 15"/>
          <p:cNvSpPr/>
          <p:nvPr/>
        </p:nvSpPr>
        <p:spPr>
          <a:xfrm>
            <a:off x="9829800" y="3090672"/>
            <a:ext cx="1938528" cy="822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0" name="Shape 16"/>
          <p:cNvSpPr/>
          <p:nvPr/>
        </p:nvSpPr>
        <p:spPr>
          <a:xfrm>
            <a:off x="9829800" y="3090672"/>
            <a:ext cx="54864" cy="822960"/>
          </a:xfrm>
          <a:prstGeom prst="rect">
            <a:avLst/>
          </a:prstGeom>
          <a:solidFill>
            <a:srgbClr val="E5A800"/>
          </a:solidFill>
          <a:ln w="12700">
            <a:solidFill>
              <a:srgbClr val="E5A800"/>
            </a:solidFill>
            <a:prstDash val="solid"/>
          </a:ln>
        </p:spPr>
      </p:sp>
      <p:sp>
        <p:nvSpPr>
          <p:cNvPr id="21" name="Text 17"/>
          <p:cNvSpPr/>
          <p:nvPr/>
        </p:nvSpPr>
        <p:spPr>
          <a:xfrm>
            <a:off x="9939528" y="3163824"/>
            <a:ext cx="1737360" cy="329184"/>
          </a:xfrm>
          <a:prstGeom prst="rect">
            <a:avLst/>
          </a:prstGeom>
          <a:noFill/>
          <a:ln/>
        </p:spPr>
        <p:txBody>
          <a:bodyPr wrap="square" lIns="0" tIns="0" rIns="0" bIns="0" rtlCol="0" anchor="ctr"/>
          <a:lstStyle/>
          <a:p>
            <a:pPr marL="0" indent="0">
              <a:buNone/>
            </a:pPr>
            <a:r>
              <a:rPr lang="en-US" sz="1400" b="1" dirty="0">
                <a:solidFill>
                  <a:srgbClr val="E5A800"/>
                </a:solidFill>
                <a:latin typeface="Arial Black" pitchFamily="34" charset="0"/>
                <a:ea typeface="Arial Black" pitchFamily="34" charset="-122"/>
                <a:cs typeface="Arial Black" pitchFamily="34" charset="-120"/>
              </a:rPr>
              <a:t>☀  2,490</a:t>
            </a:r>
            <a:endParaRPr lang="en-US" sz="1400" dirty="0"/>
          </a:p>
        </p:txBody>
      </p:sp>
      <p:sp>
        <p:nvSpPr>
          <p:cNvPr id="22" name="Text 18"/>
          <p:cNvSpPr/>
          <p:nvPr/>
        </p:nvSpPr>
        <p:spPr>
          <a:xfrm>
            <a:off x="9939528" y="3493008"/>
            <a:ext cx="1737360" cy="201168"/>
          </a:xfrm>
          <a:prstGeom prst="rect">
            <a:avLst/>
          </a:prstGeom>
          <a:noFill/>
          <a:ln/>
        </p:spPr>
        <p:txBody>
          <a:bodyPr wrap="square" lIns="0" tIns="0" rIns="0" bIns="0" rtlCol="0" anchor="ctr"/>
          <a:lstStyle/>
          <a:p>
            <a:pPr marL="0" indent="0">
              <a:buNone/>
            </a:pPr>
            <a:r>
              <a:rPr lang="en-US" sz="900" b="1" dirty="0">
                <a:solidFill>
                  <a:srgbClr val="1A1A1A"/>
                </a:solidFill>
                <a:latin typeface="Arial" pitchFamily="34" charset="0"/>
                <a:ea typeface="Arial" pitchFamily="34" charset="-122"/>
                <a:cs typeface="Arial" pitchFamily="34" charset="-120"/>
              </a:rPr>
              <a:t>Afternoon Orders</a:t>
            </a:r>
            <a:endParaRPr lang="en-US" sz="900" dirty="0"/>
          </a:p>
        </p:txBody>
      </p:sp>
      <p:sp>
        <p:nvSpPr>
          <p:cNvPr id="23" name="Text 19"/>
          <p:cNvSpPr/>
          <p:nvPr/>
        </p:nvSpPr>
        <p:spPr>
          <a:xfrm>
            <a:off x="9939528" y="3685032"/>
            <a:ext cx="1737360" cy="182880"/>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46.6% of Total</a:t>
            </a:r>
            <a:endParaRPr lang="en-US" sz="800" dirty="0"/>
          </a:p>
        </p:txBody>
      </p:sp>
      <p:sp>
        <p:nvSpPr>
          <p:cNvPr id="24" name="Shape 20"/>
          <p:cNvSpPr/>
          <p:nvPr/>
        </p:nvSpPr>
        <p:spPr>
          <a:xfrm>
            <a:off x="7772400" y="4050792"/>
            <a:ext cx="1938528" cy="822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5" name="Shape 21"/>
          <p:cNvSpPr/>
          <p:nvPr/>
        </p:nvSpPr>
        <p:spPr>
          <a:xfrm>
            <a:off x="7772400" y="4050792"/>
            <a:ext cx="54864" cy="822960"/>
          </a:xfrm>
          <a:prstGeom prst="rect">
            <a:avLst/>
          </a:prstGeom>
          <a:solidFill>
            <a:srgbClr val="4A4A4A"/>
          </a:solidFill>
          <a:ln w="12700">
            <a:solidFill>
              <a:srgbClr val="4A4A4A"/>
            </a:solidFill>
            <a:prstDash val="solid"/>
          </a:ln>
        </p:spPr>
      </p:sp>
      <p:sp>
        <p:nvSpPr>
          <p:cNvPr id="26" name="Text 22"/>
          <p:cNvSpPr/>
          <p:nvPr/>
        </p:nvSpPr>
        <p:spPr>
          <a:xfrm>
            <a:off x="7882128" y="4123944"/>
            <a:ext cx="1737360" cy="329184"/>
          </a:xfrm>
          <a:prstGeom prst="rect">
            <a:avLst/>
          </a:prstGeom>
          <a:noFill/>
          <a:ln/>
        </p:spPr>
        <p:txBody>
          <a:bodyPr wrap="square" lIns="0" tIns="0" rIns="0" bIns="0" rtlCol="0" anchor="ctr"/>
          <a:lstStyle/>
          <a:p>
            <a:pPr marL="0" indent="0">
              <a:buNone/>
            </a:pPr>
            <a:r>
              <a:rPr lang="en-US" sz="1400" b="1" dirty="0">
                <a:solidFill>
                  <a:srgbClr val="4A4A4A"/>
                </a:solidFill>
                <a:latin typeface="Arial Black" pitchFamily="34" charset="0"/>
                <a:ea typeface="Arial Black" pitchFamily="34" charset="-122"/>
                <a:cs typeface="Arial Black" pitchFamily="34" charset="-120"/>
              </a:rPr>
              <a:t>🌅  288</a:t>
            </a:r>
            <a:endParaRPr lang="en-US" sz="1400" dirty="0"/>
          </a:p>
        </p:txBody>
      </p:sp>
      <p:sp>
        <p:nvSpPr>
          <p:cNvPr id="27" name="Text 23"/>
          <p:cNvSpPr/>
          <p:nvPr/>
        </p:nvSpPr>
        <p:spPr>
          <a:xfrm>
            <a:off x="7882128" y="4453128"/>
            <a:ext cx="1737360" cy="201168"/>
          </a:xfrm>
          <a:prstGeom prst="rect">
            <a:avLst/>
          </a:prstGeom>
          <a:noFill/>
          <a:ln/>
        </p:spPr>
        <p:txBody>
          <a:bodyPr wrap="square" lIns="0" tIns="0" rIns="0" bIns="0" rtlCol="0" anchor="ctr"/>
          <a:lstStyle/>
          <a:p>
            <a:pPr marL="0" indent="0">
              <a:buNone/>
            </a:pPr>
            <a:r>
              <a:rPr lang="en-US" sz="900" b="1" dirty="0">
                <a:solidFill>
                  <a:srgbClr val="1A1A1A"/>
                </a:solidFill>
                <a:latin typeface="Arial" pitchFamily="34" charset="0"/>
                <a:ea typeface="Arial" pitchFamily="34" charset="-122"/>
                <a:cs typeface="Arial" pitchFamily="34" charset="-120"/>
              </a:rPr>
              <a:t>Morning Orders</a:t>
            </a:r>
            <a:endParaRPr lang="en-US" sz="900" dirty="0"/>
          </a:p>
        </p:txBody>
      </p:sp>
      <p:sp>
        <p:nvSpPr>
          <p:cNvPr id="28" name="Text 24"/>
          <p:cNvSpPr/>
          <p:nvPr/>
        </p:nvSpPr>
        <p:spPr>
          <a:xfrm>
            <a:off x="7882128" y="4645152"/>
            <a:ext cx="1737360" cy="182880"/>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Only 5.4% — Opportunity!</a:t>
            </a:r>
            <a:endParaRPr lang="en-US" sz="800" dirty="0"/>
          </a:p>
        </p:txBody>
      </p:sp>
      <p:sp>
        <p:nvSpPr>
          <p:cNvPr id="29" name="Shape 25"/>
          <p:cNvSpPr/>
          <p:nvPr/>
        </p:nvSpPr>
        <p:spPr>
          <a:xfrm>
            <a:off x="9829800" y="4050792"/>
            <a:ext cx="1938528" cy="8229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0" name="Shape 26"/>
          <p:cNvSpPr/>
          <p:nvPr/>
        </p:nvSpPr>
        <p:spPr>
          <a:xfrm>
            <a:off x="9829800" y="4050792"/>
            <a:ext cx="54864" cy="822960"/>
          </a:xfrm>
          <a:prstGeom prst="rect">
            <a:avLst/>
          </a:prstGeom>
          <a:solidFill>
            <a:srgbClr val="DA0000"/>
          </a:solidFill>
          <a:ln w="12700">
            <a:solidFill>
              <a:srgbClr val="DA0000"/>
            </a:solidFill>
            <a:prstDash val="solid"/>
          </a:ln>
        </p:spPr>
      </p:sp>
      <p:sp>
        <p:nvSpPr>
          <p:cNvPr id="31" name="Text 27"/>
          <p:cNvSpPr/>
          <p:nvPr/>
        </p:nvSpPr>
        <p:spPr>
          <a:xfrm>
            <a:off x="9939528" y="4123944"/>
            <a:ext cx="1737360" cy="329184"/>
          </a:xfrm>
          <a:prstGeom prst="rect">
            <a:avLst/>
          </a:prstGeom>
          <a:noFill/>
          <a:ln/>
        </p:spPr>
        <p:txBody>
          <a:bodyPr wrap="square" lIns="0" tIns="0" rIns="0" bIns="0" rtlCol="0" anchor="ctr"/>
          <a:lstStyle/>
          <a:p>
            <a:pPr marL="0" indent="0">
              <a:buNone/>
            </a:pPr>
            <a:r>
              <a:rPr lang="en-US" sz="1400" b="1" dirty="0">
                <a:solidFill>
                  <a:srgbClr val="DA0000"/>
                </a:solidFill>
                <a:latin typeface="Arial Black" pitchFamily="34" charset="0"/>
                <a:ea typeface="Arial Black" pitchFamily="34" charset="-122"/>
                <a:cs typeface="Arial Black" pitchFamily="34" charset="-120"/>
              </a:rPr>
              <a:t>⏰  12PM</a:t>
            </a:r>
            <a:endParaRPr lang="en-US" sz="1400" dirty="0"/>
          </a:p>
        </p:txBody>
      </p:sp>
      <p:sp>
        <p:nvSpPr>
          <p:cNvPr id="32" name="Text 28"/>
          <p:cNvSpPr/>
          <p:nvPr/>
        </p:nvSpPr>
        <p:spPr>
          <a:xfrm>
            <a:off x="9939528" y="4453128"/>
            <a:ext cx="1737360" cy="201168"/>
          </a:xfrm>
          <a:prstGeom prst="rect">
            <a:avLst/>
          </a:prstGeom>
          <a:noFill/>
          <a:ln/>
        </p:spPr>
        <p:txBody>
          <a:bodyPr wrap="square" lIns="0" tIns="0" rIns="0" bIns="0" rtlCol="0" anchor="ctr"/>
          <a:lstStyle/>
          <a:p>
            <a:pPr marL="0" indent="0">
              <a:buNone/>
            </a:pPr>
            <a:r>
              <a:rPr lang="en-US" sz="900" b="1" dirty="0">
                <a:solidFill>
                  <a:srgbClr val="1A1A1A"/>
                </a:solidFill>
                <a:latin typeface="Arial" pitchFamily="34" charset="0"/>
                <a:ea typeface="Arial" pitchFamily="34" charset="-122"/>
                <a:cs typeface="Arial" pitchFamily="34" charset="-120"/>
              </a:rPr>
              <a:t>Peak Lunch Hour</a:t>
            </a:r>
            <a:endParaRPr lang="en-US" sz="900" dirty="0"/>
          </a:p>
        </p:txBody>
      </p:sp>
      <p:sp>
        <p:nvSpPr>
          <p:cNvPr id="33" name="Text 29"/>
          <p:cNvSpPr/>
          <p:nvPr/>
        </p:nvSpPr>
        <p:spPr>
          <a:xfrm>
            <a:off x="9939528" y="4645152"/>
            <a:ext cx="1737360" cy="182880"/>
          </a:xfrm>
          <a:prstGeom prst="rect">
            <a:avLst/>
          </a:prstGeom>
          <a:noFill/>
          <a:ln/>
        </p:spPr>
        <p:txBody>
          <a:bodyPr wrap="square" lIns="0" tIns="0" rIns="0" bIns="0" rtlCol="0" anchor="ctr"/>
          <a:lstStyle/>
          <a:p>
            <a:pPr marL="0" indent="0">
              <a:buNone/>
            </a:pPr>
            <a:r>
              <a:rPr lang="en-US" sz="800" i="1" dirty="0">
                <a:solidFill>
                  <a:srgbClr val="888888"/>
                </a:solidFill>
                <a:latin typeface="Calibri" pitchFamily="34" charset="0"/>
                <a:ea typeface="Calibri" pitchFamily="34" charset="-122"/>
                <a:cs typeface="Calibri" pitchFamily="34" charset="-120"/>
              </a:rPr>
              <a:t>Highest single-hour orders</a:t>
            </a:r>
            <a:endParaRPr lang="en-US" sz="800" dirty="0"/>
          </a:p>
        </p:txBody>
      </p:sp>
      <p:sp>
        <p:nvSpPr>
          <p:cNvPr id="36" name="Text 32"/>
          <p:cNvSpPr/>
          <p:nvPr/>
        </p:nvSpPr>
        <p:spPr>
          <a:xfrm>
            <a:off x="320040" y="4361688"/>
            <a:ext cx="11521440" cy="27432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  CUSTOMER BEHAVIOR INSIGHTS</a:t>
            </a:r>
            <a:endParaRPr lang="en-US" sz="1100" dirty="0"/>
          </a:p>
        </p:txBody>
      </p:sp>
      <p:grpSp>
        <p:nvGrpSpPr>
          <p:cNvPr id="51" name="Group 50">
            <a:extLst>
              <a:ext uri="{FF2B5EF4-FFF2-40B4-BE49-F238E27FC236}">
                <a16:creationId xmlns:a16="http://schemas.microsoft.com/office/drawing/2014/main" id="{DEC25D5A-2285-BA71-0D33-4EF9A23A51C1}"/>
              </a:ext>
            </a:extLst>
          </p:cNvPr>
          <p:cNvGrpSpPr/>
          <p:nvPr/>
        </p:nvGrpSpPr>
        <p:grpSpPr>
          <a:xfrm>
            <a:off x="244831" y="4884202"/>
            <a:ext cx="11539728" cy="1737360"/>
            <a:chOff x="320040" y="4343400"/>
            <a:chExt cx="11539728" cy="1737360"/>
          </a:xfrm>
        </p:grpSpPr>
        <p:sp>
          <p:nvSpPr>
            <p:cNvPr id="34" name="Shape 30"/>
            <p:cNvSpPr/>
            <p:nvPr/>
          </p:nvSpPr>
          <p:spPr>
            <a:xfrm>
              <a:off x="320040" y="4343400"/>
              <a:ext cx="11521440" cy="173736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5" name="Shape 31"/>
            <p:cNvSpPr/>
            <p:nvPr/>
          </p:nvSpPr>
          <p:spPr>
            <a:xfrm>
              <a:off x="320040" y="4343400"/>
              <a:ext cx="11521440" cy="310896"/>
            </a:xfrm>
            <a:prstGeom prst="rect">
              <a:avLst/>
            </a:prstGeom>
            <a:solidFill>
              <a:srgbClr val="DA0000"/>
            </a:solidFill>
            <a:ln w="12700">
              <a:solidFill>
                <a:srgbClr val="DA0000"/>
              </a:solidFill>
              <a:prstDash val="solid"/>
            </a:ln>
          </p:spPr>
        </p:sp>
        <p:sp>
          <p:nvSpPr>
            <p:cNvPr id="37" name="Shape 33"/>
            <p:cNvSpPr/>
            <p:nvPr/>
          </p:nvSpPr>
          <p:spPr>
            <a:xfrm>
              <a:off x="457200" y="4736592"/>
              <a:ext cx="54864" cy="1188720"/>
            </a:xfrm>
            <a:prstGeom prst="rect">
              <a:avLst/>
            </a:prstGeom>
            <a:solidFill>
              <a:srgbClr val="FFC72C"/>
            </a:solidFill>
            <a:ln w="12700">
              <a:solidFill>
                <a:srgbClr val="FFC72C"/>
              </a:solidFill>
              <a:prstDash val="solid"/>
            </a:ln>
          </p:spPr>
        </p:sp>
        <p:sp>
          <p:nvSpPr>
            <p:cNvPr id="38" name="Text 34"/>
            <p:cNvSpPr/>
            <p:nvPr/>
          </p:nvSpPr>
          <p:spPr>
            <a:xfrm>
              <a:off x="566928" y="4754880"/>
              <a:ext cx="2651760" cy="292608"/>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Dual Peak Pattern</a:t>
              </a:r>
              <a:endParaRPr lang="en-US" sz="1050" dirty="0"/>
            </a:p>
          </p:txBody>
        </p:sp>
        <p:sp>
          <p:nvSpPr>
            <p:cNvPr id="39" name="Text 35"/>
            <p:cNvSpPr/>
            <p:nvPr/>
          </p:nvSpPr>
          <p:spPr>
            <a:xfrm>
              <a:off x="566928" y="5047488"/>
              <a:ext cx="2651760" cy="77724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Orders spike at 12PM (lunch rush) and 6PM (dinner rush), creating two clear daily demand peaks for workforce planning.</a:t>
              </a:r>
              <a:endParaRPr lang="en-US" sz="950" dirty="0"/>
            </a:p>
          </p:txBody>
        </p:sp>
        <p:sp>
          <p:nvSpPr>
            <p:cNvPr id="40" name="Shape 36"/>
            <p:cNvSpPr/>
            <p:nvPr/>
          </p:nvSpPr>
          <p:spPr>
            <a:xfrm>
              <a:off x="3337560" y="4736592"/>
              <a:ext cx="54864" cy="1188720"/>
            </a:xfrm>
            <a:prstGeom prst="rect">
              <a:avLst/>
            </a:prstGeom>
            <a:solidFill>
              <a:srgbClr val="FFC72C"/>
            </a:solidFill>
            <a:ln w="12700">
              <a:solidFill>
                <a:srgbClr val="FFC72C"/>
              </a:solidFill>
              <a:prstDash val="solid"/>
            </a:ln>
          </p:spPr>
        </p:sp>
        <p:sp>
          <p:nvSpPr>
            <p:cNvPr id="41" name="Text 37"/>
            <p:cNvSpPr/>
            <p:nvPr/>
          </p:nvSpPr>
          <p:spPr>
            <a:xfrm>
              <a:off x="3447288" y="4754880"/>
              <a:ext cx="2651760" cy="292608"/>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Evening Dominance</a:t>
              </a:r>
              <a:endParaRPr lang="en-US" sz="1050" dirty="0"/>
            </a:p>
          </p:txBody>
        </p:sp>
        <p:sp>
          <p:nvSpPr>
            <p:cNvPr id="42" name="Text 38"/>
            <p:cNvSpPr/>
            <p:nvPr/>
          </p:nvSpPr>
          <p:spPr>
            <a:xfrm>
              <a:off x="3447288" y="5047488"/>
              <a:ext cx="2651760" cy="77724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Evening is the single largest time window — 47.9% of orders occur after 5PM, driven likely by family dining occasions.</a:t>
              </a:r>
              <a:endParaRPr lang="en-US" sz="950" dirty="0"/>
            </a:p>
          </p:txBody>
        </p:sp>
        <p:sp>
          <p:nvSpPr>
            <p:cNvPr id="43" name="Shape 39"/>
            <p:cNvSpPr/>
            <p:nvPr/>
          </p:nvSpPr>
          <p:spPr>
            <a:xfrm>
              <a:off x="6217920" y="4736592"/>
              <a:ext cx="54864" cy="1188720"/>
            </a:xfrm>
            <a:prstGeom prst="rect">
              <a:avLst/>
            </a:prstGeom>
            <a:solidFill>
              <a:srgbClr val="FFC72C"/>
            </a:solidFill>
            <a:ln w="12700">
              <a:solidFill>
                <a:srgbClr val="FFC72C"/>
              </a:solidFill>
              <a:prstDash val="solid"/>
            </a:ln>
          </p:spPr>
        </p:sp>
        <p:sp>
          <p:nvSpPr>
            <p:cNvPr id="44" name="Text 40"/>
            <p:cNvSpPr/>
            <p:nvPr/>
          </p:nvSpPr>
          <p:spPr>
            <a:xfrm>
              <a:off x="6327648" y="4754880"/>
              <a:ext cx="2651760" cy="292608"/>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Morning Gap Opportunity</a:t>
              </a:r>
              <a:endParaRPr lang="en-US" sz="1050" dirty="0"/>
            </a:p>
          </p:txBody>
        </p:sp>
        <p:sp>
          <p:nvSpPr>
            <p:cNvPr id="45" name="Text 41"/>
            <p:cNvSpPr/>
            <p:nvPr/>
          </p:nvSpPr>
          <p:spPr>
            <a:xfrm>
              <a:off x="6327648" y="5047488"/>
              <a:ext cx="2651760" cy="77724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Only 288 morning orders (5.4%) represent a massive untapped segment — breakfast marketing could unlock significant revenue.</a:t>
              </a:r>
              <a:endParaRPr lang="en-US" sz="950" dirty="0"/>
            </a:p>
          </p:txBody>
        </p:sp>
        <p:sp>
          <p:nvSpPr>
            <p:cNvPr id="46" name="Shape 42"/>
            <p:cNvSpPr/>
            <p:nvPr/>
          </p:nvSpPr>
          <p:spPr>
            <a:xfrm>
              <a:off x="9098280" y="4736592"/>
              <a:ext cx="54864" cy="1188720"/>
            </a:xfrm>
            <a:prstGeom prst="rect">
              <a:avLst/>
            </a:prstGeom>
            <a:solidFill>
              <a:srgbClr val="FFC72C"/>
            </a:solidFill>
            <a:ln w="12700">
              <a:solidFill>
                <a:srgbClr val="FFC72C"/>
              </a:solidFill>
              <a:prstDash val="solid"/>
            </a:ln>
          </p:spPr>
        </p:sp>
        <p:sp>
          <p:nvSpPr>
            <p:cNvPr id="47" name="Text 43"/>
            <p:cNvSpPr/>
            <p:nvPr/>
          </p:nvSpPr>
          <p:spPr>
            <a:xfrm>
              <a:off x="9208008" y="4754880"/>
              <a:ext cx="2651760" cy="292608"/>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Avg 2.26 Items/Order</a:t>
              </a:r>
              <a:endParaRPr lang="en-US" sz="1050" dirty="0"/>
            </a:p>
          </p:txBody>
        </p:sp>
        <p:sp>
          <p:nvSpPr>
            <p:cNvPr id="48" name="Text 44"/>
            <p:cNvSpPr/>
            <p:nvPr/>
          </p:nvSpPr>
          <p:spPr>
            <a:xfrm>
              <a:off x="9208008" y="5047488"/>
              <a:ext cx="2651760" cy="777240"/>
            </a:xfrm>
            <a:prstGeom prst="rect">
              <a:avLst/>
            </a:prstGeom>
            <a:noFill/>
            <a:ln/>
          </p:spPr>
          <p:txBody>
            <a:bodyPr wrap="square" lIns="0" tIns="0" rIns="0" bIns="0" rtlCol="0" anchor="ctr"/>
            <a:lstStyle/>
            <a:p>
              <a:pPr marL="0" indent="0">
                <a:buNone/>
              </a:pPr>
              <a:r>
                <a:rPr lang="en-US" sz="950" dirty="0">
                  <a:solidFill>
                    <a:srgbClr val="4A4A4A"/>
                  </a:solidFill>
                  <a:latin typeface="Calibri" pitchFamily="34" charset="0"/>
                  <a:ea typeface="Calibri" pitchFamily="34" charset="-122"/>
                  <a:cs typeface="Calibri" pitchFamily="34" charset="-120"/>
                </a:rPr>
                <a:t>Low item-per-order ratio suggests combo upsell strategies could increase basket size significantly across all time buckets.</a:t>
              </a:r>
              <a:endParaRPr lang="en-US" sz="950" dirty="0"/>
            </a:p>
          </p:txBody>
        </p:sp>
      </p:grpSp>
      <p:sp>
        <p:nvSpPr>
          <p:cNvPr id="49" name="Shape 45"/>
          <p:cNvSpPr/>
          <p:nvPr/>
        </p:nvSpPr>
        <p:spPr>
          <a:xfrm>
            <a:off x="0" y="6537960"/>
            <a:ext cx="12161520" cy="320040"/>
          </a:xfrm>
          <a:prstGeom prst="rect">
            <a:avLst/>
          </a:prstGeom>
          <a:solidFill>
            <a:srgbClr val="DA0000"/>
          </a:solidFill>
          <a:ln w="12700">
            <a:solidFill>
              <a:srgbClr val="DA0000"/>
            </a:solidFill>
            <a:prstDash val="solid"/>
          </a:ln>
        </p:spPr>
      </p:sp>
      <p:sp>
        <p:nvSpPr>
          <p:cNvPr id="50" name="Text 46"/>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Customer Behavior Analysis  |  Prepared by: Ranjeet Anada</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DA0000"/>
          </a:solidFill>
          <a:ln w="12700">
            <a:solidFill>
              <a:srgbClr val="DA0000"/>
            </a:solidFill>
            <a:prstDash val="solid"/>
          </a:ln>
        </p:spPr>
      </p:sp>
      <p:sp>
        <p:nvSpPr>
          <p:cNvPr id="3" name="Text 1"/>
          <p:cNvSpPr/>
          <p:nvPr/>
        </p:nvSpPr>
        <p:spPr>
          <a:xfrm>
            <a:off x="457200" y="73152"/>
            <a:ext cx="9144000" cy="457200"/>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PRODUCT PERFORMANCE ANALYSIS</a:t>
            </a:r>
            <a:endParaRPr lang="en-US" sz="2600" dirty="0"/>
          </a:p>
        </p:txBody>
      </p:sp>
      <p:sp>
        <p:nvSpPr>
          <p:cNvPr id="4" name="Text 2"/>
          <p:cNvSpPr/>
          <p:nvPr/>
        </p:nvSpPr>
        <p:spPr>
          <a:xfrm>
            <a:off x="457200" y="530352"/>
            <a:ext cx="9144000" cy="274320"/>
          </a:xfrm>
          <a:prstGeom prst="rect">
            <a:avLst/>
          </a:prstGeom>
          <a:noFill/>
          <a:ln/>
        </p:spPr>
        <p:txBody>
          <a:bodyPr wrap="square" lIns="0" tIns="0" rIns="0" bIns="0" rtlCol="0" anchor="ctr"/>
          <a:lstStyle/>
          <a:p>
            <a:pPr marL="0" indent="0">
              <a:buNone/>
            </a:pPr>
            <a:r>
              <a:rPr lang="en-US" sz="1100" i="1" dirty="0">
                <a:solidFill>
                  <a:srgbClr val="FFC72C"/>
                </a:solidFill>
                <a:latin typeface="Calibri" pitchFamily="34" charset="0"/>
                <a:ea typeface="Calibri" pitchFamily="34" charset="-122"/>
                <a:cs typeface="Calibri" pitchFamily="34" charset="-120"/>
              </a:rPr>
              <a:t>Top Selling Products  |  Category Insights  |  Performance Rankings</a:t>
            </a:r>
            <a:endParaRPr lang="en-US" sz="1100" dirty="0"/>
          </a:p>
        </p:txBody>
      </p:sp>
      <p:sp>
        <p:nvSpPr>
          <p:cNvPr id="5" name="Text 3"/>
          <p:cNvSpPr/>
          <p:nvPr/>
        </p:nvSpPr>
        <p:spPr>
          <a:xfrm>
            <a:off x="11247120" y="182880"/>
            <a:ext cx="640080" cy="548640"/>
          </a:xfrm>
          <a:prstGeom prst="rect">
            <a:avLst/>
          </a:prstGeom>
          <a:noFill/>
          <a:ln/>
        </p:spPr>
        <p:txBody>
          <a:bodyPr wrap="square" lIns="0" tIns="0" rIns="0" bIns="0" rtlCol="0" anchor="ctr"/>
          <a:lstStyle/>
          <a:p>
            <a:pPr marL="0" indent="0" algn="ctr">
              <a:buNone/>
            </a:pPr>
            <a:r>
              <a:rPr lang="en-US" sz="2800" b="1" dirty="0">
                <a:solidFill>
                  <a:srgbClr val="FFC72C"/>
                </a:solidFill>
                <a:latin typeface="Arial Black" pitchFamily="34" charset="0"/>
                <a:ea typeface="Arial Black" pitchFamily="34" charset="-122"/>
                <a:cs typeface="Arial Black" pitchFamily="34" charset="-120"/>
              </a:rPr>
              <a:t>06</a:t>
            </a:r>
            <a:endParaRPr lang="en-US" sz="2800" dirty="0"/>
          </a:p>
        </p:txBody>
      </p:sp>
      <p:sp>
        <p:nvSpPr>
          <p:cNvPr id="6" name="Shape 4"/>
          <p:cNvSpPr/>
          <p:nvPr/>
        </p:nvSpPr>
        <p:spPr>
          <a:xfrm>
            <a:off x="320040" y="1005840"/>
            <a:ext cx="6858000" cy="347472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7" name="Shape 5"/>
          <p:cNvSpPr/>
          <p:nvPr/>
        </p:nvSpPr>
        <p:spPr>
          <a:xfrm>
            <a:off x="320040" y="1005840"/>
            <a:ext cx="6858000" cy="347472"/>
          </a:xfrm>
          <a:prstGeom prst="rect">
            <a:avLst/>
          </a:prstGeom>
          <a:solidFill>
            <a:srgbClr val="E5A800"/>
          </a:solidFill>
          <a:ln w="12700">
            <a:solidFill>
              <a:srgbClr val="E5A800"/>
            </a:solidFill>
            <a:prstDash val="solid"/>
          </a:ln>
        </p:spPr>
      </p:sp>
      <p:sp>
        <p:nvSpPr>
          <p:cNvPr id="8" name="Text 6"/>
          <p:cNvSpPr/>
          <p:nvPr/>
        </p:nvSpPr>
        <p:spPr>
          <a:xfrm>
            <a:off x="320040" y="1024128"/>
            <a:ext cx="6858000" cy="310896"/>
          </a:xfrm>
          <a:prstGeom prst="rect">
            <a:avLst/>
          </a:prstGeom>
          <a:noFill/>
          <a:ln/>
        </p:spPr>
        <p:txBody>
          <a:bodyPr wrap="square" lIns="0" tIns="0" rIns="0" bIns="0" rtlCol="0" anchor="ctr"/>
          <a:lstStyle/>
          <a:p>
            <a:pPr marL="0" indent="0" algn="ctr">
              <a:buNone/>
            </a:pPr>
            <a:r>
              <a:rPr lang="en-US" sz="1100" b="1" kern="0" spc="100" dirty="0">
                <a:solidFill>
                  <a:srgbClr val="1A1A1A"/>
                </a:solidFill>
                <a:latin typeface="Arial" pitchFamily="34" charset="0"/>
                <a:ea typeface="Arial" pitchFamily="34" charset="-122"/>
                <a:cs typeface="Arial" pitchFamily="34" charset="-120"/>
              </a:rPr>
              <a:t>🏆  TOP 5 PRODUCTS BY ORDER COUNT</a:t>
            </a:r>
            <a:endParaRPr lang="en-US" sz="1100" dirty="0"/>
          </a:p>
        </p:txBody>
      </p:sp>
      <p:graphicFrame>
        <p:nvGraphicFramePr>
          <p:cNvPr id="9" name="Chart 0"/>
          <p:cNvGraphicFramePr/>
          <p:nvPr/>
        </p:nvGraphicFramePr>
        <p:xfrm>
          <a:off x="365760" y="1389888"/>
          <a:ext cx="676656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7406640" y="1005840"/>
            <a:ext cx="4434840" cy="347472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1" name="Shape 8"/>
          <p:cNvSpPr/>
          <p:nvPr/>
        </p:nvSpPr>
        <p:spPr>
          <a:xfrm>
            <a:off x="7406640" y="1005840"/>
            <a:ext cx="4434840" cy="347472"/>
          </a:xfrm>
          <a:prstGeom prst="rect">
            <a:avLst/>
          </a:prstGeom>
          <a:solidFill>
            <a:srgbClr val="DA0000"/>
          </a:solidFill>
          <a:ln w="12700">
            <a:solidFill>
              <a:srgbClr val="DA0000"/>
            </a:solidFill>
            <a:prstDash val="solid"/>
          </a:ln>
        </p:spPr>
      </p:sp>
      <p:sp>
        <p:nvSpPr>
          <p:cNvPr id="12" name="Text 9"/>
          <p:cNvSpPr/>
          <p:nvPr/>
        </p:nvSpPr>
        <p:spPr>
          <a:xfrm>
            <a:off x="7406640" y="1024128"/>
            <a:ext cx="4434840" cy="310896"/>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  PRODUCT LEADERBOARD</a:t>
            </a:r>
            <a:endParaRPr lang="en-US" sz="1100" dirty="0"/>
          </a:p>
        </p:txBody>
      </p:sp>
      <p:sp>
        <p:nvSpPr>
          <p:cNvPr id="13" name="Shape 10"/>
          <p:cNvSpPr/>
          <p:nvPr/>
        </p:nvSpPr>
        <p:spPr>
          <a:xfrm>
            <a:off x="7452360" y="1389888"/>
            <a:ext cx="4343400" cy="292608"/>
          </a:xfrm>
          <a:prstGeom prst="rect">
            <a:avLst/>
          </a:prstGeom>
          <a:solidFill>
            <a:srgbClr val="F5F5F5"/>
          </a:solidFill>
          <a:ln w="12700">
            <a:solidFill>
              <a:srgbClr val="DDDDDD"/>
            </a:solidFill>
            <a:prstDash val="solid"/>
          </a:ln>
        </p:spPr>
      </p:sp>
      <p:sp>
        <p:nvSpPr>
          <p:cNvPr id="14" name="Text 11"/>
          <p:cNvSpPr/>
          <p:nvPr/>
        </p:nvSpPr>
        <p:spPr>
          <a:xfrm>
            <a:off x="7498080" y="1408176"/>
            <a:ext cx="640080" cy="256032"/>
          </a:xfrm>
          <a:prstGeom prst="rect">
            <a:avLst/>
          </a:prstGeom>
          <a:noFill/>
          <a:ln/>
        </p:spPr>
        <p:txBody>
          <a:bodyPr wrap="square" lIns="0" tIns="0" rIns="0" bIns="0" rtlCol="0" anchor="ctr"/>
          <a:lstStyle/>
          <a:p>
            <a:pPr marL="0" indent="0">
              <a:buNone/>
            </a:pPr>
            <a:r>
              <a:rPr lang="en-US" sz="900" b="1" dirty="0">
                <a:solidFill>
                  <a:srgbClr val="555555"/>
                </a:solidFill>
                <a:latin typeface="Arial" pitchFamily="34" charset="0"/>
                <a:ea typeface="Arial" pitchFamily="34" charset="-122"/>
                <a:cs typeface="Arial" pitchFamily="34" charset="-120"/>
              </a:rPr>
              <a:t>RANK</a:t>
            </a:r>
            <a:endParaRPr lang="en-US" sz="900" dirty="0"/>
          </a:p>
        </p:txBody>
      </p:sp>
      <p:sp>
        <p:nvSpPr>
          <p:cNvPr id="15" name="Text 12"/>
          <p:cNvSpPr/>
          <p:nvPr/>
        </p:nvSpPr>
        <p:spPr>
          <a:xfrm>
            <a:off x="8183880" y="1408176"/>
            <a:ext cx="2560320" cy="256032"/>
          </a:xfrm>
          <a:prstGeom prst="rect">
            <a:avLst/>
          </a:prstGeom>
          <a:noFill/>
          <a:ln/>
        </p:spPr>
        <p:txBody>
          <a:bodyPr wrap="square" lIns="0" tIns="0" rIns="0" bIns="0" rtlCol="0" anchor="ctr"/>
          <a:lstStyle/>
          <a:p>
            <a:pPr marL="0" indent="0">
              <a:buNone/>
            </a:pPr>
            <a:r>
              <a:rPr lang="en-US" sz="900" b="1" dirty="0">
                <a:solidFill>
                  <a:srgbClr val="555555"/>
                </a:solidFill>
                <a:latin typeface="Arial" pitchFamily="34" charset="0"/>
                <a:ea typeface="Arial" pitchFamily="34" charset="-122"/>
                <a:cs typeface="Arial" pitchFamily="34" charset="-120"/>
              </a:rPr>
              <a:t>ITEM</a:t>
            </a:r>
            <a:endParaRPr lang="en-US" sz="900" dirty="0"/>
          </a:p>
        </p:txBody>
      </p:sp>
      <p:sp>
        <p:nvSpPr>
          <p:cNvPr id="16" name="Text 13"/>
          <p:cNvSpPr/>
          <p:nvPr/>
        </p:nvSpPr>
        <p:spPr>
          <a:xfrm>
            <a:off x="10744200" y="1408176"/>
            <a:ext cx="822960" cy="256032"/>
          </a:xfrm>
          <a:prstGeom prst="rect">
            <a:avLst/>
          </a:prstGeom>
          <a:noFill/>
          <a:ln/>
        </p:spPr>
        <p:txBody>
          <a:bodyPr wrap="square" lIns="0" tIns="0" rIns="0" bIns="0" rtlCol="0" anchor="ctr"/>
          <a:lstStyle/>
          <a:p>
            <a:pPr marL="0" indent="0" algn="ctr">
              <a:buNone/>
            </a:pPr>
            <a:r>
              <a:rPr lang="en-US" sz="900" b="1" dirty="0">
                <a:solidFill>
                  <a:srgbClr val="555555"/>
                </a:solidFill>
                <a:latin typeface="Arial" pitchFamily="34" charset="0"/>
                <a:ea typeface="Arial" pitchFamily="34" charset="-122"/>
                <a:cs typeface="Arial" pitchFamily="34" charset="-120"/>
              </a:rPr>
              <a:t>ORDERS</a:t>
            </a:r>
            <a:endParaRPr lang="en-US" sz="900" dirty="0"/>
          </a:p>
        </p:txBody>
      </p:sp>
      <p:sp>
        <p:nvSpPr>
          <p:cNvPr id="17" name="Shape 14"/>
          <p:cNvSpPr/>
          <p:nvPr/>
        </p:nvSpPr>
        <p:spPr>
          <a:xfrm>
            <a:off x="7452360" y="1719072"/>
            <a:ext cx="4343400" cy="457200"/>
          </a:xfrm>
          <a:prstGeom prst="rect">
            <a:avLst/>
          </a:prstGeom>
          <a:solidFill>
            <a:srgbClr val="FFFAF0"/>
          </a:solidFill>
          <a:ln w="12700">
            <a:solidFill>
              <a:srgbClr val="EEEEEE"/>
            </a:solidFill>
            <a:prstDash val="solid"/>
          </a:ln>
        </p:spPr>
      </p:sp>
      <p:sp>
        <p:nvSpPr>
          <p:cNvPr id="18" name="Text 15"/>
          <p:cNvSpPr/>
          <p:nvPr/>
        </p:nvSpPr>
        <p:spPr>
          <a:xfrm>
            <a:off x="7498080" y="1792224"/>
            <a:ext cx="731520" cy="310896"/>
          </a:xfrm>
          <a:prstGeom prst="rect">
            <a:avLst/>
          </a:prstGeom>
          <a:noFill/>
          <a:ln/>
        </p:spPr>
        <p:txBody>
          <a:bodyPr wrap="square" lIns="0" tIns="0" rIns="0" bIns="0" rtlCol="0" anchor="ctr"/>
          <a:lstStyle/>
          <a:p>
            <a:pPr marL="0" indent="0">
              <a:buNone/>
            </a:pPr>
            <a:r>
              <a:rPr lang="en-US" sz="1050" b="1" dirty="0">
                <a:solidFill>
                  <a:srgbClr val="E5A800"/>
                </a:solidFill>
                <a:latin typeface="Arial" pitchFamily="34" charset="0"/>
                <a:ea typeface="Arial" pitchFamily="34" charset="-122"/>
                <a:cs typeface="Arial" pitchFamily="34" charset="-120"/>
              </a:rPr>
              <a:t>🥇 #1</a:t>
            </a:r>
            <a:endParaRPr lang="en-US" sz="1050" dirty="0"/>
          </a:p>
        </p:txBody>
      </p:sp>
      <p:sp>
        <p:nvSpPr>
          <p:cNvPr id="19" name="Text 16"/>
          <p:cNvSpPr/>
          <p:nvPr/>
        </p:nvSpPr>
        <p:spPr>
          <a:xfrm>
            <a:off x="8183880" y="1792224"/>
            <a:ext cx="2377440" cy="310896"/>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Big Mac</a:t>
            </a:r>
            <a:endParaRPr lang="en-US" sz="1000" dirty="0"/>
          </a:p>
        </p:txBody>
      </p:sp>
      <p:sp>
        <p:nvSpPr>
          <p:cNvPr id="20" name="Text 17"/>
          <p:cNvSpPr/>
          <p:nvPr/>
        </p:nvSpPr>
        <p:spPr>
          <a:xfrm>
            <a:off x="10744200" y="1792224"/>
            <a:ext cx="822960" cy="310896"/>
          </a:xfrm>
          <a:prstGeom prst="rect">
            <a:avLst/>
          </a:prstGeom>
          <a:noFill/>
          <a:ln/>
        </p:spPr>
        <p:txBody>
          <a:bodyPr wrap="square" lIns="0" tIns="0" rIns="0" bIns="0" rtlCol="0" anchor="ctr"/>
          <a:lstStyle/>
          <a:p>
            <a:pPr marL="0" indent="0" algn="ctr">
              <a:buNone/>
            </a:pPr>
            <a:r>
              <a:rPr lang="en-US" sz="1200" b="1" dirty="0">
                <a:solidFill>
                  <a:srgbClr val="DA0000"/>
                </a:solidFill>
                <a:latin typeface="Arial Black" pitchFamily="34" charset="0"/>
                <a:ea typeface="Arial Black" pitchFamily="34" charset="-122"/>
                <a:cs typeface="Arial Black" pitchFamily="34" charset="-120"/>
              </a:rPr>
              <a:t>622</a:t>
            </a:r>
            <a:endParaRPr lang="en-US" sz="1200" dirty="0"/>
          </a:p>
        </p:txBody>
      </p:sp>
      <p:sp>
        <p:nvSpPr>
          <p:cNvPr id="21" name="Shape 18"/>
          <p:cNvSpPr/>
          <p:nvPr/>
        </p:nvSpPr>
        <p:spPr>
          <a:xfrm>
            <a:off x="7452360" y="2231136"/>
            <a:ext cx="4343400" cy="457200"/>
          </a:xfrm>
          <a:prstGeom prst="rect">
            <a:avLst/>
          </a:prstGeom>
          <a:solidFill>
            <a:srgbClr val="FFFFFF"/>
          </a:solidFill>
          <a:ln w="12700">
            <a:solidFill>
              <a:srgbClr val="EEEEEE"/>
            </a:solidFill>
            <a:prstDash val="solid"/>
          </a:ln>
        </p:spPr>
      </p:sp>
      <p:sp>
        <p:nvSpPr>
          <p:cNvPr id="22" name="Text 19"/>
          <p:cNvSpPr/>
          <p:nvPr/>
        </p:nvSpPr>
        <p:spPr>
          <a:xfrm>
            <a:off x="7498080" y="2304288"/>
            <a:ext cx="731520" cy="310896"/>
          </a:xfrm>
          <a:prstGeom prst="rect">
            <a:avLst/>
          </a:prstGeom>
          <a:noFill/>
          <a:ln/>
        </p:spPr>
        <p:txBody>
          <a:bodyPr wrap="square" lIns="0" tIns="0" rIns="0" bIns="0" rtlCol="0" anchor="ctr"/>
          <a:lstStyle/>
          <a:p>
            <a:pPr marL="0" indent="0">
              <a:buNone/>
            </a:pPr>
            <a:r>
              <a:rPr lang="en-US" sz="1050" b="1" dirty="0">
                <a:solidFill>
                  <a:srgbClr val="888888"/>
                </a:solidFill>
                <a:latin typeface="Arial" pitchFamily="34" charset="0"/>
                <a:ea typeface="Arial" pitchFamily="34" charset="-122"/>
                <a:cs typeface="Arial" pitchFamily="34" charset="-120"/>
              </a:rPr>
              <a:t>🥈 #2</a:t>
            </a:r>
            <a:endParaRPr lang="en-US" sz="1050" dirty="0"/>
          </a:p>
        </p:txBody>
      </p:sp>
      <p:sp>
        <p:nvSpPr>
          <p:cNvPr id="23" name="Text 20"/>
          <p:cNvSpPr/>
          <p:nvPr/>
        </p:nvSpPr>
        <p:spPr>
          <a:xfrm>
            <a:off x="8183880" y="2304288"/>
            <a:ext cx="2377440" cy="310896"/>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Side Salad</a:t>
            </a:r>
            <a:endParaRPr lang="en-US" sz="1000" dirty="0"/>
          </a:p>
        </p:txBody>
      </p:sp>
      <p:sp>
        <p:nvSpPr>
          <p:cNvPr id="24" name="Text 21"/>
          <p:cNvSpPr/>
          <p:nvPr/>
        </p:nvSpPr>
        <p:spPr>
          <a:xfrm>
            <a:off x="10744200" y="2304288"/>
            <a:ext cx="822960" cy="310896"/>
          </a:xfrm>
          <a:prstGeom prst="rect">
            <a:avLst/>
          </a:prstGeom>
          <a:noFill/>
          <a:ln/>
        </p:spPr>
        <p:txBody>
          <a:bodyPr wrap="square" lIns="0" tIns="0" rIns="0" bIns="0" rtlCol="0" anchor="ctr"/>
          <a:lstStyle/>
          <a:p>
            <a:pPr marL="0" indent="0" algn="ctr">
              <a:buNone/>
            </a:pPr>
            <a:r>
              <a:rPr lang="en-US" sz="1200" b="1" dirty="0">
                <a:solidFill>
                  <a:srgbClr val="DA0000"/>
                </a:solidFill>
                <a:latin typeface="Arial Black" pitchFamily="34" charset="0"/>
                <a:ea typeface="Arial Black" pitchFamily="34" charset="-122"/>
                <a:cs typeface="Arial Black" pitchFamily="34" charset="-120"/>
              </a:rPr>
              <a:t>620</a:t>
            </a:r>
            <a:endParaRPr lang="en-US" sz="1200" dirty="0"/>
          </a:p>
        </p:txBody>
      </p:sp>
      <p:sp>
        <p:nvSpPr>
          <p:cNvPr id="25" name="Shape 22"/>
          <p:cNvSpPr/>
          <p:nvPr/>
        </p:nvSpPr>
        <p:spPr>
          <a:xfrm>
            <a:off x="7452360" y="2743200"/>
            <a:ext cx="4343400" cy="457200"/>
          </a:xfrm>
          <a:prstGeom prst="rect">
            <a:avLst/>
          </a:prstGeom>
          <a:solidFill>
            <a:srgbClr val="FFFAF0"/>
          </a:solidFill>
          <a:ln w="12700">
            <a:solidFill>
              <a:srgbClr val="EEEEEE"/>
            </a:solidFill>
            <a:prstDash val="solid"/>
          </a:ln>
        </p:spPr>
      </p:sp>
      <p:sp>
        <p:nvSpPr>
          <p:cNvPr id="26" name="Text 23"/>
          <p:cNvSpPr/>
          <p:nvPr/>
        </p:nvSpPr>
        <p:spPr>
          <a:xfrm>
            <a:off x="7498080" y="2816352"/>
            <a:ext cx="731520" cy="310896"/>
          </a:xfrm>
          <a:prstGeom prst="rect">
            <a:avLst/>
          </a:prstGeom>
          <a:noFill/>
          <a:ln/>
        </p:spPr>
        <p:txBody>
          <a:bodyPr wrap="square" lIns="0" tIns="0" rIns="0" bIns="0" rtlCol="0" anchor="ctr"/>
          <a:lstStyle/>
          <a:p>
            <a:pPr marL="0" indent="0">
              <a:buNone/>
            </a:pPr>
            <a:r>
              <a:rPr lang="en-US" sz="1050" b="1" dirty="0">
                <a:solidFill>
                  <a:srgbClr val="CD7F32"/>
                </a:solidFill>
                <a:latin typeface="Arial" pitchFamily="34" charset="0"/>
                <a:ea typeface="Arial" pitchFamily="34" charset="-122"/>
                <a:cs typeface="Arial" pitchFamily="34" charset="-120"/>
              </a:rPr>
              <a:t>🥉 #3</a:t>
            </a:r>
            <a:endParaRPr lang="en-US" sz="1050" dirty="0"/>
          </a:p>
        </p:txBody>
      </p:sp>
      <p:sp>
        <p:nvSpPr>
          <p:cNvPr id="27" name="Text 24"/>
          <p:cNvSpPr/>
          <p:nvPr/>
        </p:nvSpPr>
        <p:spPr>
          <a:xfrm>
            <a:off x="8183880" y="2816352"/>
            <a:ext cx="2377440" cy="310896"/>
          </a:xfrm>
          <a:prstGeom prst="rect">
            <a:avLst/>
          </a:prstGeom>
          <a:noFill/>
          <a:ln/>
        </p:spPr>
        <p:txBody>
          <a:bodyPr wrap="square" lIns="0" tIns="0" rIns="0" bIns="0" rtlCol="0" anchor="ctr"/>
          <a:lstStyle/>
          <a:p>
            <a:pPr marL="0" indent="0">
              <a:buNone/>
            </a:pPr>
            <a:r>
              <a:rPr lang="en-US" sz="1000" b="1" dirty="0">
                <a:solidFill>
                  <a:srgbClr val="1A1A1A"/>
                </a:solidFill>
                <a:latin typeface="Calibri" pitchFamily="34" charset="0"/>
                <a:ea typeface="Calibri" pitchFamily="34" charset="-122"/>
                <a:cs typeface="Calibri" pitchFamily="34" charset="-120"/>
              </a:rPr>
              <a:t>Bulgogi Burger</a:t>
            </a:r>
            <a:endParaRPr lang="en-US" sz="1000" dirty="0"/>
          </a:p>
        </p:txBody>
      </p:sp>
      <p:sp>
        <p:nvSpPr>
          <p:cNvPr id="28" name="Text 25"/>
          <p:cNvSpPr/>
          <p:nvPr/>
        </p:nvSpPr>
        <p:spPr>
          <a:xfrm>
            <a:off x="10744200" y="2816352"/>
            <a:ext cx="822960" cy="310896"/>
          </a:xfrm>
          <a:prstGeom prst="rect">
            <a:avLst/>
          </a:prstGeom>
          <a:noFill/>
          <a:ln/>
        </p:spPr>
        <p:txBody>
          <a:bodyPr wrap="square" lIns="0" tIns="0" rIns="0" bIns="0" rtlCol="0" anchor="ctr"/>
          <a:lstStyle/>
          <a:p>
            <a:pPr marL="0" indent="0" algn="ctr">
              <a:buNone/>
            </a:pPr>
            <a:r>
              <a:rPr lang="en-US" sz="1200" b="1" dirty="0">
                <a:solidFill>
                  <a:srgbClr val="DA0000"/>
                </a:solidFill>
                <a:latin typeface="Arial Black" pitchFamily="34" charset="0"/>
                <a:ea typeface="Arial Black" pitchFamily="34" charset="-122"/>
                <a:cs typeface="Arial Black" pitchFamily="34" charset="-120"/>
              </a:rPr>
              <a:t>588</a:t>
            </a:r>
            <a:endParaRPr lang="en-US" sz="1200" dirty="0"/>
          </a:p>
        </p:txBody>
      </p:sp>
      <p:sp>
        <p:nvSpPr>
          <p:cNvPr id="29" name="Shape 26"/>
          <p:cNvSpPr/>
          <p:nvPr/>
        </p:nvSpPr>
        <p:spPr>
          <a:xfrm>
            <a:off x="7452360" y="3255264"/>
            <a:ext cx="4343400" cy="457200"/>
          </a:xfrm>
          <a:prstGeom prst="rect">
            <a:avLst/>
          </a:prstGeom>
          <a:solidFill>
            <a:srgbClr val="FFFFFF"/>
          </a:solidFill>
          <a:ln w="12700">
            <a:solidFill>
              <a:srgbClr val="EEEEEE"/>
            </a:solidFill>
            <a:prstDash val="solid"/>
          </a:ln>
        </p:spPr>
      </p:sp>
      <p:sp>
        <p:nvSpPr>
          <p:cNvPr id="30" name="Text 27"/>
          <p:cNvSpPr/>
          <p:nvPr/>
        </p:nvSpPr>
        <p:spPr>
          <a:xfrm>
            <a:off x="7498080" y="3328416"/>
            <a:ext cx="731520" cy="310896"/>
          </a:xfrm>
          <a:prstGeom prst="rect">
            <a:avLst/>
          </a:prstGeom>
          <a:noFill/>
          <a:ln/>
        </p:spPr>
        <p:txBody>
          <a:bodyPr wrap="square" lIns="0" tIns="0" rIns="0" bIns="0" rtlCol="0" anchor="ctr"/>
          <a:lstStyle/>
          <a:p>
            <a:pPr marL="0" indent="0">
              <a:buNone/>
            </a:pPr>
            <a:r>
              <a:rPr lang="en-US" sz="1050" dirty="0">
                <a:solidFill>
                  <a:srgbClr val="4A4A4A"/>
                </a:solidFill>
                <a:latin typeface="Arial" pitchFamily="34" charset="0"/>
                <a:ea typeface="Arial" pitchFamily="34" charset="-122"/>
                <a:cs typeface="Arial" pitchFamily="34" charset="-120"/>
              </a:rPr>
              <a:t>  #4</a:t>
            </a:r>
            <a:endParaRPr lang="en-US" sz="1050" dirty="0"/>
          </a:p>
        </p:txBody>
      </p:sp>
      <p:sp>
        <p:nvSpPr>
          <p:cNvPr id="31" name="Text 28"/>
          <p:cNvSpPr/>
          <p:nvPr/>
        </p:nvSpPr>
        <p:spPr>
          <a:xfrm>
            <a:off x="8183880" y="3328416"/>
            <a:ext cx="2377440" cy="31089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Quarter Pounder w/ Cheese</a:t>
            </a:r>
            <a:endParaRPr lang="en-US" sz="1000" dirty="0"/>
          </a:p>
        </p:txBody>
      </p:sp>
      <p:sp>
        <p:nvSpPr>
          <p:cNvPr id="32" name="Text 29"/>
          <p:cNvSpPr/>
          <p:nvPr/>
        </p:nvSpPr>
        <p:spPr>
          <a:xfrm>
            <a:off x="10744200" y="3328416"/>
            <a:ext cx="822960" cy="310896"/>
          </a:xfrm>
          <a:prstGeom prst="rect">
            <a:avLst/>
          </a:prstGeom>
          <a:noFill/>
          <a:ln/>
        </p:spPr>
        <p:txBody>
          <a:bodyPr wrap="square" lIns="0" tIns="0" rIns="0" bIns="0" rtlCol="0" anchor="ctr"/>
          <a:lstStyle/>
          <a:p>
            <a:pPr marL="0" indent="0" algn="ctr">
              <a:buNone/>
            </a:pPr>
            <a:r>
              <a:rPr lang="en-US" sz="1200" b="1" dirty="0">
                <a:solidFill>
                  <a:srgbClr val="DA0000"/>
                </a:solidFill>
                <a:latin typeface="Arial Black" pitchFamily="34" charset="0"/>
                <a:ea typeface="Arial Black" pitchFamily="34" charset="-122"/>
                <a:cs typeface="Arial Black" pitchFamily="34" charset="-120"/>
              </a:rPr>
              <a:t>583</a:t>
            </a:r>
            <a:endParaRPr lang="en-US" sz="1200" dirty="0"/>
          </a:p>
        </p:txBody>
      </p:sp>
      <p:sp>
        <p:nvSpPr>
          <p:cNvPr id="33" name="Shape 30"/>
          <p:cNvSpPr/>
          <p:nvPr/>
        </p:nvSpPr>
        <p:spPr>
          <a:xfrm>
            <a:off x="7452360" y="3767328"/>
            <a:ext cx="4343400" cy="457200"/>
          </a:xfrm>
          <a:prstGeom prst="rect">
            <a:avLst/>
          </a:prstGeom>
          <a:solidFill>
            <a:srgbClr val="FFFAF0"/>
          </a:solidFill>
          <a:ln w="12700">
            <a:solidFill>
              <a:srgbClr val="EEEEEE"/>
            </a:solidFill>
            <a:prstDash val="solid"/>
          </a:ln>
        </p:spPr>
      </p:sp>
      <p:sp>
        <p:nvSpPr>
          <p:cNvPr id="34" name="Text 31"/>
          <p:cNvSpPr/>
          <p:nvPr/>
        </p:nvSpPr>
        <p:spPr>
          <a:xfrm>
            <a:off x="7498080" y="3840480"/>
            <a:ext cx="731520" cy="310896"/>
          </a:xfrm>
          <a:prstGeom prst="rect">
            <a:avLst/>
          </a:prstGeom>
          <a:noFill/>
          <a:ln/>
        </p:spPr>
        <p:txBody>
          <a:bodyPr wrap="square" lIns="0" tIns="0" rIns="0" bIns="0" rtlCol="0" anchor="ctr"/>
          <a:lstStyle/>
          <a:p>
            <a:pPr marL="0" indent="0">
              <a:buNone/>
            </a:pPr>
            <a:r>
              <a:rPr lang="en-US" sz="1050" dirty="0">
                <a:solidFill>
                  <a:srgbClr val="4A4A4A"/>
                </a:solidFill>
                <a:latin typeface="Arial" pitchFamily="34" charset="0"/>
                <a:ea typeface="Arial" pitchFamily="34" charset="-122"/>
                <a:cs typeface="Arial" pitchFamily="34" charset="-120"/>
              </a:rPr>
              <a:t>  #5</a:t>
            </a:r>
            <a:endParaRPr lang="en-US" sz="1050" dirty="0"/>
          </a:p>
        </p:txBody>
      </p:sp>
      <p:sp>
        <p:nvSpPr>
          <p:cNvPr id="35" name="Text 32"/>
          <p:cNvSpPr/>
          <p:nvPr/>
        </p:nvSpPr>
        <p:spPr>
          <a:xfrm>
            <a:off x="8183880" y="3840480"/>
            <a:ext cx="2377440" cy="310896"/>
          </a:xfrm>
          <a:prstGeom prst="rect">
            <a:avLst/>
          </a:prstGeom>
          <a:noFill/>
          <a:ln/>
        </p:spPr>
        <p:txBody>
          <a:bodyPr wrap="square" lIns="0" tIns="0" rIns="0" bIns="0" rtlCol="0" anchor="ctr"/>
          <a:lstStyle/>
          <a:p>
            <a:pPr marL="0" indent="0">
              <a:buNone/>
            </a:pPr>
            <a:r>
              <a:rPr lang="en-US" sz="1000" dirty="0">
                <a:solidFill>
                  <a:srgbClr val="1A1A1A"/>
                </a:solidFill>
                <a:latin typeface="Calibri" pitchFamily="34" charset="0"/>
                <a:ea typeface="Calibri" pitchFamily="34" charset="-122"/>
                <a:cs typeface="Calibri" pitchFamily="34" charset="-120"/>
              </a:rPr>
              <a:t>French Fries (Large)</a:t>
            </a:r>
            <a:endParaRPr lang="en-US" sz="1000" dirty="0"/>
          </a:p>
        </p:txBody>
      </p:sp>
      <p:sp>
        <p:nvSpPr>
          <p:cNvPr id="36" name="Text 33"/>
          <p:cNvSpPr/>
          <p:nvPr/>
        </p:nvSpPr>
        <p:spPr>
          <a:xfrm>
            <a:off x="10744200" y="3840480"/>
            <a:ext cx="822960" cy="310896"/>
          </a:xfrm>
          <a:prstGeom prst="rect">
            <a:avLst/>
          </a:prstGeom>
          <a:noFill/>
          <a:ln/>
        </p:spPr>
        <p:txBody>
          <a:bodyPr wrap="square" lIns="0" tIns="0" rIns="0" bIns="0" rtlCol="0" anchor="ctr"/>
          <a:lstStyle/>
          <a:p>
            <a:pPr marL="0" indent="0" algn="ctr">
              <a:buNone/>
            </a:pPr>
            <a:r>
              <a:rPr lang="en-US" sz="1200" b="1" dirty="0">
                <a:solidFill>
                  <a:srgbClr val="DA0000"/>
                </a:solidFill>
                <a:latin typeface="Arial Black" pitchFamily="34" charset="0"/>
                <a:ea typeface="Arial Black" pitchFamily="34" charset="-122"/>
                <a:cs typeface="Arial Black" pitchFamily="34" charset="-120"/>
              </a:rPr>
              <a:t>571</a:t>
            </a:r>
            <a:endParaRPr lang="en-US" sz="1200" dirty="0"/>
          </a:p>
        </p:txBody>
      </p:sp>
      <p:sp>
        <p:nvSpPr>
          <p:cNvPr id="37" name="Shape 34"/>
          <p:cNvSpPr/>
          <p:nvPr/>
        </p:nvSpPr>
        <p:spPr>
          <a:xfrm>
            <a:off x="320040" y="4617720"/>
            <a:ext cx="11521440" cy="14630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8" name="Shape 35"/>
          <p:cNvSpPr/>
          <p:nvPr/>
        </p:nvSpPr>
        <p:spPr>
          <a:xfrm>
            <a:off x="320040" y="4617720"/>
            <a:ext cx="11521440" cy="310896"/>
          </a:xfrm>
          <a:prstGeom prst="rect">
            <a:avLst/>
          </a:prstGeom>
          <a:solidFill>
            <a:srgbClr val="DA0000"/>
          </a:solidFill>
          <a:ln w="12700">
            <a:solidFill>
              <a:srgbClr val="DA0000"/>
            </a:solidFill>
            <a:prstDash val="solid"/>
          </a:ln>
        </p:spPr>
      </p:sp>
      <p:sp>
        <p:nvSpPr>
          <p:cNvPr id="39" name="Text 36"/>
          <p:cNvSpPr/>
          <p:nvPr/>
        </p:nvSpPr>
        <p:spPr>
          <a:xfrm>
            <a:off x="320040" y="4636008"/>
            <a:ext cx="11521440" cy="274320"/>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  CATEGORY REVENUE vs PRODUCT CONCENTRATION</a:t>
            </a:r>
            <a:endParaRPr lang="en-US" sz="1100" dirty="0"/>
          </a:p>
        </p:txBody>
      </p:sp>
      <p:sp>
        <p:nvSpPr>
          <p:cNvPr id="40" name="Text 37"/>
          <p:cNvSpPr/>
          <p:nvPr/>
        </p:nvSpPr>
        <p:spPr>
          <a:xfrm>
            <a:off x="457200" y="5010912"/>
            <a:ext cx="2103120" cy="256032"/>
          </a:xfrm>
          <a:prstGeom prst="rect">
            <a:avLst/>
          </a:prstGeom>
          <a:noFill/>
          <a:ln/>
        </p:spPr>
        <p:txBody>
          <a:bodyPr wrap="square" lIns="0" tIns="0" rIns="0" bIns="0" rtlCol="0" anchor="ctr"/>
          <a:lstStyle/>
          <a:p>
            <a:pPr marL="0" indent="0" algn="ctr">
              <a:buNone/>
            </a:pPr>
            <a:r>
              <a:rPr lang="en-US" sz="1100" b="1" dirty="0">
                <a:solidFill>
                  <a:srgbClr val="DA0000"/>
                </a:solidFill>
                <a:latin typeface="Arial" pitchFamily="34" charset="0"/>
                <a:ea typeface="Arial" pitchFamily="34" charset="-122"/>
                <a:cs typeface="Arial" pitchFamily="34" charset="-120"/>
              </a:rPr>
              <a:t>Burger</a:t>
            </a:r>
            <a:endParaRPr lang="en-US" sz="1100" dirty="0"/>
          </a:p>
        </p:txBody>
      </p:sp>
      <p:sp>
        <p:nvSpPr>
          <p:cNvPr id="41" name="Text 38"/>
          <p:cNvSpPr/>
          <p:nvPr/>
        </p:nvSpPr>
        <p:spPr>
          <a:xfrm>
            <a:off x="457200" y="5257800"/>
            <a:ext cx="2103120" cy="292608"/>
          </a:xfrm>
          <a:prstGeom prst="rect">
            <a:avLst/>
          </a:prstGeom>
          <a:noFill/>
          <a:ln/>
        </p:spPr>
        <p:txBody>
          <a:bodyPr wrap="square" lIns="0" tIns="0" rIns="0" bIns="0" rtlCol="0" anchor="ctr"/>
          <a:lstStyle/>
          <a:p>
            <a:pPr marL="0" indent="0" algn="ctr">
              <a:buNone/>
            </a:pPr>
            <a:r>
              <a:rPr lang="en-US" sz="1300" b="1" dirty="0">
                <a:solidFill>
                  <a:srgbClr val="1A1A1A"/>
                </a:solidFill>
                <a:latin typeface="Arial Black" pitchFamily="34" charset="0"/>
                <a:ea typeface="Arial Black" pitchFamily="34" charset="-122"/>
                <a:cs typeface="Arial Black" pitchFamily="34" charset="-120"/>
              </a:rPr>
              <a:t>₹21.46K</a:t>
            </a:r>
            <a:endParaRPr lang="en-US" sz="1300" dirty="0"/>
          </a:p>
        </p:txBody>
      </p:sp>
      <p:sp>
        <p:nvSpPr>
          <p:cNvPr id="42" name="Text 39"/>
          <p:cNvSpPr/>
          <p:nvPr/>
        </p:nvSpPr>
        <p:spPr>
          <a:xfrm>
            <a:off x="457200" y="5550408"/>
            <a:ext cx="2103120" cy="201168"/>
          </a:xfrm>
          <a:prstGeom prst="rect">
            <a:avLst/>
          </a:prstGeom>
          <a:noFill/>
          <a:ln/>
        </p:spPr>
        <p:txBody>
          <a:bodyPr wrap="square" lIns="0" tIns="0" rIns="0" bIns="0" rtlCol="0" anchor="ctr"/>
          <a:lstStyle/>
          <a:p>
            <a:pPr marL="0" indent="0" algn="ctr">
              <a:buNone/>
            </a:pPr>
            <a:r>
              <a:rPr lang="en-US" sz="900" dirty="0">
                <a:solidFill>
                  <a:srgbClr val="4A4A4A"/>
                </a:solidFill>
                <a:latin typeface="Calibri" pitchFamily="34" charset="0"/>
                <a:ea typeface="Calibri" pitchFamily="34" charset="-122"/>
                <a:cs typeface="Calibri" pitchFamily="34" charset="-120"/>
              </a:rPr>
              <a:t>35.2% share</a:t>
            </a:r>
            <a:endParaRPr lang="en-US" sz="900" dirty="0"/>
          </a:p>
        </p:txBody>
      </p:sp>
      <p:sp>
        <p:nvSpPr>
          <p:cNvPr id="43" name="Text 40"/>
          <p:cNvSpPr/>
          <p:nvPr/>
        </p:nvSpPr>
        <p:spPr>
          <a:xfrm>
            <a:off x="457200" y="5742432"/>
            <a:ext cx="2103120" cy="228600"/>
          </a:xfrm>
          <a:prstGeom prst="rect">
            <a:avLst/>
          </a:prstGeom>
          <a:noFill/>
          <a:ln/>
        </p:spPr>
        <p:txBody>
          <a:bodyPr wrap="square" lIns="0" tIns="0" rIns="0" bIns="0" rtlCol="0" anchor="ctr"/>
          <a:lstStyle/>
          <a:p>
            <a:pPr marL="0" indent="0" algn="ctr">
              <a:buNone/>
            </a:pPr>
            <a:r>
              <a:rPr lang="en-US" sz="1100" dirty="0">
                <a:solidFill>
                  <a:srgbClr val="FFC72C"/>
                </a:solidFill>
                <a:latin typeface="Arial" pitchFamily="34" charset="0"/>
                <a:ea typeface="Arial" pitchFamily="34" charset="-122"/>
                <a:cs typeface="Arial" pitchFamily="34" charset="-120"/>
              </a:rPr>
              <a:t>★★★★★</a:t>
            </a:r>
            <a:endParaRPr lang="en-US" sz="1100" dirty="0"/>
          </a:p>
        </p:txBody>
      </p:sp>
      <p:sp>
        <p:nvSpPr>
          <p:cNvPr id="44" name="Shape 41"/>
          <p:cNvSpPr/>
          <p:nvPr/>
        </p:nvSpPr>
        <p:spPr>
          <a:xfrm>
            <a:off x="2633472" y="4983480"/>
            <a:ext cx="36576" cy="1051560"/>
          </a:xfrm>
          <a:prstGeom prst="rect">
            <a:avLst/>
          </a:prstGeom>
          <a:solidFill>
            <a:srgbClr val="DDDDDD"/>
          </a:solidFill>
          <a:ln w="12700">
            <a:solidFill>
              <a:srgbClr val="DDDDDD"/>
            </a:solidFill>
            <a:prstDash val="solid"/>
          </a:ln>
        </p:spPr>
      </p:sp>
      <p:sp>
        <p:nvSpPr>
          <p:cNvPr id="45" name="Text 42"/>
          <p:cNvSpPr/>
          <p:nvPr/>
        </p:nvSpPr>
        <p:spPr>
          <a:xfrm>
            <a:off x="2761488" y="5010912"/>
            <a:ext cx="2103120" cy="256032"/>
          </a:xfrm>
          <a:prstGeom prst="rect">
            <a:avLst/>
          </a:prstGeom>
          <a:noFill/>
          <a:ln/>
        </p:spPr>
        <p:txBody>
          <a:bodyPr wrap="square" lIns="0" tIns="0" rIns="0" bIns="0" rtlCol="0" anchor="ctr"/>
          <a:lstStyle/>
          <a:p>
            <a:pPr marL="0" indent="0" algn="ctr">
              <a:buNone/>
            </a:pPr>
            <a:r>
              <a:rPr lang="en-US" sz="1100" b="1" dirty="0">
                <a:solidFill>
                  <a:srgbClr val="DA0000"/>
                </a:solidFill>
                <a:latin typeface="Arial" pitchFamily="34" charset="0"/>
                <a:ea typeface="Arial" pitchFamily="34" charset="-122"/>
                <a:cs typeface="Arial" pitchFamily="34" charset="-120"/>
              </a:rPr>
              <a:t>Chicken</a:t>
            </a:r>
            <a:endParaRPr lang="en-US" sz="1100" dirty="0"/>
          </a:p>
        </p:txBody>
      </p:sp>
      <p:sp>
        <p:nvSpPr>
          <p:cNvPr id="46" name="Text 43"/>
          <p:cNvSpPr/>
          <p:nvPr/>
        </p:nvSpPr>
        <p:spPr>
          <a:xfrm>
            <a:off x="2761488" y="5257800"/>
            <a:ext cx="2103120" cy="292608"/>
          </a:xfrm>
          <a:prstGeom prst="rect">
            <a:avLst/>
          </a:prstGeom>
          <a:noFill/>
          <a:ln/>
        </p:spPr>
        <p:txBody>
          <a:bodyPr wrap="square" lIns="0" tIns="0" rIns="0" bIns="0" rtlCol="0" anchor="ctr"/>
          <a:lstStyle/>
          <a:p>
            <a:pPr marL="0" indent="0" algn="ctr">
              <a:buNone/>
            </a:pPr>
            <a:r>
              <a:rPr lang="en-US" sz="1300" b="1" dirty="0">
                <a:solidFill>
                  <a:srgbClr val="1A1A1A"/>
                </a:solidFill>
                <a:latin typeface="Arial Black" pitchFamily="34" charset="0"/>
                <a:ea typeface="Arial Black" pitchFamily="34" charset="-122"/>
                <a:cs typeface="Arial Black" pitchFamily="34" charset="-120"/>
              </a:rPr>
              <a:t>₹12.28K</a:t>
            </a:r>
            <a:endParaRPr lang="en-US" sz="1300" dirty="0"/>
          </a:p>
        </p:txBody>
      </p:sp>
      <p:sp>
        <p:nvSpPr>
          <p:cNvPr id="47" name="Text 44"/>
          <p:cNvSpPr/>
          <p:nvPr/>
        </p:nvSpPr>
        <p:spPr>
          <a:xfrm>
            <a:off x="2761488" y="5550408"/>
            <a:ext cx="2103120" cy="201168"/>
          </a:xfrm>
          <a:prstGeom prst="rect">
            <a:avLst/>
          </a:prstGeom>
          <a:noFill/>
          <a:ln/>
        </p:spPr>
        <p:txBody>
          <a:bodyPr wrap="square" lIns="0" tIns="0" rIns="0" bIns="0" rtlCol="0" anchor="ctr"/>
          <a:lstStyle/>
          <a:p>
            <a:pPr marL="0" indent="0" algn="ctr">
              <a:buNone/>
            </a:pPr>
            <a:r>
              <a:rPr lang="en-US" sz="900" dirty="0">
                <a:solidFill>
                  <a:srgbClr val="4A4A4A"/>
                </a:solidFill>
                <a:latin typeface="Calibri" pitchFamily="34" charset="0"/>
                <a:ea typeface="Calibri" pitchFamily="34" charset="-122"/>
                <a:cs typeface="Calibri" pitchFamily="34" charset="-120"/>
              </a:rPr>
              <a:t>20.1% share</a:t>
            </a:r>
            <a:endParaRPr lang="en-US" sz="900" dirty="0"/>
          </a:p>
        </p:txBody>
      </p:sp>
      <p:sp>
        <p:nvSpPr>
          <p:cNvPr id="48" name="Text 45"/>
          <p:cNvSpPr/>
          <p:nvPr/>
        </p:nvSpPr>
        <p:spPr>
          <a:xfrm>
            <a:off x="2761488" y="5742432"/>
            <a:ext cx="2103120" cy="228600"/>
          </a:xfrm>
          <a:prstGeom prst="rect">
            <a:avLst/>
          </a:prstGeom>
          <a:noFill/>
          <a:ln/>
        </p:spPr>
        <p:txBody>
          <a:bodyPr wrap="square" lIns="0" tIns="0" rIns="0" bIns="0" rtlCol="0" anchor="ctr"/>
          <a:lstStyle/>
          <a:p>
            <a:pPr marL="0" indent="0" algn="ctr">
              <a:buNone/>
            </a:pPr>
            <a:r>
              <a:rPr lang="en-US" sz="1100" dirty="0">
                <a:solidFill>
                  <a:srgbClr val="FFC72C"/>
                </a:solidFill>
                <a:latin typeface="Arial" pitchFamily="34" charset="0"/>
                <a:ea typeface="Arial" pitchFamily="34" charset="-122"/>
                <a:cs typeface="Arial" pitchFamily="34" charset="-120"/>
              </a:rPr>
              <a:t>★★★★☆</a:t>
            </a:r>
            <a:endParaRPr lang="en-US" sz="1100" dirty="0"/>
          </a:p>
        </p:txBody>
      </p:sp>
      <p:sp>
        <p:nvSpPr>
          <p:cNvPr id="49" name="Shape 46"/>
          <p:cNvSpPr/>
          <p:nvPr/>
        </p:nvSpPr>
        <p:spPr>
          <a:xfrm>
            <a:off x="4937760" y="4983480"/>
            <a:ext cx="36576" cy="1051560"/>
          </a:xfrm>
          <a:prstGeom prst="rect">
            <a:avLst/>
          </a:prstGeom>
          <a:solidFill>
            <a:srgbClr val="DDDDDD"/>
          </a:solidFill>
          <a:ln w="12700">
            <a:solidFill>
              <a:srgbClr val="DDDDDD"/>
            </a:solidFill>
            <a:prstDash val="solid"/>
          </a:ln>
        </p:spPr>
      </p:sp>
      <p:sp>
        <p:nvSpPr>
          <p:cNvPr id="50" name="Text 47"/>
          <p:cNvSpPr/>
          <p:nvPr/>
        </p:nvSpPr>
        <p:spPr>
          <a:xfrm>
            <a:off x="5065776" y="5010912"/>
            <a:ext cx="2103120" cy="256032"/>
          </a:xfrm>
          <a:prstGeom prst="rect">
            <a:avLst/>
          </a:prstGeom>
          <a:noFill/>
          <a:ln/>
        </p:spPr>
        <p:txBody>
          <a:bodyPr wrap="square" lIns="0" tIns="0" rIns="0" bIns="0" rtlCol="0" anchor="ctr"/>
          <a:lstStyle/>
          <a:p>
            <a:pPr marL="0" indent="0" algn="ctr">
              <a:buNone/>
            </a:pPr>
            <a:r>
              <a:rPr lang="en-US" sz="1100" b="1" dirty="0">
                <a:solidFill>
                  <a:srgbClr val="DA0000"/>
                </a:solidFill>
                <a:latin typeface="Arial" pitchFamily="34" charset="0"/>
                <a:ea typeface="Arial" pitchFamily="34" charset="-122"/>
                <a:cs typeface="Arial" pitchFamily="34" charset="-120"/>
              </a:rPr>
              <a:t>Pasta</a:t>
            </a:r>
            <a:endParaRPr lang="en-US" sz="1100" dirty="0"/>
          </a:p>
        </p:txBody>
      </p:sp>
      <p:sp>
        <p:nvSpPr>
          <p:cNvPr id="51" name="Text 48"/>
          <p:cNvSpPr/>
          <p:nvPr/>
        </p:nvSpPr>
        <p:spPr>
          <a:xfrm>
            <a:off x="5065776" y="5257800"/>
            <a:ext cx="2103120" cy="292608"/>
          </a:xfrm>
          <a:prstGeom prst="rect">
            <a:avLst/>
          </a:prstGeom>
          <a:noFill/>
          <a:ln/>
        </p:spPr>
        <p:txBody>
          <a:bodyPr wrap="square" lIns="0" tIns="0" rIns="0" bIns="0" rtlCol="0" anchor="ctr"/>
          <a:lstStyle/>
          <a:p>
            <a:pPr marL="0" indent="0" algn="ctr">
              <a:buNone/>
            </a:pPr>
            <a:r>
              <a:rPr lang="en-US" sz="1300" b="1" dirty="0">
                <a:solidFill>
                  <a:srgbClr val="1A1A1A"/>
                </a:solidFill>
                <a:latin typeface="Arial Black" pitchFamily="34" charset="0"/>
                <a:ea typeface="Arial Black" pitchFamily="34" charset="-122"/>
                <a:cs typeface="Arial Black" pitchFamily="34" charset="-120"/>
              </a:rPr>
              <a:t>₹9.15K</a:t>
            </a:r>
            <a:endParaRPr lang="en-US" sz="1300" dirty="0"/>
          </a:p>
        </p:txBody>
      </p:sp>
      <p:sp>
        <p:nvSpPr>
          <p:cNvPr id="52" name="Text 49"/>
          <p:cNvSpPr/>
          <p:nvPr/>
        </p:nvSpPr>
        <p:spPr>
          <a:xfrm>
            <a:off x="5065776" y="5550408"/>
            <a:ext cx="2103120" cy="201168"/>
          </a:xfrm>
          <a:prstGeom prst="rect">
            <a:avLst/>
          </a:prstGeom>
          <a:noFill/>
          <a:ln/>
        </p:spPr>
        <p:txBody>
          <a:bodyPr wrap="square" lIns="0" tIns="0" rIns="0" bIns="0" rtlCol="0" anchor="ctr"/>
          <a:lstStyle/>
          <a:p>
            <a:pPr marL="0" indent="0" algn="ctr">
              <a:buNone/>
            </a:pPr>
            <a:r>
              <a:rPr lang="en-US" sz="900" dirty="0">
                <a:solidFill>
                  <a:srgbClr val="4A4A4A"/>
                </a:solidFill>
                <a:latin typeface="Calibri" pitchFamily="34" charset="0"/>
                <a:ea typeface="Calibri" pitchFamily="34" charset="-122"/>
                <a:cs typeface="Calibri" pitchFamily="34" charset="-120"/>
              </a:rPr>
              <a:t>15.0% share</a:t>
            </a:r>
            <a:endParaRPr lang="en-US" sz="900" dirty="0"/>
          </a:p>
        </p:txBody>
      </p:sp>
      <p:sp>
        <p:nvSpPr>
          <p:cNvPr id="53" name="Text 50"/>
          <p:cNvSpPr/>
          <p:nvPr/>
        </p:nvSpPr>
        <p:spPr>
          <a:xfrm>
            <a:off x="5065776" y="5742432"/>
            <a:ext cx="2103120" cy="228600"/>
          </a:xfrm>
          <a:prstGeom prst="rect">
            <a:avLst/>
          </a:prstGeom>
          <a:noFill/>
          <a:ln/>
        </p:spPr>
        <p:txBody>
          <a:bodyPr wrap="square" lIns="0" tIns="0" rIns="0" bIns="0" rtlCol="0" anchor="ctr"/>
          <a:lstStyle/>
          <a:p>
            <a:pPr marL="0" indent="0" algn="ctr">
              <a:buNone/>
            </a:pPr>
            <a:r>
              <a:rPr lang="en-US" sz="1100" dirty="0">
                <a:solidFill>
                  <a:srgbClr val="FFC72C"/>
                </a:solidFill>
                <a:latin typeface="Arial" pitchFamily="34" charset="0"/>
                <a:ea typeface="Arial" pitchFamily="34" charset="-122"/>
                <a:cs typeface="Arial" pitchFamily="34" charset="-120"/>
              </a:rPr>
              <a:t>★★★☆☆</a:t>
            </a:r>
            <a:endParaRPr lang="en-US" sz="1100" dirty="0"/>
          </a:p>
        </p:txBody>
      </p:sp>
      <p:sp>
        <p:nvSpPr>
          <p:cNvPr id="54" name="Shape 51"/>
          <p:cNvSpPr/>
          <p:nvPr/>
        </p:nvSpPr>
        <p:spPr>
          <a:xfrm>
            <a:off x="7242048" y="4983480"/>
            <a:ext cx="36576" cy="1051560"/>
          </a:xfrm>
          <a:prstGeom prst="rect">
            <a:avLst/>
          </a:prstGeom>
          <a:solidFill>
            <a:srgbClr val="DDDDDD"/>
          </a:solidFill>
          <a:ln w="12700">
            <a:solidFill>
              <a:srgbClr val="DDDDDD"/>
            </a:solidFill>
            <a:prstDash val="solid"/>
          </a:ln>
        </p:spPr>
      </p:sp>
      <p:sp>
        <p:nvSpPr>
          <p:cNvPr id="55" name="Text 52"/>
          <p:cNvSpPr/>
          <p:nvPr/>
        </p:nvSpPr>
        <p:spPr>
          <a:xfrm>
            <a:off x="7370064" y="5010912"/>
            <a:ext cx="2103120" cy="256032"/>
          </a:xfrm>
          <a:prstGeom prst="rect">
            <a:avLst/>
          </a:prstGeom>
          <a:noFill/>
          <a:ln/>
        </p:spPr>
        <p:txBody>
          <a:bodyPr wrap="square" lIns="0" tIns="0" rIns="0" bIns="0" rtlCol="0" anchor="ctr"/>
          <a:lstStyle/>
          <a:p>
            <a:pPr marL="0" indent="0" algn="ctr">
              <a:buNone/>
            </a:pPr>
            <a:r>
              <a:rPr lang="en-US" sz="1100" b="1" dirty="0">
                <a:solidFill>
                  <a:srgbClr val="DA0000"/>
                </a:solidFill>
                <a:latin typeface="Arial" pitchFamily="34" charset="0"/>
                <a:ea typeface="Arial" pitchFamily="34" charset="-122"/>
                <a:cs typeface="Arial" pitchFamily="34" charset="-120"/>
              </a:rPr>
              <a:t>Sandwich</a:t>
            </a:r>
            <a:endParaRPr lang="en-US" sz="1100" dirty="0"/>
          </a:p>
        </p:txBody>
      </p:sp>
      <p:sp>
        <p:nvSpPr>
          <p:cNvPr id="56" name="Text 53"/>
          <p:cNvSpPr/>
          <p:nvPr/>
        </p:nvSpPr>
        <p:spPr>
          <a:xfrm>
            <a:off x="7370064" y="5257800"/>
            <a:ext cx="2103120" cy="292608"/>
          </a:xfrm>
          <a:prstGeom prst="rect">
            <a:avLst/>
          </a:prstGeom>
          <a:noFill/>
          <a:ln/>
        </p:spPr>
        <p:txBody>
          <a:bodyPr wrap="square" lIns="0" tIns="0" rIns="0" bIns="0" rtlCol="0" anchor="ctr"/>
          <a:lstStyle/>
          <a:p>
            <a:pPr marL="0" indent="0" algn="ctr">
              <a:buNone/>
            </a:pPr>
            <a:r>
              <a:rPr lang="en-US" sz="1300" b="1" dirty="0">
                <a:solidFill>
                  <a:srgbClr val="1A1A1A"/>
                </a:solidFill>
                <a:latin typeface="Arial Black" pitchFamily="34" charset="0"/>
                <a:ea typeface="Arial Black" pitchFamily="34" charset="-122"/>
                <a:cs typeface="Arial Black" pitchFamily="34" charset="-120"/>
              </a:rPr>
              <a:t>₹8.13K</a:t>
            </a:r>
            <a:endParaRPr lang="en-US" sz="1300" dirty="0"/>
          </a:p>
        </p:txBody>
      </p:sp>
      <p:sp>
        <p:nvSpPr>
          <p:cNvPr id="57" name="Text 54"/>
          <p:cNvSpPr/>
          <p:nvPr/>
        </p:nvSpPr>
        <p:spPr>
          <a:xfrm>
            <a:off x="7370064" y="5550408"/>
            <a:ext cx="2103120" cy="201168"/>
          </a:xfrm>
          <a:prstGeom prst="rect">
            <a:avLst/>
          </a:prstGeom>
          <a:noFill/>
          <a:ln/>
        </p:spPr>
        <p:txBody>
          <a:bodyPr wrap="square" lIns="0" tIns="0" rIns="0" bIns="0" rtlCol="0" anchor="ctr"/>
          <a:lstStyle/>
          <a:p>
            <a:pPr marL="0" indent="0" algn="ctr">
              <a:buNone/>
            </a:pPr>
            <a:r>
              <a:rPr lang="en-US" sz="900" dirty="0">
                <a:solidFill>
                  <a:srgbClr val="4A4A4A"/>
                </a:solidFill>
                <a:latin typeface="Calibri" pitchFamily="34" charset="0"/>
                <a:ea typeface="Calibri" pitchFamily="34" charset="-122"/>
                <a:cs typeface="Calibri" pitchFamily="34" charset="-120"/>
              </a:rPr>
              <a:t>13.3% share</a:t>
            </a:r>
            <a:endParaRPr lang="en-US" sz="900" dirty="0"/>
          </a:p>
        </p:txBody>
      </p:sp>
      <p:sp>
        <p:nvSpPr>
          <p:cNvPr id="58" name="Text 55"/>
          <p:cNvSpPr/>
          <p:nvPr/>
        </p:nvSpPr>
        <p:spPr>
          <a:xfrm>
            <a:off x="7370064" y="5742432"/>
            <a:ext cx="2103120" cy="228600"/>
          </a:xfrm>
          <a:prstGeom prst="rect">
            <a:avLst/>
          </a:prstGeom>
          <a:noFill/>
          <a:ln/>
        </p:spPr>
        <p:txBody>
          <a:bodyPr wrap="square" lIns="0" tIns="0" rIns="0" bIns="0" rtlCol="0" anchor="ctr"/>
          <a:lstStyle/>
          <a:p>
            <a:pPr marL="0" indent="0" algn="ctr">
              <a:buNone/>
            </a:pPr>
            <a:r>
              <a:rPr lang="en-US" sz="1100" dirty="0">
                <a:solidFill>
                  <a:srgbClr val="FFC72C"/>
                </a:solidFill>
                <a:latin typeface="Arial" pitchFamily="34" charset="0"/>
                <a:ea typeface="Arial" pitchFamily="34" charset="-122"/>
                <a:cs typeface="Arial" pitchFamily="34" charset="-120"/>
              </a:rPr>
              <a:t>★★★☆☆</a:t>
            </a:r>
            <a:endParaRPr lang="en-US" sz="1100" dirty="0"/>
          </a:p>
        </p:txBody>
      </p:sp>
      <p:sp>
        <p:nvSpPr>
          <p:cNvPr id="59" name="Shape 56"/>
          <p:cNvSpPr/>
          <p:nvPr/>
        </p:nvSpPr>
        <p:spPr>
          <a:xfrm>
            <a:off x="9546336" y="4983480"/>
            <a:ext cx="36576" cy="1051560"/>
          </a:xfrm>
          <a:prstGeom prst="rect">
            <a:avLst/>
          </a:prstGeom>
          <a:solidFill>
            <a:srgbClr val="DDDDDD"/>
          </a:solidFill>
          <a:ln w="12700">
            <a:solidFill>
              <a:srgbClr val="DDDDDD"/>
            </a:solidFill>
            <a:prstDash val="solid"/>
          </a:ln>
        </p:spPr>
      </p:sp>
      <p:sp>
        <p:nvSpPr>
          <p:cNvPr id="60" name="Text 57"/>
          <p:cNvSpPr/>
          <p:nvPr/>
        </p:nvSpPr>
        <p:spPr>
          <a:xfrm>
            <a:off x="9674352" y="5010912"/>
            <a:ext cx="2103120" cy="256032"/>
          </a:xfrm>
          <a:prstGeom prst="rect">
            <a:avLst/>
          </a:prstGeom>
          <a:noFill/>
          <a:ln/>
        </p:spPr>
        <p:txBody>
          <a:bodyPr wrap="square" lIns="0" tIns="0" rIns="0" bIns="0" rtlCol="0" anchor="ctr"/>
          <a:lstStyle/>
          <a:p>
            <a:pPr marL="0" indent="0" algn="ctr">
              <a:buNone/>
            </a:pPr>
            <a:r>
              <a:rPr lang="en-US" sz="1100" b="1" dirty="0">
                <a:solidFill>
                  <a:srgbClr val="DA0000"/>
                </a:solidFill>
                <a:latin typeface="Arial" pitchFamily="34" charset="0"/>
                <a:ea typeface="Arial" pitchFamily="34" charset="-122"/>
                <a:cs typeface="Arial" pitchFamily="34" charset="-120"/>
              </a:rPr>
              <a:t>Others (6)</a:t>
            </a:r>
            <a:endParaRPr lang="en-US" sz="1100" dirty="0"/>
          </a:p>
        </p:txBody>
      </p:sp>
      <p:sp>
        <p:nvSpPr>
          <p:cNvPr id="61" name="Text 58"/>
          <p:cNvSpPr/>
          <p:nvPr/>
        </p:nvSpPr>
        <p:spPr>
          <a:xfrm>
            <a:off x="9674352" y="5257800"/>
            <a:ext cx="2103120" cy="292608"/>
          </a:xfrm>
          <a:prstGeom prst="rect">
            <a:avLst/>
          </a:prstGeom>
          <a:noFill/>
          <a:ln/>
        </p:spPr>
        <p:txBody>
          <a:bodyPr wrap="square" lIns="0" tIns="0" rIns="0" bIns="0" rtlCol="0" anchor="ctr"/>
          <a:lstStyle/>
          <a:p>
            <a:pPr marL="0" indent="0" algn="ctr">
              <a:buNone/>
            </a:pPr>
            <a:r>
              <a:rPr lang="en-US" sz="1300" b="1" dirty="0">
                <a:solidFill>
                  <a:srgbClr val="1A1A1A"/>
                </a:solidFill>
                <a:latin typeface="Arial Black" pitchFamily="34" charset="0"/>
                <a:ea typeface="Arial Black" pitchFamily="34" charset="-122"/>
                <a:cs typeface="Arial Black" pitchFamily="34" charset="-120"/>
              </a:rPr>
              <a:t>₹9.97K</a:t>
            </a:r>
            <a:endParaRPr lang="en-US" sz="1300" dirty="0"/>
          </a:p>
        </p:txBody>
      </p:sp>
      <p:sp>
        <p:nvSpPr>
          <p:cNvPr id="62" name="Text 59"/>
          <p:cNvSpPr/>
          <p:nvPr/>
        </p:nvSpPr>
        <p:spPr>
          <a:xfrm>
            <a:off x="9674352" y="5550408"/>
            <a:ext cx="2103120" cy="201168"/>
          </a:xfrm>
          <a:prstGeom prst="rect">
            <a:avLst/>
          </a:prstGeom>
          <a:noFill/>
          <a:ln/>
        </p:spPr>
        <p:txBody>
          <a:bodyPr wrap="square" lIns="0" tIns="0" rIns="0" bIns="0" rtlCol="0" anchor="ctr"/>
          <a:lstStyle/>
          <a:p>
            <a:pPr marL="0" indent="0" algn="ctr">
              <a:buNone/>
            </a:pPr>
            <a:r>
              <a:rPr lang="en-US" sz="900" dirty="0">
                <a:solidFill>
                  <a:srgbClr val="4A4A4A"/>
                </a:solidFill>
                <a:latin typeface="Calibri" pitchFamily="34" charset="0"/>
                <a:ea typeface="Calibri" pitchFamily="34" charset="-122"/>
                <a:cs typeface="Calibri" pitchFamily="34" charset="-120"/>
              </a:rPr>
              <a:t>16.4% share</a:t>
            </a:r>
            <a:endParaRPr lang="en-US" sz="900" dirty="0"/>
          </a:p>
        </p:txBody>
      </p:sp>
      <p:sp>
        <p:nvSpPr>
          <p:cNvPr id="63" name="Text 60"/>
          <p:cNvSpPr/>
          <p:nvPr/>
        </p:nvSpPr>
        <p:spPr>
          <a:xfrm>
            <a:off x="9674352" y="5742432"/>
            <a:ext cx="2103120" cy="228600"/>
          </a:xfrm>
          <a:prstGeom prst="rect">
            <a:avLst/>
          </a:prstGeom>
          <a:noFill/>
          <a:ln/>
        </p:spPr>
        <p:txBody>
          <a:bodyPr wrap="square" lIns="0" tIns="0" rIns="0" bIns="0" rtlCol="0" anchor="ctr"/>
          <a:lstStyle/>
          <a:p>
            <a:pPr marL="0" indent="0" algn="ctr">
              <a:buNone/>
            </a:pPr>
            <a:r>
              <a:rPr lang="en-US" sz="1100" dirty="0">
                <a:solidFill>
                  <a:srgbClr val="FFC72C"/>
                </a:solidFill>
                <a:latin typeface="Arial" pitchFamily="34" charset="0"/>
                <a:ea typeface="Arial" pitchFamily="34" charset="-122"/>
                <a:cs typeface="Arial" pitchFamily="34" charset="-120"/>
              </a:rPr>
              <a:t>★★☆☆☆</a:t>
            </a:r>
            <a:endParaRPr lang="en-US" sz="1100" dirty="0"/>
          </a:p>
        </p:txBody>
      </p:sp>
      <p:sp>
        <p:nvSpPr>
          <p:cNvPr id="64" name="Shape 61"/>
          <p:cNvSpPr/>
          <p:nvPr/>
        </p:nvSpPr>
        <p:spPr>
          <a:xfrm>
            <a:off x="0" y="6537960"/>
            <a:ext cx="12161520" cy="320040"/>
          </a:xfrm>
          <a:prstGeom prst="rect">
            <a:avLst/>
          </a:prstGeom>
          <a:solidFill>
            <a:srgbClr val="DA0000"/>
          </a:solidFill>
          <a:ln w="12700">
            <a:solidFill>
              <a:srgbClr val="DA0000"/>
            </a:solidFill>
            <a:prstDash val="solid"/>
          </a:ln>
        </p:spPr>
      </p:sp>
      <p:sp>
        <p:nvSpPr>
          <p:cNvPr id="65" name="Text 62"/>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Product Performance Analysis  |  Prepared by: Ranjeet Anada</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DA0000"/>
          </a:solidFill>
          <a:ln w="12700">
            <a:solidFill>
              <a:srgbClr val="DA0000"/>
            </a:solidFill>
            <a:prstDash val="solid"/>
          </a:ln>
        </p:spPr>
      </p:sp>
      <p:sp>
        <p:nvSpPr>
          <p:cNvPr id="3" name="Text 1"/>
          <p:cNvSpPr/>
          <p:nvPr/>
        </p:nvSpPr>
        <p:spPr>
          <a:xfrm>
            <a:off x="457200" y="73152"/>
            <a:ext cx="91440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BUSINESS INSIGHTS &amp; RECOMMENDATIONS</a:t>
            </a:r>
            <a:endParaRPr lang="en-US" sz="2400" dirty="0"/>
          </a:p>
        </p:txBody>
      </p:sp>
      <p:sp>
        <p:nvSpPr>
          <p:cNvPr id="4" name="Text 2"/>
          <p:cNvSpPr/>
          <p:nvPr/>
        </p:nvSpPr>
        <p:spPr>
          <a:xfrm>
            <a:off x="457200" y="530352"/>
            <a:ext cx="9144000" cy="274320"/>
          </a:xfrm>
          <a:prstGeom prst="rect">
            <a:avLst/>
          </a:prstGeom>
          <a:noFill/>
          <a:ln/>
        </p:spPr>
        <p:txBody>
          <a:bodyPr wrap="square" lIns="0" tIns="0" rIns="0" bIns="0" rtlCol="0" anchor="ctr"/>
          <a:lstStyle/>
          <a:p>
            <a:pPr marL="0" indent="0">
              <a:buNone/>
            </a:pPr>
            <a:r>
              <a:rPr lang="en-US" sz="1100" i="1" dirty="0">
                <a:solidFill>
                  <a:srgbClr val="FFC72C"/>
                </a:solidFill>
                <a:latin typeface="Calibri" pitchFamily="34" charset="0"/>
                <a:ea typeface="Calibri" pitchFamily="34" charset="-122"/>
                <a:cs typeface="Calibri" pitchFamily="34" charset="-120"/>
              </a:rPr>
              <a:t>Data-Driven Strategies for Revenue Growth and Operational Excellence</a:t>
            </a:r>
            <a:endParaRPr lang="en-US" sz="1100" dirty="0"/>
          </a:p>
        </p:txBody>
      </p:sp>
      <p:sp>
        <p:nvSpPr>
          <p:cNvPr id="5" name="Text 3"/>
          <p:cNvSpPr/>
          <p:nvPr/>
        </p:nvSpPr>
        <p:spPr>
          <a:xfrm>
            <a:off x="11247120" y="182880"/>
            <a:ext cx="640080" cy="548640"/>
          </a:xfrm>
          <a:prstGeom prst="rect">
            <a:avLst/>
          </a:prstGeom>
          <a:noFill/>
          <a:ln/>
        </p:spPr>
        <p:txBody>
          <a:bodyPr wrap="square" lIns="0" tIns="0" rIns="0" bIns="0" rtlCol="0" anchor="ctr"/>
          <a:lstStyle/>
          <a:p>
            <a:pPr marL="0" indent="0" algn="ctr">
              <a:buNone/>
            </a:pPr>
            <a:r>
              <a:rPr lang="en-US" sz="2800" b="1" dirty="0">
                <a:solidFill>
                  <a:srgbClr val="FFC72C"/>
                </a:solidFill>
                <a:latin typeface="Arial Black" pitchFamily="34" charset="0"/>
                <a:ea typeface="Arial Black" pitchFamily="34" charset="-122"/>
                <a:cs typeface="Arial Black" pitchFamily="34" charset="-120"/>
              </a:rPr>
              <a:t>07</a:t>
            </a:r>
            <a:endParaRPr lang="en-US" sz="2800" dirty="0"/>
          </a:p>
        </p:txBody>
      </p:sp>
      <p:sp>
        <p:nvSpPr>
          <p:cNvPr id="6" name="Shape 4"/>
          <p:cNvSpPr/>
          <p:nvPr/>
        </p:nvSpPr>
        <p:spPr>
          <a:xfrm>
            <a:off x="320040" y="987552"/>
            <a:ext cx="5532120" cy="320040"/>
          </a:xfrm>
          <a:prstGeom prst="rect">
            <a:avLst/>
          </a:prstGeom>
          <a:solidFill>
            <a:srgbClr val="DA0000"/>
          </a:solidFill>
          <a:ln w="12700">
            <a:solidFill>
              <a:srgbClr val="DA0000"/>
            </a:solidFill>
            <a:prstDash val="solid"/>
          </a:ln>
        </p:spPr>
      </p:sp>
      <p:sp>
        <p:nvSpPr>
          <p:cNvPr id="7" name="Text 5"/>
          <p:cNvSpPr/>
          <p:nvPr/>
        </p:nvSpPr>
        <p:spPr>
          <a:xfrm>
            <a:off x="320040" y="996696"/>
            <a:ext cx="5532120" cy="283464"/>
          </a:xfrm>
          <a:prstGeom prst="rect">
            <a:avLst/>
          </a:prstGeom>
          <a:noFill/>
          <a:ln/>
        </p:spPr>
        <p:txBody>
          <a:bodyPr wrap="square" lIns="0" tIns="0" rIns="0" bIns="0" rtlCol="0" anchor="ctr"/>
          <a:lstStyle/>
          <a:p>
            <a:pPr marL="0" indent="0" algn="ctr">
              <a:buNone/>
            </a:pPr>
            <a:r>
              <a:rPr lang="en-US" sz="1100" b="1" kern="0" spc="200" dirty="0">
                <a:solidFill>
                  <a:srgbClr val="FFFFFF"/>
                </a:solidFill>
                <a:latin typeface="Arial" pitchFamily="34" charset="0"/>
                <a:ea typeface="Arial" pitchFamily="34" charset="-122"/>
                <a:cs typeface="Arial" pitchFamily="34" charset="-120"/>
              </a:rPr>
              <a:t>💡  KEY BUSINESS INSIGHTS</a:t>
            </a:r>
            <a:endParaRPr lang="en-US" sz="1100" dirty="0"/>
          </a:p>
        </p:txBody>
      </p:sp>
      <p:sp>
        <p:nvSpPr>
          <p:cNvPr id="8" name="Shape 6"/>
          <p:cNvSpPr/>
          <p:nvPr/>
        </p:nvSpPr>
        <p:spPr>
          <a:xfrm>
            <a:off x="320040" y="1371600"/>
            <a:ext cx="2697480" cy="12344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9" name="Shape 7"/>
          <p:cNvSpPr/>
          <p:nvPr/>
        </p:nvSpPr>
        <p:spPr>
          <a:xfrm>
            <a:off x="320040" y="1371600"/>
            <a:ext cx="2697480" cy="73152"/>
          </a:xfrm>
          <a:prstGeom prst="rect">
            <a:avLst/>
          </a:prstGeom>
          <a:solidFill>
            <a:srgbClr val="DA0000"/>
          </a:solidFill>
          <a:ln w="12700">
            <a:solidFill>
              <a:srgbClr val="DA0000"/>
            </a:solidFill>
            <a:prstDash val="solid"/>
          </a:ln>
        </p:spPr>
      </p:sp>
      <p:sp>
        <p:nvSpPr>
          <p:cNvPr id="10" name="Text 8"/>
          <p:cNvSpPr/>
          <p:nvPr/>
        </p:nvSpPr>
        <p:spPr>
          <a:xfrm>
            <a:off x="411480" y="1481328"/>
            <a:ext cx="2514600" cy="347472"/>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  Burger Category is King</a:t>
            </a:r>
            <a:endParaRPr lang="en-US" sz="1050" dirty="0"/>
          </a:p>
        </p:txBody>
      </p:sp>
      <p:sp>
        <p:nvSpPr>
          <p:cNvPr id="11" name="Text 9"/>
          <p:cNvSpPr/>
          <p:nvPr/>
        </p:nvSpPr>
        <p:spPr>
          <a:xfrm>
            <a:off x="411480" y="1828800"/>
            <a:ext cx="2514600" cy="713232"/>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Burgers contribute 35.2% of total revenue — nearly triple the next category. The Burger menu is the backbone of McDonald's revenue strategy.</a:t>
            </a:r>
            <a:endParaRPr lang="en-US" sz="950" dirty="0"/>
          </a:p>
        </p:txBody>
      </p:sp>
      <p:sp>
        <p:nvSpPr>
          <p:cNvPr id="12" name="Shape 10"/>
          <p:cNvSpPr/>
          <p:nvPr/>
        </p:nvSpPr>
        <p:spPr>
          <a:xfrm>
            <a:off x="3154680" y="1371600"/>
            <a:ext cx="2697480" cy="12344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3" name="Shape 11"/>
          <p:cNvSpPr/>
          <p:nvPr/>
        </p:nvSpPr>
        <p:spPr>
          <a:xfrm>
            <a:off x="3154680" y="1371600"/>
            <a:ext cx="2697480" cy="73152"/>
          </a:xfrm>
          <a:prstGeom prst="rect">
            <a:avLst/>
          </a:prstGeom>
          <a:solidFill>
            <a:srgbClr val="DA0000"/>
          </a:solidFill>
          <a:ln w="12700">
            <a:solidFill>
              <a:srgbClr val="DA0000"/>
            </a:solidFill>
            <a:prstDash val="solid"/>
          </a:ln>
        </p:spPr>
      </p:sp>
      <p:sp>
        <p:nvSpPr>
          <p:cNvPr id="14" name="Text 12"/>
          <p:cNvSpPr/>
          <p:nvPr/>
        </p:nvSpPr>
        <p:spPr>
          <a:xfrm>
            <a:off x="3246120" y="1481328"/>
            <a:ext cx="2514600" cy="347472"/>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  Evening Rush is the Goldmine</a:t>
            </a:r>
            <a:endParaRPr lang="en-US" sz="1050" dirty="0"/>
          </a:p>
        </p:txBody>
      </p:sp>
      <p:sp>
        <p:nvSpPr>
          <p:cNvPr id="15" name="Text 13"/>
          <p:cNvSpPr/>
          <p:nvPr/>
        </p:nvSpPr>
        <p:spPr>
          <a:xfrm>
            <a:off x="3246120" y="1828800"/>
            <a:ext cx="2514600" cy="713232"/>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47.9% of all orders come in the evening (5PM–11PM). Dinner and post-work occasions drive the majority of daily business volume.</a:t>
            </a:r>
            <a:endParaRPr lang="en-US" sz="950" dirty="0"/>
          </a:p>
        </p:txBody>
      </p:sp>
      <p:sp>
        <p:nvSpPr>
          <p:cNvPr id="16" name="Shape 14"/>
          <p:cNvSpPr/>
          <p:nvPr/>
        </p:nvSpPr>
        <p:spPr>
          <a:xfrm>
            <a:off x="320040" y="2743200"/>
            <a:ext cx="2697480" cy="12344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7" name="Shape 15"/>
          <p:cNvSpPr/>
          <p:nvPr/>
        </p:nvSpPr>
        <p:spPr>
          <a:xfrm>
            <a:off x="320040" y="2743200"/>
            <a:ext cx="2697480" cy="73152"/>
          </a:xfrm>
          <a:prstGeom prst="rect">
            <a:avLst/>
          </a:prstGeom>
          <a:solidFill>
            <a:srgbClr val="DA0000"/>
          </a:solidFill>
          <a:ln w="12700">
            <a:solidFill>
              <a:srgbClr val="DA0000"/>
            </a:solidFill>
            <a:prstDash val="solid"/>
          </a:ln>
        </p:spPr>
      </p:sp>
      <p:sp>
        <p:nvSpPr>
          <p:cNvPr id="18" name="Text 16"/>
          <p:cNvSpPr/>
          <p:nvPr/>
        </p:nvSpPr>
        <p:spPr>
          <a:xfrm>
            <a:off x="411480" y="2852928"/>
            <a:ext cx="2514600" cy="347472"/>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  Weekends are Revenue Multipliers</a:t>
            </a:r>
            <a:endParaRPr lang="en-US" sz="1050" dirty="0"/>
          </a:p>
        </p:txBody>
      </p:sp>
      <p:sp>
        <p:nvSpPr>
          <p:cNvPr id="19" name="Text 17"/>
          <p:cNvSpPr/>
          <p:nvPr/>
        </p:nvSpPr>
        <p:spPr>
          <a:xfrm>
            <a:off x="411480" y="3200400"/>
            <a:ext cx="2514600" cy="713232"/>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Weekend revenue (₹44,029) is 2.6× higher than weekday revenue (₹16,974), accounting for 72.2% of total Q1 revenue despite being fewer days.</a:t>
            </a:r>
            <a:endParaRPr lang="en-US" sz="950" dirty="0"/>
          </a:p>
        </p:txBody>
      </p:sp>
      <p:sp>
        <p:nvSpPr>
          <p:cNvPr id="20" name="Shape 18"/>
          <p:cNvSpPr/>
          <p:nvPr/>
        </p:nvSpPr>
        <p:spPr>
          <a:xfrm>
            <a:off x="3154680" y="2743200"/>
            <a:ext cx="2697480" cy="1234440"/>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1" name="Shape 19"/>
          <p:cNvSpPr/>
          <p:nvPr/>
        </p:nvSpPr>
        <p:spPr>
          <a:xfrm>
            <a:off x="3154680" y="2743200"/>
            <a:ext cx="2697480" cy="73152"/>
          </a:xfrm>
          <a:prstGeom prst="rect">
            <a:avLst/>
          </a:prstGeom>
          <a:solidFill>
            <a:srgbClr val="DA0000"/>
          </a:solidFill>
          <a:ln w="12700">
            <a:solidFill>
              <a:srgbClr val="DA0000"/>
            </a:solidFill>
            <a:prstDash val="solid"/>
          </a:ln>
        </p:spPr>
      </p:sp>
      <p:sp>
        <p:nvSpPr>
          <p:cNvPr id="22" name="Text 20"/>
          <p:cNvSpPr/>
          <p:nvPr/>
        </p:nvSpPr>
        <p:spPr>
          <a:xfrm>
            <a:off x="3246120" y="2852928"/>
            <a:ext cx="2514600" cy="347472"/>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  Consistent Monthly Growth</a:t>
            </a:r>
            <a:endParaRPr lang="en-US" sz="1050" dirty="0"/>
          </a:p>
        </p:txBody>
      </p:sp>
      <p:sp>
        <p:nvSpPr>
          <p:cNvPr id="23" name="Text 21"/>
          <p:cNvSpPr/>
          <p:nvPr/>
        </p:nvSpPr>
        <p:spPr>
          <a:xfrm>
            <a:off x="3246120" y="3200400"/>
            <a:ext cx="2514600" cy="713232"/>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Revenue grew month-over-month from ₹19.48K (Feb) to ₹20.91K (Mar), showing a positive 7.3% growth trajectory over the quarter.</a:t>
            </a:r>
            <a:endParaRPr lang="en-US" sz="950" dirty="0"/>
          </a:p>
        </p:txBody>
      </p:sp>
      <p:sp>
        <p:nvSpPr>
          <p:cNvPr id="24" name="Shape 22"/>
          <p:cNvSpPr/>
          <p:nvPr/>
        </p:nvSpPr>
        <p:spPr>
          <a:xfrm>
            <a:off x="6172200" y="987552"/>
            <a:ext cx="5669280" cy="320040"/>
          </a:xfrm>
          <a:prstGeom prst="rect">
            <a:avLst/>
          </a:prstGeom>
          <a:solidFill>
            <a:srgbClr val="E5A800"/>
          </a:solidFill>
          <a:ln w="12700">
            <a:solidFill>
              <a:srgbClr val="E5A800"/>
            </a:solidFill>
            <a:prstDash val="solid"/>
          </a:ln>
        </p:spPr>
      </p:sp>
      <p:sp>
        <p:nvSpPr>
          <p:cNvPr id="25" name="Text 23"/>
          <p:cNvSpPr/>
          <p:nvPr/>
        </p:nvSpPr>
        <p:spPr>
          <a:xfrm>
            <a:off x="6172200" y="996696"/>
            <a:ext cx="5669280" cy="283464"/>
          </a:xfrm>
          <a:prstGeom prst="rect">
            <a:avLst/>
          </a:prstGeom>
          <a:noFill/>
          <a:ln/>
        </p:spPr>
        <p:txBody>
          <a:bodyPr wrap="square" lIns="0" tIns="0" rIns="0" bIns="0" rtlCol="0" anchor="ctr"/>
          <a:lstStyle/>
          <a:p>
            <a:pPr marL="0" indent="0" algn="ctr">
              <a:buNone/>
            </a:pPr>
            <a:r>
              <a:rPr lang="en-US" sz="1100" b="1" kern="0" spc="200" dirty="0">
                <a:solidFill>
                  <a:srgbClr val="1A1A1A"/>
                </a:solidFill>
                <a:latin typeface="Arial" pitchFamily="34" charset="0"/>
                <a:ea typeface="Arial" pitchFamily="34" charset="-122"/>
                <a:cs typeface="Arial" pitchFamily="34" charset="-120"/>
              </a:rPr>
              <a:t>🎯  STRATEGIC RECOMMENDATIONS</a:t>
            </a:r>
            <a:endParaRPr lang="en-US" sz="1100" dirty="0"/>
          </a:p>
        </p:txBody>
      </p:sp>
      <p:sp>
        <p:nvSpPr>
          <p:cNvPr id="26" name="Shape 24"/>
          <p:cNvSpPr/>
          <p:nvPr/>
        </p:nvSpPr>
        <p:spPr>
          <a:xfrm>
            <a:off x="6172200" y="1371600"/>
            <a:ext cx="5669280" cy="85953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7" name="Shape 25"/>
          <p:cNvSpPr/>
          <p:nvPr/>
        </p:nvSpPr>
        <p:spPr>
          <a:xfrm>
            <a:off x="6172200" y="1371600"/>
            <a:ext cx="73152" cy="859536"/>
          </a:xfrm>
          <a:prstGeom prst="rect">
            <a:avLst/>
          </a:prstGeom>
          <a:solidFill>
            <a:srgbClr val="DA0000"/>
          </a:solidFill>
          <a:ln w="12700">
            <a:solidFill>
              <a:srgbClr val="DA0000"/>
            </a:solidFill>
            <a:prstDash val="solid"/>
          </a:ln>
        </p:spPr>
      </p:sp>
      <p:sp>
        <p:nvSpPr>
          <p:cNvPr id="28" name="Shape 26"/>
          <p:cNvSpPr/>
          <p:nvPr/>
        </p:nvSpPr>
        <p:spPr>
          <a:xfrm>
            <a:off x="10835640" y="1463040"/>
            <a:ext cx="868680" cy="274320"/>
          </a:xfrm>
          <a:prstGeom prst="rect">
            <a:avLst/>
          </a:prstGeom>
          <a:solidFill>
            <a:srgbClr val="DA0000"/>
          </a:solidFill>
          <a:ln w="12700">
            <a:solidFill>
              <a:srgbClr val="DA0000"/>
            </a:solidFill>
            <a:prstDash val="solid"/>
          </a:ln>
        </p:spPr>
      </p:sp>
      <p:sp>
        <p:nvSpPr>
          <p:cNvPr id="29" name="Text 27"/>
          <p:cNvSpPr/>
          <p:nvPr/>
        </p:nvSpPr>
        <p:spPr>
          <a:xfrm>
            <a:off x="10835640" y="1481328"/>
            <a:ext cx="868680" cy="237744"/>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Arial" pitchFamily="34" charset="0"/>
                <a:ea typeface="Arial" pitchFamily="34" charset="-122"/>
                <a:cs typeface="Arial" pitchFamily="34" charset="-120"/>
              </a:rPr>
              <a:t>HIGH</a:t>
            </a:r>
            <a:endParaRPr lang="en-US" sz="800" dirty="0"/>
          </a:p>
        </p:txBody>
      </p:sp>
      <p:sp>
        <p:nvSpPr>
          <p:cNvPr id="30" name="Text 28"/>
          <p:cNvSpPr/>
          <p:nvPr/>
        </p:nvSpPr>
        <p:spPr>
          <a:xfrm>
            <a:off x="6309360" y="1426464"/>
            <a:ext cx="4434840" cy="274320"/>
          </a:xfrm>
          <a:prstGeom prst="rect">
            <a:avLst/>
          </a:prstGeom>
          <a:noFill/>
          <a:ln/>
        </p:spPr>
        <p:txBody>
          <a:bodyPr wrap="square" lIns="0" tIns="0" rIns="0" bIns="0" rtlCol="0" anchor="ctr"/>
          <a:lstStyle/>
          <a:p>
            <a:pPr marL="0" indent="0">
              <a:buNone/>
            </a:pPr>
            <a:r>
              <a:rPr lang="en-US" sz="1050" b="1" dirty="0">
                <a:solidFill>
                  <a:srgbClr val="1A1A1A"/>
                </a:solidFill>
                <a:latin typeface="Arial" pitchFamily="34" charset="0"/>
                <a:ea typeface="Arial" pitchFamily="34" charset="-122"/>
                <a:cs typeface="Arial" pitchFamily="34" charset="-120"/>
              </a:rPr>
              <a:t>01  Launch Burger Combo Promotions</a:t>
            </a:r>
            <a:endParaRPr lang="en-US" sz="1050" dirty="0"/>
          </a:p>
        </p:txBody>
      </p:sp>
      <p:sp>
        <p:nvSpPr>
          <p:cNvPr id="31" name="Text 29"/>
          <p:cNvSpPr/>
          <p:nvPr/>
        </p:nvSpPr>
        <p:spPr>
          <a:xfrm>
            <a:off x="6309360" y="1719072"/>
            <a:ext cx="4754880" cy="457200"/>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Bundle Burgers with Fries and Shakes to increase average order value. Target existing Burger buyers with upgrade offers.</a:t>
            </a:r>
            <a:endParaRPr lang="en-US" sz="950" dirty="0"/>
          </a:p>
        </p:txBody>
      </p:sp>
      <p:sp>
        <p:nvSpPr>
          <p:cNvPr id="32" name="Shape 30"/>
          <p:cNvSpPr/>
          <p:nvPr/>
        </p:nvSpPr>
        <p:spPr>
          <a:xfrm>
            <a:off x="6172200" y="2322576"/>
            <a:ext cx="5669280" cy="85953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3" name="Shape 31"/>
          <p:cNvSpPr/>
          <p:nvPr/>
        </p:nvSpPr>
        <p:spPr>
          <a:xfrm>
            <a:off x="6172200" y="2322576"/>
            <a:ext cx="73152" cy="859536"/>
          </a:xfrm>
          <a:prstGeom prst="rect">
            <a:avLst/>
          </a:prstGeom>
          <a:solidFill>
            <a:srgbClr val="DA0000"/>
          </a:solidFill>
          <a:ln w="12700">
            <a:solidFill>
              <a:srgbClr val="DA0000"/>
            </a:solidFill>
            <a:prstDash val="solid"/>
          </a:ln>
        </p:spPr>
      </p:sp>
      <p:sp>
        <p:nvSpPr>
          <p:cNvPr id="34" name="Shape 32"/>
          <p:cNvSpPr/>
          <p:nvPr/>
        </p:nvSpPr>
        <p:spPr>
          <a:xfrm>
            <a:off x="10835640" y="2414016"/>
            <a:ext cx="868680" cy="274320"/>
          </a:xfrm>
          <a:prstGeom prst="rect">
            <a:avLst/>
          </a:prstGeom>
          <a:solidFill>
            <a:srgbClr val="DA0000"/>
          </a:solidFill>
          <a:ln w="12700">
            <a:solidFill>
              <a:srgbClr val="DA0000"/>
            </a:solidFill>
            <a:prstDash val="solid"/>
          </a:ln>
        </p:spPr>
      </p:sp>
      <p:sp>
        <p:nvSpPr>
          <p:cNvPr id="35" name="Text 33"/>
          <p:cNvSpPr/>
          <p:nvPr/>
        </p:nvSpPr>
        <p:spPr>
          <a:xfrm>
            <a:off x="10835640" y="2432304"/>
            <a:ext cx="868680" cy="237744"/>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Arial" pitchFamily="34" charset="0"/>
                <a:ea typeface="Arial" pitchFamily="34" charset="-122"/>
                <a:cs typeface="Arial" pitchFamily="34" charset="-120"/>
              </a:rPr>
              <a:t>HIGH</a:t>
            </a:r>
            <a:endParaRPr lang="en-US" sz="800" dirty="0"/>
          </a:p>
        </p:txBody>
      </p:sp>
      <p:sp>
        <p:nvSpPr>
          <p:cNvPr id="36" name="Text 34"/>
          <p:cNvSpPr/>
          <p:nvPr/>
        </p:nvSpPr>
        <p:spPr>
          <a:xfrm>
            <a:off x="6309360" y="2377440"/>
            <a:ext cx="4434840" cy="274320"/>
          </a:xfrm>
          <a:prstGeom prst="rect">
            <a:avLst/>
          </a:prstGeom>
          <a:noFill/>
          <a:ln/>
        </p:spPr>
        <p:txBody>
          <a:bodyPr wrap="square" lIns="0" tIns="0" rIns="0" bIns="0" rtlCol="0" anchor="ctr"/>
          <a:lstStyle/>
          <a:p>
            <a:pPr marL="0" indent="0">
              <a:buNone/>
            </a:pPr>
            <a:r>
              <a:rPr lang="en-US" sz="1050" b="1" dirty="0">
                <a:solidFill>
                  <a:srgbClr val="1A1A1A"/>
                </a:solidFill>
                <a:latin typeface="Arial" pitchFamily="34" charset="0"/>
                <a:ea typeface="Arial" pitchFamily="34" charset="-122"/>
                <a:cs typeface="Arial" pitchFamily="34" charset="-120"/>
              </a:rPr>
              <a:t>02  Revamp Breakfast Marketing</a:t>
            </a:r>
            <a:endParaRPr lang="en-US" sz="1050" dirty="0"/>
          </a:p>
        </p:txBody>
      </p:sp>
      <p:sp>
        <p:nvSpPr>
          <p:cNvPr id="37" name="Text 35"/>
          <p:cNvSpPr/>
          <p:nvPr/>
        </p:nvSpPr>
        <p:spPr>
          <a:xfrm>
            <a:off x="6309360" y="2670048"/>
            <a:ext cx="4754880" cy="457200"/>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Morning accounts for only 5.4% of orders. Targeted campaigns (digital, local) for breakfast combos can unlock 15–20% revenue uplift.</a:t>
            </a:r>
            <a:endParaRPr lang="en-US" sz="950" dirty="0"/>
          </a:p>
        </p:txBody>
      </p:sp>
      <p:sp>
        <p:nvSpPr>
          <p:cNvPr id="38" name="Shape 36"/>
          <p:cNvSpPr/>
          <p:nvPr/>
        </p:nvSpPr>
        <p:spPr>
          <a:xfrm>
            <a:off x="6172200" y="3273552"/>
            <a:ext cx="5669280" cy="85953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9" name="Shape 37"/>
          <p:cNvSpPr/>
          <p:nvPr/>
        </p:nvSpPr>
        <p:spPr>
          <a:xfrm>
            <a:off x="6172200" y="3273552"/>
            <a:ext cx="73152" cy="859536"/>
          </a:xfrm>
          <a:prstGeom prst="rect">
            <a:avLst/>
          </a:prstGeom>
          <a:solidFill>
            <a:srgbClr val="E5A800"/>
          </a:solidFill>
          <a:ln w="12700">
            <a:solidFill>
              <a:srgbClr val="E5A800"/>
            </a:solidFill>
            <a:prstDash val="solid"/>
          </a:ln>
        </p:spPr>
      </p:sp>
      <p:sp>
        <p:nvSpPr>
          <p:cNvPr id="40" name="Shape 38"/>
          <p:cNvSpPr/>
          <p:nvPr/>
        </p:nvSpPr>
        <p:spPr>
          <a:xfrm>
            <a:off x="10835640" y="3364992"/>
            <a:ext cx="868680" cy="274320"/>
          </a:xfrm>
          <a:prstGeom prst="rect">
            <a:avLst/>
          </a:prstGeom>
          <a:solidFill>
            <a:srgbClr val="E5A800"/>
          </a:solidFill>
          <a:ln w="12700">
            <a:solidFill>
              <a:srgbClr val="E5A800"/>
            </a:solidFill>
            <a:prstDash val="solid"/>
          </a:ln>
        </p:spPr>
      </p:sp>
      <p:sp>
        <p:nvSpPr>
          <p:cNvPr id="41" name="Text 39"/>
          <p:cNvSpPr/>
          <p:nvPr/>
        </p:nvSpPr>
        <p:spPr>
          <a:xfrm>
            <a:off x="10835640" y="3383280"/>
            <a:ext cx="868680" cy="237744"/>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Arial" pitchFamily="34" charset="0"/>
                <a:ea typeface="Arial" pitchFamily="34" charset="-122"/>
                <a:cs typeface="Arial" pitchFamily="34" charset="-120"/>
              </a:rPr>
              <a:t>MED</a:t>
            </a:r>
            <a:endParaRPr lang="en-US" sz="800" dirty="0"/>
          </a:p>
        </p:txBody>
      </p:sp>
      <p:sp>
        <p:nvSpPr>
          <p:cNvPr id="42" name="Text 40"/>
          <p:cNvSpPr/>
          <p:nvPr/>
        </p:nvSpPr>
        <p:spPr>
          <a:xfrm>
            <a:off x="6309360" y="3328416"/>
            <a:ext cx="4434840" cy="274320"/>
          </a:xfrm>
          <a:prstGeom prst="rect">
            <a:avLst/>
          </a:prstGeom>
          <a:noFill/>
          <a:ln/>
        </p:spPr>
        <p:txBody>
          <a:bodyPr wrap="square" lIns="0" tIns="0" rIns="0" bIns="0" rtlCol="0" anchor="ctr"/>
          <a:lstStyle/>
          <a:p>
            <a:pPr marL="0" indent="0">
              <a:buNone/>
            </a:pPr>
            <a:r>
              <a:rPr lang="en-US" sz="1050" b="1" dirty="0">
                <a:solidFill>
                  <a:srgbClr val="1A1A1A"/>
                </a:solidFill>
                <a:latin typeface="Arial" pitchFamily="34" charset="0"/>
                <a:ea typeface="Arial" pitchFamily="34" charset="-122"/>
                <a:cs typeface="Arial" pitchFamily="34" charset="-120"/>
              </a:rPr>
              <a:t>03  Optimize Evening Operations</a:t>
            </a:r>
            <a:endParaRPr lang="en-US" sz="1050" dirty="0"/>
          </a:p>
        </p:txBody>
      </p:sp>
      <p:sp>
        <p:nvSpPr>
          <p:cNvPr id="43" name="Text 41"/>
          <p:cNvSpPr/>
          <p:nvPr/>
        </p:nvSpPr>
        <p:spPr>
          <a:xfrm>
            <a:off x="6309360" y="3621024"/>
            <a:ext cx="4754880" cy="457200"/>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Staff adequately for the 5–9PM peak window. Introduce evening-exclusive deals to sustain and grow this dominant segment.</a:t>
            </a:r>
            <a:endParaRPr lang="en-US" sz="950" dirty="0"/>
          </a:p>
        </p:txBody>
      </p:sp>
      <p:sp>
        <p:nvSpPr>
          <p:cNvPr id="44" name="Shape 42"/>
          <p:cNvSpPr/>
          <p:nvPr/>
        </p:nvSpPr>
        <p:spPr>
          <a:xfrm>
            <a:off x="6172200" y="4224528"/>
            <a:ext cx="5669280" cy="85953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45" name="Shape 43"/>
          <p:cNvSpPr/>
          <p:nvPr/>
        </p:nvSpPr>
        <p:spPr>
          <a:xfrm>
            <a:off x="6172200" y="4224528"/>
            <a:ext cx="73152" cy="859536"/>
          </a:xfrm>
          <a:prstGeom prst="rect">
            <a:avLst/>
          </a:prstGeom>
          <a:solidFill>
            <a:srgbClr val="E5A800"/>
          </a:solidFill>
          <a:ln w="12700">
            <a:solidFill>
              <a:srgbClr val="E5A800"/>
            </a:solidFill>
            <a:prstDash val="solid"/>
          </a:ln>
        </p:spPr>
      </p:sp>
      <p:sp>
        <p:nvSpPr>
          <p:cNvPr id="46" name="Shape 44"/>
          <p:cNvSpPr/>
          <p:nvPr/>
        </p:nvSpPr>
        <p:spPr>
          <a:xfrm>
            <a:off x="10835640" y="4315968"/>
            <a:ext cx="868680" cy="274320"/>
          </a:xfrm>
          <a:prstGeom prst="rect">
            <a:avLst/>
          </a:prstGeom>
          <a:solidFill>
            <a:srgbClr val="E5A800"/>
          </a:solidFill>
          <a:ln w="12700">
            <a:solidFill>
              <a:srgbClr val="E5A800"/>
            </a:solidFill>
            <a:prstDash val="solid"/>
          </a:ln>
        </p:spPr>
      </p:sp>
      <p:sp>
        <p:nvSpPr>
          <p:cNvPr id="47" name="Text 45"/>
          <p:cNvSpPr/>
          <p:nvPr/>
        </p:nvSpPr>
        <p:spPr>
          <a:xfrm>
            <a:off x="10835640" y="4334256"/>
            <a:ext cx="868680" cy="237744"/>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Arial" pitchFamily="34" charset="0"/>
                <a:ea typeface="Arial" pitchFamily="34" charset="-122"/>
                <a:cs typeface="Arial" pitchFamily="34" charset="-120"/>
              </a:rPr>
              <a:t>MED</a:t>
            </a:r>
            <a:endParaRPr lang="en-US" sz="800" dirty="0"/>
          </a:p>
        </p:txBody>
      </p:sp>
      <p:sp>
        <p:nvSpPr>
          <p:cNvPr id="48" name="Text 46"/>
          <p:cNvSpPr/>
          <p:nvPr/>
        </p:nvSpPr>
        <p:spPr>
          <a:xfrm>
            <a:off x="6309360" y="4279392"/>
            <a:ext cx="4434840" cy="274320"/>
          </a:xfrm>
          <a:prstGeom prst="rect">
            <a:avLst/>
          </a:prstGeom>
          <a:noFill/>
          <a:ln/>
        </p:spPr>
        <p:txBody>
          <a:bodyPr wrap="square" lIns="0" tIns="0" rIns="0" bIns="0" rtlCol="0" anchor="ctr"/>
          <a:lstStyle/>
          <a:p>
            <a:pPr marL="0" indent="0">
              <a:buNone/>
            </a:pPr>
            <a:r>
              <a:rPr lang="en-US" sz="1050" b="1" dirty="0">
                <a:solidFill>
                  <a:srgbClr val="1A1A1A"/>
                </a:solidFill>
                <a:latin typeface="Arial" pitchFamily="34" charset="0"/>
                <a:ea typeface="Arial" pitchFamily="34" charset="-122"/>
                <a:cs typeface="Arial" pitchFamily="34" charset="-120"/>
              </a:rPr>
              <a:t>04  Launch Weekend Special Campaigns</a:t>
            </a:r>
            <a:endParaRPr lang="en-US" sz="1050" dirty="0"/>
          </a:p>
        </p:txBody>
      </p:sp>
      <p:sp>
        <p:nvSpPr>
          <p:cNvPr id="49" name="Text 47"/>
          <p:cNvSpPr/>
          <p:nvPr/>
        </p:nvSpPr>
        <p:spPr>
          <a:xfrm>
            <a:off x="6309360" y="4572000"/>
            <a:ext cx="4754880" cy="457200"/>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Capitalize on the 72% weekend revenue dominance with family bundles, loyalty points, and weekend-only menu items.</a:t>
            </a:r>
            <a:endParaRPr lang="en-US" sz="950" dirty="0"/>
          </a:p>
        </p:txBody>
      </p:sp>
      <p:sp>
        <p:nvSpPr>
          <p:cNvPr id="50" name="Shape 48"/>
          <p:cNvSpPr/>
          <p:nvPr/>
        </p:nvSpPr>
        <p:spPr>
          <a:xfrm>
            <a:off x="6172200" y="5175504"/>
            <a:ext cx="5669280" cy="859536"/>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51" name="Shape 49"/>
          <p:cNvSpPr/>
          <p:nvPr/>
        </p:nvSpPr>
        <p:spPr>
          <a:xfrm>
            <a:off x="6172200" y="5175504"/>
            <a:ext cx="73152" cy="859536"/>
          </a:xfrm>
          <a:prstGeom prst="rect">
            <a:avLst/>
          </a:prstGeom>
          <a:solidFill>
            <a:srgbClr val="888888"/>
          </a:solidFill>
          <a:ln w="12700">
            <a:solidFill>
              <a:srgbClr val="888888"/>
            </a:solidFill>
            <a:prstDash val="solid"/>
          </a:ln>
        </p:spPr>
      </p:sp>
      <p:sp>
        <p:nvSpPr>
          <p:cNvPr id="52" name="Shape 50"/>
          <p:cNvSpPr/>
          <p:nvPr/>
        </p:nvSpPr>
        <p:spPr>
          <a:xfrm>
            <a:off x="10835640" y="5266944"/>
            <a:ext cx="868680" cy="274320"/>
          </a:xfrm>
          <a:prstGeom prst="rect">
            <a:avLst/>
          </a:prstGeom>
          <a:solidFill>
            <a:srgbClr val="888888"/>
          </a:solidFill>
          <a:ln w="12700">
            <a:solidFill>
              <a:srgbClr val="888888"/>
            </a:solidFill>
            <a:prstDash val="solid"/>
          </a:ln>
        </p:spPr>
      </p:sp>
      <p:sp>
        <p:nvSpPr>
          <p:cNvPr id="53" name="Text 51"/>
          <p:cNvSpPr/>
          <p:nvPr/>
        </p:nvSpPr>
        <p:spPr>
          <a:xfrm>
            <a:off x="10835640" y="5285232"/>
            <a:ext cx="868680" cy="237744"/>
          </a:xfrm>
          <a:prstGeom prst="rect">
            <a:avLst/>
          </a:prstGeom>
          <a:noFill/>
          <a:ln/>
        </p:spPr>
        <p:txBody>
          <a:bodyPr wrap="square" lIns="0" tIns="0" rIns="0" bIns="0" rtlCol="0" anchor="ctr"/>
          <a:lstStyle/>
          <a:p>
            <a:pPr marL="0" indent="0" algn="ctr">
              <a:buNone/>
            </a:pPr>
            <a:r>
              <a:rPr lang="en-US" sz="800" b="1" kern="0" spc="100" dirty="0">
                <a:solidFill>
                  <a:srgbClr val="FFFFFF"/>
                </a:solidFill>
                <a:latin typeface="Arial" pitchFamily="34" charset="0"/>
                <a:ea typeface="Arial" pitchFamily="34" charset="-122"/>
                <a:cs typeface="Arial" pitchFamily="34" charset="-120"/>
              </a:rPr>
              <a:t>LOW</a:t>
            </a:r>
            <a:endParaRPr lang="en-US" sz="800" dirty="0"/>
          </a:p>
        </p:txBody>
      </p:sp>
      <p:sp>
        <p:nvSpPr>
          <p:cNvPr id="54" name="Text 52"/>
          <p:cNvSpPr/>
          <p:nvPr/>
        </p:nvSpPr>
        <p:spPr>
          <a:xfrm>
            <a:off x="6309360" y="5230368"/>
            <a:ext cx="4434840" cy="274320"/>
          </a:xfrm>
          <a:prstGeom prst="rect">
            <a:avLst/>
          </a:prstGeom>
          <a:noFill/>
          <a:ln/>
        </p:spPr>
        <p:txBody>
          <a:bodyPr wrap="square" lIns="0" tIns="0" rIns="0" bIns="0" rtlCol="0" anchor="ctr"/>
          <a:lstStyle/>
          <a:p>
            <a:pPr marL="0" indent="0">
              <a:buNone/>
            </a:pPr>
            <a:r>
              <a:rPr lang="en-US" sz="1050" b="1" dirty="0">
                <a:solidFill>
                  <a:srgbClr val="1A1A1A"/>
                </a:solidFill>
                <a:latin typeface="Arial" pitchFamily="34" charset="0"/>
                <a:ea typeface="Arial" pitchFamily="34" charset="-122"/>
                <a:cs typeface="Arial" pitchFamily="34" charset="-120"/>
              </a:rPr>
              <a:t>05  Revitalize Low-Performing Categories</a:t>
            </a:r>
            <a:endParaRPr lang="en-US" sz="1050" dirty="0"/>
          </a:p>
        </p:txBody>
      </p:sp>
      <p:sp>
        <p:nvSpPr>
          <p:cNvPr id="55" name="Text 53"/>
          <p:cNvSpPr/>
          <p:nvPr/>
        </p:nvSpPr>
        <p:spPr>
          <a:xfrm>
            <a:off x="6309360" y="5522976"/>
            <a:ext cx="4754880" cy="457200"/>
          </a:xfrm>
          <a:prstGeom prst="rect">
            <a:avLst/>
          </a:prstGeom>
          <a:noFill/>
          <a:ln/>
        </p:spPr>
        <p:txBody>
          <a:bodyPr wrap="square" lIns="0" tIns="0" rIns="0" bIns="0" rtlCol="0" anchor="t"/>
          <a:lstStyle/>
          <a:p>
            <a:pPr marL="0" indent="0">
              <a:buNone/>
            </a:pPr>
            <a:r>
              <a:rPr lang="en-US" sz="950" dirty="0">
                <a:solidFill>
                  <a:srgbClr val="4A4A4A"/>
                </a:solidFill>
                <a:latin typeface="Calibri" pitchFamily="34" charset="0"/>
                <a:ea typeface="Calibri" pitchFamily="34" charset="-122"/>
                <a:cs typeface="Calibri" pitchFamily="34" charset="-120"/>
              </a:rPr>
              <a:t>Shakes (1.8%) and Salads (1.9%) are underperforming. Test product reformulations, seasonal items, or promotional bundling.</a:t>
            </a:r>
            <a:endParaRPr lang="en-US" sz="950" dirty="0"/>
          </a:p>
        </p:txBody>
      </p:sp>
      <p:sp>
        <p:nvSpPr>
          <p:cNvPr id="56" name="Shape 54"/>
          <p:cNvSpPr/>
          <p:nvPr/>
        </p:nvSpPr>
        <p:spPr>
          <a:xfrm>
            <a:off x="0" y="6537960"/>
            <a:ext cx="12161520" cy="320040"/>
          </a:xfrm>
          <a:prstGeom prst="rect">
            <a:avLst/>
          </a:prstGeom>
          <a:solidFill>
            <a:srgbClr val="DA0000"/>
          </a:solidFill>
          <a:ln w="12700">
            <a:solidFill>
              <a:srgbClr val="DA0000"/>
            </a:solidFill>
            <a:prstDash val="solid"/>
          </a:ln>
        </p:spPr>
      </p:sp>
      <p:sp>
        <p:nvSpPr>
          <p:cNvPr id="57" name="Text 55"/>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Business Insights &amp; Recommendations  |  Prepared by: Ranjeet Anada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DA0000"/>
          </a:solidFill>
          <a:ln w="12700">
            <a:solidFill>
              <a:srgbClr val="DA0000"/>
            </a:solidFill>
            <a:prstDash val="solid"/>
          </a:ln>
        </p:spPr>
      </p:sp>
      <p:sp>
        <p:nvSpPr>
          <p:cNvPr id="3" name="Text 1"/>
          <p:cNvSpPr/>
          <p:nvPr/>
        </p:nvSpPr>
        <p:spPr>
          <a:xfrm>
            <a:off x="457200" y="73152"/>
            <a:ext cx="9144000" cy="457200"/>
          </a:xfrm>
          <a:prstGeom prst="rect">
            <a:avLst/>
          </a:prstGeom>
          <a:noFill/>
          <a:ln/>
        </p:spPr>
        <p:txBody>
          <a:bodyPr wrap="square" lIns="0" tIns="0" rIns="0" bIns="0"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DATA METHODOLOGY &amp; FEATURE ENGINEERING</a:t>
            </a:r>
            <a:endParaRPr lang="en-US" sz="2400" dirty="0"/>
          </a:p>
        </p:txBody>
      </p:sp>
      <p:sp>
        <p:nvSpPr>
          <p:cNvPr id="4" name="Text 2"/>
          <p:cNvSpPr/>
          <p:nvPr/>
        </p:nvSpPr>
        <p:spPr>
          <a:xfrm>
            <a:off x="457200" y="530352"/>
            <a:ext cx="9144000" cy="274320"/>
          </a:xfrm>
          <a:prstGeom prst="rect">
            <a:avLst/>
          </a:prstGeom>
          <a:noFill/>
          <a:ln/>
        </p:spPr>
        <p:txBody>
          <a:bodyPr wrap="square" lIns="0" tIns="0" rIns="0" bIns="0" rtlCol="0" anchor="ctr"/>
          <a:lstStyle/>
          <a:p>
            <a:pPr marL="0" indent="0">
              <a:buNone/>
            </a:pPr>
            <a:r>
              <a:rPr lang="en-US" sz="1100" i="1" dirty="0">
                <a:solidFill>
                  <a:srgbClr val="FFC72C"/>
                </a:solidFill>
                <a:latin typeface="Calibri" pitchFamily="34" charset="0"/>
                <a:ea typeface="Calibri" pitchFamily="34" charset="-122"/>
                <a:cs typeface="Calibri" pitchFamily="34" charset="-120"/>
              </a:rPr>
              <a:t>Power Query Data Cleaning  |  Feature Engineering  |  Table Relationships</a:t>
            </a:r>
            <a:endParaRPr lang="en-US" sz="1100" dirty="0"/>
          </a:p>
        </p:txBody>
      </p:sp>
      <p:sp>
        <p:nvSpPr>
          <p:cNvPr id="5" name="Text 3"/>
          <p:cNvSpPr/>
          <p:nvPr/>
        </p:nvSpPr>
        <p:spPr>
          <a:xfrm>
            <a:off x="11247120" y="182880"/>
            <a:ext cx="640080" cy="548640"/>
          </a:xfrm>
          <a:prstGeom prst="rect">
            <a:avLst/>
          </a:prstGeom>
          <a:noFill/>
          <a:ln/>
        </p:spPr>
        <p:txBody>
          <a:bodyPr wrap="square" lIns="0" tIns="0" rIns="0" bIns="0" rtlCol="0" anchor="ctr"/>
          <a:lstStyle/>
          <a:p>
            <a:pPr marL="0" indent="0" algn="ctr">
              <a:buNone/>
            </a:pPr>
            <a:r>
              <a:rPr lang="en-US" sz="2800" b="1" dirty="0">
                <a:solidFill>
                  <a:srgbClr val="FFC72C"/>
                </a:solidFill>
                <a:latin typeface="Arial Black" pitchFamily="34" charset="0"/>
                <a:ea typeface="Arial Black" pitchFamily="34" charset="-122"/>
                <a:cs typeface="Arial Black" pitchFamily="34" charset="-120"/>
              </a:rPr>
              <a:t>08</a:t>
            </a:r>
            <a:endParaRPr lang="en-US" sz="2800" dirty="0"/>
          </a:p>
        </p:txBody>
      </p:sp>
      <p:sp>
        <p:nvSpPr>
          <p:cNvPr id="6" name="Shape 4"/>
          <p:cNvSpPr/>
          <p:nvPr/>
        </p:nvSpPr>
        <p:spPr>
          <a:xfrm>
            <a:off x="320040" y="987552"/>
            <a:ext cx="5394960" cy="320040"/>
          </a:xfrm>
          <a:prstGeom prst="rect">
            <a:avLst/>
          </a:prstGeom>
          <a:solidFill>
            <a:srgbClr val="DA0000"/>
          </a:solidFill>
          <a:ln w="12700">
            <a:solidFill>
              <a:srgbClr val="DA0000"/>
            </a:solidFill>
            <a:prstDash val="solid"/>
          </a:ln>
        </p:spPr>
      </p:sp>
      <p:sp>
        <p:nvSpPr>
          <p:cNvPr id="7" name="Text 5"/>
          <p:cNvSpPr/>
          <p:nvPr/>
        </p:nvSpPr>
        <p:spPr>
          <a:xfrm>
            <a:off x="320040" y="996696"/>
            <a:ext cx="5394960" cy="283464"/>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Arial" pitchFamily="34" charset="0"/>
                <a:ea typeface="Arial" pitchFamily="34" charset="-122"/>
                <a:cs typeface="Arial" pitchFamily="34" charset="-120"/>
              </a:rPr>
              <a:t>🧹  DATA CLEANING STEPS (Power Query)</a:t>
            </a:r>
            <a:endParaRPr lang="en-US" sz="1100" dirty="0"/>
          </a:p>
        </p:txBody>
      </p:sp>
      <p:sp>
        <p:nvSpPr>
          <p:cNvPr id="8" name="Shape 6"/>
          <p:cNvSpPr/>
          <p:nvPr/>
        </p:nvSpPr>
        <p:spPr>
          <a:xfrm>
            <a:off x="320040" y="1371600"/>
            <a:ext cx="2606040" cy="804672"/>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9" name="Shape 7"/>
          <p:cNvSpPr/>
          <p:nvPr/>
        </p:nvSpPr>
        <p:spPr>
          <a:xfrm>
            <a:off x="320040" y="1371600"/>
            <a:ext cx="347472" cy="804672"/>
          </a:xfrm>
          <a:prstGeom prst="rect">
            <a:avLst/>
          </a:prstGeom>
          <a:solidFill>
            <a:srgbClr val="DA0000"/>
          </a:solidFill>
          <a:ln w="12700">
            <a:solidFill>
              <a:srgbClr val="DA0000"/>
            </a:solidFill>
            <a:prstDash val="solid"/>
          </a:ln>
        </p:spPr>
      </p:sp>
      <p:sp>
        <p:nvSpPr>
          <p:cNvPr id="10" name="Text 8"/>
          <p:cNvSpPr/>
          <p:nvPr/>
        </p:nvSpPr>
        <p:spPr>
          <a:xfrm>
            <a:off x="320040" y="1572768"/>
            <a:ext cx="347472"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11" name="Text 9"/>
          <p:cNvSpPr/>
          <p:nvPr/>
        </p:nvSpPr>
        <p:spPr>
          <a:xfrm>
            <a:off x="731520" y="1426464"/>
            <a:ext cx="2121408" cy="274320"/>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Removed Null Values</a:t>
            </a:r>
            <a:endParaRPr lang="en-US" sz="1000" dirty="0"/>
          </a:p>
        </p:txBody>
      </p:sp>
      <p:sp>
        <p:nvSpPr>
          <p:cNvPr id="12" name="Text 10"/>
          <p:cNvSpPr/>
          <p:nvPr/>
        </p:nvSpPr>
        <p:spPr>
          <a:xfrm>
            <a:off x="731520" y="1700784"/>
            <a:ext cx="2121408" cy="420624"/>
          </a:xfrm>
          <a:prstGeom prst="rect">
            <a:avLst/>
          </a:prstGeom>
          <a:noFill/>
          <a:ln/>
        </p:spPr>
        <p:txBody>
          <a:bodyPr wrap="square" lIns="0" tIns="0" rIns="0" bIns="0" rtlCol="0" anchor="t"/>
          <a:lstStyle/>
          <a:p>
            <a:pPr marL="0" indent="0">
              <a:buNone/>
            </a:pPr>
            <a:r>
              <a:rPr lang="en-US" sz="850" dirty="0">
                <a:solidFill>
                  <a:srgbClr val="4A4A4A"/>
                </a:solidFill>
                <a:latin typeface="Calibri" pitchFamily="34" charset="0"/>
                <a:ea typeface="Calibri" pitchFamily="34" charset="-122"/>
                <a:cs typeface="Calibri" pitchFamily="34" charset="-120"/>
              </a:rPr>
              <a:t>All blank/empty rows identified and removed from both order_details and menu_items tables</a:t>
            </a:r>
            <a:endParaRPr lang="en-US" sz="850" dirty="0"/>
          </a:p>
        </p:txBody>
      </p:sp>
      <p:sp>
        <p:nvSpPr>
          <p:cNvPr id="13" name="Shape 11"/>
          <p:cNvSpPr/>
          <p:nvPr/>
        </p:nvSpPr>
        <p:spPr>
          <a:xfrm>
            <a:off x="3063240" y="1371600"/>
            <a:ext cx="2606040" cy="804672"/>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4" name="Shape 12"/>
          <p:cNvSpPr/>
          <p:nvPr/>
        </p:nvSpPr>
        <p:spPr>
          <a:xfrm>
            <a:off x="3063240" y="1371600"/>
            <a:ext cx="347472" cy="804672"/>
          </a:xfrm>
          <a:prstGeom prst="rect">
            <a:avLst/>
          </a:prstGeom>
          <a:solidFill>
            <a:srgbClr val="DA0000"/>
          </a:solidFill>
          <a:ln w="12700">
            <a:solidFill>
              <a:srgbClr val="DA0000"/>
            </a:solidFill>
            <a:prstDash val="solid"/>
          </a:ln>
        </p:spPr>
      </p:sp>
      <p:sp>
        <p:nvSpPr>
          <p:cNvPr id="15" name="Text 13"/>
          <p:cNvSpPr/>
          <p:nvPr/>
        </p:nvSpPr>
        <p:spPr>
          <a:xfrm>
            <a:off x="3063240" y="1572768"/>
            <a:ext cx="347472"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16" name="Text 14"/>
          <p:cNvSpPr/>
          <p:nvPr/>
        </p:nvSpPr>
        <p:spPr>
          <a:xfrm>
            <a:off x="3474720" y="1426464"/>
            <a:ext cx="2121408" cy="274320"/>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Fixed Date Formats</a:t>
            </a:r>
            <a:endParaRPr lang="en-US" sz="1000" dirty="0"/>
          </a:p>
        </p:txBody>
      </p:sp>
      <p:sp>
        <p:nvSpPr>
          <p:cNvPr id="17" name="Text 15"/>
          <p:cNvSpPr/>
          <p:nvPr/>
        </p:nvSpPr>
        <p:spPr>
          <a:xfrm>
            <a:off x="3474720" y="1700784"/>
            <a:ext cx="2121408" cy="420624"/>
          </a:xfrm>
          <a:prstGeom prst="rect">
            <a:avLst/>
          </a:prstGeom>
          <a:noFill/>
          <a:ln/>
        </p:spPr>
        <p:txBody>
          <a:bodyPr wrap="square" lIns="0" tIns="0" rIns="0" bIns="0" rtlCol="0" anchor="t"/>
          <a:lstStyle/>
          <a:p>
            <a:pPr marL="0" indent="0">
              <a:buNone/>
            </a:pPr>
            <a:r>
              <a:rPr lang="en-US" sz="850" dirty="0">
                <a:solidFill>
                  <a:srgbClr val="4A4A4A"/>
                </a:solidFill>
                <a:latin typeface="Calibri" pitchFamily="34" charset="0"/>
                <a:ea typeface="Calibri" pitchFamily="34" charset="-122"/>
                <a:cs typeface="Calibri" pitchFamily="34" charset="-120"/>
              </a:rPr>
              <a:t>Standardized order_date column to consistent DD/MM/YYYY date format across all records</a:t>
            </a:r>
            <a:endParaRPr lang="en-US" sz="850" dirty="0"/>
          </a:p>
        </p:txBody>
      </p:sp>
      <p:sp>
        <p:nvSpPr>
          <p:cNvPr id="18" name="Shape 16"/>
          <p:cNvSpPr/>
          <p:nvPr/>
        </p:nvSpPr>
        <p:spPr>
          <a:xfrm>
            <a:off x="320040" y="2267712"/>
            <a:ext cx="2606040" cy="804672"/>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19" name="Shape 17"/>
          <p:cNvSpPr/>
          <p:nvPr/>
        </p:nvSpPr>
        <p:spPr>
          <a:xfrm>
            <a:off x="320040" y="2267712"/>
            <a:ext cx="347472" cy="804672"/>
          </a:xfrm>
          <a:prstGeom prst="rect">
            <a:avLst/>
          </a:prstGeom>
          <a:solidFill>
            <a:srgbClr val="DA0000"/>
          </a:solidFill>
          <a:ln w="12700">
            <a:solidFill>
              <a:srgbClr val="DA0000"/>
            </a:solidFill>
            <a:prstDash val="solid"/>
          </a:ln>
        </p:spPr>
      </p:sp>
      <p:sp>
        <p:nvSpPr>
          <p:cNvPr id="20" name="Text 18"/>
          <p:cNvSpPr/>
          <p:nvPr/>
        </p:nvSpPr>
        <p:spPr>
          <a:xfrm>
            <a:off x="320040" y="2468880"/>
            <a:ext cx="347472"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21" name="Text 19"/>
          <p:cNvSpPr/>
          <p:nvPr/>
        </p:nvSpPr>
        <p:spPr>
          <a:xfrm>
            <a:off x="731520" y="2322576"/>
            <a:ext cx="2121408" cy="274320"/>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Converted Data Types</a:t>
            </a:r>
            <a:endParaRPr lang="en-US" sz="1000" dirty="0"/>
          </a:p>
        </p:txBody>
      </p:sp>
      <p:sp>
        <p:nvSpPr>
          <p:cNvPr id="22" name="Text 20"/>
          <p:cNvSpPr/>
          <p:nvPr/>
        </p:nvSpPr>
        <p:spPr>
          <a:xfrm>
            <a:off x="731520" y="2596896"/>
            <a:ext cx="2121408" cy="420624"/>
          </a:xfrm>
          <a:prstGeom prst="rect">
            <a:avLst/>
          </a:prstGeom>
          <a:noFill/>
          <a:ln/>
        </p:spPr>
        <p:txBody>
          <a:bodyPr wrap="square" lIns="0" tIns="0" rIns="0" bIns="0" rtlCol="0" anchor="t"/>
          <a:lstStyle/>
          <a:p>
            <a:pPr marL="0" indent="0">
              <a:buNone/>
            </a:pPr>
            <a:r>
              <a:rPr lang="en-US" sz="850" dirty="0">
                <a:solidFill>
                  <a:srgbClr val="4A4A4A"/>
                </a:solidFill>
                <a:latin typeface="Calibri" pitchFamily="34" charset="0"/>
                <a:ea typeface="Calibri" pitchFamily="34" charset="-122"/>
                <a:cs typeface="Calibri" pitchFamily="34" charset="-120"/>
              </a:rPr>
              <a:t>Price converted to Decimal, IDs to Integer, dates to Date type, times to Time type</a:t>
            </a:r>
            <a:endParaRPr lang="en-US" sz="850" dirty="0"/>
          </a:p>
        </p:txBody>
      </p:sp>
      <p:sp>
        <p:nvSpPr>
          <p:cNvPr id="23" name="Shape 21"/>
          <p:cNvSpPr/>
          <p:nvPr/>
        </p:nvSpPr>
        <p:spPr>
          <a:xfrm>
            <a:off x="3063240" y="2267712"/>
            <a:ext cx="2606040" cy="804672"/>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4" name="Shape 22"/>
          <p:cNvSpPr/>
          <p:nvPr/>
        </p:nvSpPr>
        <p:spPr>
          <a:xfrm>
            <a:off x="3063240" y="2267712"/>
            <a:ext cx="347472" cy="804672"/>
          </a:xfrm>
          <a:prstGeom prst="rect">
            <a:avLst/>
          </a:prstGeom>
          <a:solidFill>
            <a:srgbClr val="DA0000"/>
          </a:solidFill>
          <a:ln w="12700">
            <a:solidFill>
              <a:srgbClr val="DA0000"/>
            </a:solidFill>
            <a:prstDash val="solid"/>
          </a:ln>
        </p:spPr>
      </p:sp>
      <p:sp>
        <p:nvSpPr>
          <p:cNvPr id="25" name="Text 23"/>
          <p:cNvSpPr/>
          <p:nvPr/>
        </p:nvSpPr>
        <p:spPr>
          <a:xfrm>
            <a:off x="3063240" y="2468880"/>
            <a:ext cx="347472"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04</a:t>
            </a:r>
            <a:endParaRPr lang="en-US" sz="1600" dirty="0"/>
          </a:p>
        </p:txBody>
      </p:sp>
      <p:sp>
        <p:nvSpPr>
          <p:cNvPr id="26" name="Text 24"/>
          <p:cNvSpPr/>
          <p:nvPr/>
        </p:nvSpPr>
        <p:spPr>
          <a:xfrm>
            <a:off x="3474720" y="2322576"/>
            <a:ext cx="2121408" cy="274320"/>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Trimmed Text Spaces</a:t>
            </a:r>
            <a:endParaRPr lang="en-US" sz="1000" dirty="0"/>
          </a:p>
        </p:txBody>
      </p:sp>
      <p:sp>
        <p:nvSpPr>
          <p:cNvPr id="27" name="Text 25"/>
          <p:cNvSpPr/>
          <p:nvPr/>
        </p:nvSpPr>
        <p:spPr>
          <a:xfrm>
            <a:off x="3474720" y="2596896"/>
            <a:ext cx="2121408" cy="420624"/>
          </a:xfrm>
          <a:prstGeom prst="rect">
            <a:avLst/>
          </a:prstGeom>
          <a:noFill/>
          <a:ln/>
        </p:spPr>
        <p:txBody>
          <a:bodyPr wrap="square" lIns="0" tIns="0" rIns="0" bIns="0" rtlCol="0" anchor="t"/>
          <a:lstStyle/>
          <a:p>
            <a:pPr marL="0" indent="0">
              <a:buNone/>
            </a:pPr>
            <a:r>
              <a:rPr lang="en-US" sz="850" dirty="0">
                <a:solidFill>
                  <a:srgbClr val="4A4A4A"/>
                </a:solidFill>
                <a:latin typeface="Calibri" pitchFamily="34" charset="0"/>
                <a:ea typeface="Calibri" pitchFamily="34" charset="-122"/>
                <a:cs typeface="Calibri" pitchFamily="34" charset="-120"/>
              </a:rPr>
              <a:t>Removed leading/trailing whitespace from item_name and category columns</a:t>
            </a:r>
            <a:endParaRPr lang="en-US" sz="850" dirty="0"/>
          </a:p>
        </p:txBody>
      </p:sp>
      <p:sp>
        <p:nvSpPr>
          <p:cNvPr id="28" name="Shape 26"/>
          <p:cNvSpPr/>
          <p:nvPr/>
        </p:nvSpPr>
        <p:spPr>
          <a:xfrm>
            <a:off x="320040" y="3163824"/>
            <a:ext cx="2606040" cy="804672"/>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29" name="Shape 27"/>
          <p:cNvSpPr/>
          <p:nvPr/>
        </p:nvSpPr>
        <p:spPr>
          <a:xfrm>
            <a:off x="320040" y="3163824"/>
            <a:ext cx="347472" cy="804672"/>
          </a:xfrm>
          <a:prstGeom prst="rect">
            <a:avLst/>
          </a:prstGeom>
          <a:solidFill>
            <a:srgbClr val="DA0000"/>
          </a:solidFill>
          <a:ln w="12700">
            <a:solidFill>
              <a:srgbClr val="DA0000"/>
            </a:solidFill>
            <a:prstDash val="solid"/>
          </a:ln>
        </p:spPr>
      </p:sp>
      <p:sp>
        <p:nvSpPr>
          <p:cNvPr id="30" name="Text 28"/>
          <p:cNvSpPr/>
          <p:nvPr/>
        </p:nvSpPr>
        <p:spPr>
          <a:xfrm>
            <a:off x="320040" y="3364992"/>
            <a:ext cx="347472"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05</a:t>
            </a:r>
            <a:endParaRPr lang="en-US" sz="1600" dirty="0"/>
          </a:p>
        </p:txBody>
      </p:sp>
      <p:sp>
        <p:nvSpPr>
          <p:cNvPr id="31" name="Text 29"/>
          <p:cNvSpPr/>
          <p:nvPr/>
        </p:nvSpPr>
        <p:spPr>
          <a:xfrm>
            <a:off x="731520" y="3218688"/>
            <a:ext cx="2121408" cy="274320"/>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Merged Tables</a:t>
            </a:r>
            <a:endParaRPr lang="en-US" sz="1000" dirty="0"/>
          </a:p>
        </p:txBody>
      </p:sp>
      <p:sp>
        <p:nvSpPr>
          <p:cNvPr id="32" name="Text 30"/>
          <p:cNvSpPr/>
          <p:nvPr/>
        </p:nvSpPr>
        <p:spPr>
          <a:xfrm>
            <a:off x="731520" y="3493008"/>
            <a:ext cx="2121408" cy="420624"/>
          </a:xfrm>
          <a:prstGeom prst="rect">
            <a:avLst/>
          </a:prstGeom>
          <a:noFill/>
          <a:ln/>
        </p:spPr>
        <p:txBody>
          <a:bodyPr wrap="square" lIns="0" tIns="0" rIns="0" bIns="0" rtlCol="0" anchor="t"/>
          <a:lstStyle/>
          <a:p>
            <a:pPr marL="0" indent="0">
              <a:buNone/>
            </a:pPr>
            <a:r>
              <a:rPr lang="en-US" sz="850" dirty="0">
                <a:solidFill>
                  <a:srgbClr val="4A4A4A"/>
                </a:solidFill>
                <a:latin typeface="Calibri" pitchFamily="34" charset="0"/>
                <a:ea typeface="Calibri" pitchFamily="34" charset="-122"/>
                <a:cs typeface="Calibri" pitchFamily="34" charset="-120"/>
              </a:rPr>
              <a:t>Left-joined order_details with menu_items on item_id = menu_item_id for complete analysis</a:t>
            </a:r>
            <a:endParaRPr lang="en-US" sz="850" dirty="0"/>
          </a:p>
        </p:txBody>
      </p:sp>
      <p:sp>
        <p:nvSpPr>
          <p:cNvPr id="33" name="Shape 31"/>
          <p:cNvSpPr/>
          <p:nvPr/>
        </p:nvSpPr>
        <p:spPr>
          <a:xfrm>
            <a:off x="3063240" y="3163824"/>
            <a:ext cx="2606040" cy="804672"/>
          </a:xfrm>
          <a:prstGeom prst="rect">
            <a:avLst/>
          </a:prstGeom>
          <a:solidFill>
            <a:srgbClr val="FFFFFF"/>
          </a:solidFill>
          <a:ln w="12700">
            <a:solidFill>
              <a:srgbClr val="DDDDDD"/>
            </a:solidFill>
            <a:prstDash val="solid"/>
          </a:ln>
          <a:effectLst>
            <a:outerShdw blurRad="101600" dist="38100" dir="8100000" algn="bl" rotWithShape="0">
              <a:srgbClr val="000000">
                <a:alpha val="12000"/>
              </a:srgbClr>
            </a:outerShdw>
          </a:effectLst>
        </p:spPr>
      </p:sp>
      <p:sp>
        <p:nvSpPr>
          <p:cNvPr id="34" name="Shape 32"/>
          <p:cNvSpPr/>
          <p:nvPr/>
        </p:nvSpPr>
        <p:spPr>
          <a:xfrm>
            <a:off x="3063240" y="3163824"/>
            <a:ext cx="347472" cy="804672"/>
          </a:xfrm>
          <a:prstGeom prst="rect">
            <a:avLst/>
          </a:prstGeom>
          <a:solidFill>
            <a:srgbClr val="DA0000"/>
          </a:solidFill>
          <a:ln w="12700">
            <a:solidFill>
              <a:srgbClr val="DA0000"/>
            </a:solidFill>
            <a:prstDash val="solid"/>
          </a:ln>
        </p:spPr>
      </p:sp>
      <p:sp>
        <p:nvSpPr>
          <p:cNvPr id="35" name="Text 33"/>
          <p:cNvSpPr/>
          <p:nvPr/>
        </p:nvSpPr>
        <p:spPr>
          <a:xfrm>
            <a:off x="3063240" y="3364992"/>
            <a:ext cx="347472"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06</a:t>
            </a:r>
            <a:endParaRPr lang="en-US" sz="1600" dirty="0"/>
          </a:p>
        </p:txBody>
      </p:sp>
      <p:sp>
        <p:nvSpPr>
          <p:cNvPr id="36" name="Text 34"/>
          <p:cNvSpPr/>
          <p:nvPr/>
        </p:nvSpPr>
        <p:spPr>
          <a:xfrm>
            <a:off x="3474720" y="3218688"/>
            <a:ext cx="2121408" cy="274320"/>
          </a:xfrm>
          <a:prstGeom prst="rect">
            <a:avLst/>
          </a:prstGeom>
          <a:noFill/>
          <a:ln/>
        </p:spPr>
        <p:txBody>
          <a:bodyPr wrap="square" lIns="0" tIns="0" rIns="0" bIns="0" rtlCol="0" anchor="ctr"/>
          <a:lstStyle/>
          <a:p>
            <a:pPr marL="0" indent="0">
              <a:buNone/>
            </a:pPr>
            <a:r>
              <a:rPr lang="en-US" sz="1000" b="1" dirty="0">
                <a:solidFill>
                  <a:srgbClr val="1A1A1A"/>
                </a:solidFill>
                <a:latin typeface="Arial" pitchFamily="34" charset="0"/>
                <a:ea typeface="Arial" pitchFamily="34" charset="-122"/>
                <a:cs typeface="Arial" pitchFamily="34" charset="-120"/>
              </a:rPr>
              <a:t>Validated Integrity</a:t>
            </a:r>
            <a:endParaRPr lang="en-US" sz="1000" dirty="0"/>
          </a:p>
        </p:txBody>
      </p:sp>
      <p:sp>
        <p:nvSpPr>
          <p:cNvPr id="37" name="Text 35"/>
          <p:cNvSpPr/>
          <p:nvPr/>
        </p:nvSpPr>
        <p:spPr>
          <a:xfrm>
            <a:off x="3474720" y="3493008"/>
            <a:ext cx="2121408" cy="420624"/>
          </a:xfrm>
          <a:prstGeom prst="rect">
            <a:avLst/>
          </a:prstGeom>
          <a:noFill/>
          <a:ln/>
        </p:spPr>
        <p:txBody>
          <a:bodyPr wrap="square" lIns="0" tIns="0" rIns="0" bIns="0" rtlCol="0" anchor="t"/>
          <a:lstStyle/>
          <a:p>
            <a:pPr marL="0" indent="0">
              <a:buNone/>
            </a:pPr>
            <a:r>
              <a:rPr lang="en-US" sz="850" dirty="0">
                <a:solidFill>
                  <a:srgbClr val="4A4A4A"/>
                </a:solidFill>
                <a:latin typeface="Calibri" pitchFamily="34" charset="0"/>
                <a:ea typeface="Calibri" pitchFamily="34" charset="-122"/>
                <a:cs typeface="Calibri" pitchFamily="34" charset="-120"/>
              </a:rPr>
              <a:t>Verified all 5,343 orders matched to valid menu items with no orphan records</a:t>
            </a:r>
            <a:endParaRPr lang="en-US" sz="850" dirty="0"/>
          </a:p>
        </p:txBody>
      </p:sp>
      <p:sp>
        <p:nvSpPr>
          <p:cNvPr id="38" name="Shape 36"/>
          <p:cNvSpPr/>
          <p:nvPr/>
        </p:nvSpPr>
        <p:spPr>
          <a:xfrm>
            <a:off x="6035040" y="987552"/>
            <a:ext cx="5806440" cy="320040"/>
          </a:xfrm>
          <a:prstGeom prst="rect">
            <a:avLst/>
          </a:prstGeom>
          <a:solidFill>
            <a:srgbClr val="E5A800"/>
          </a:solidFill>
          <a:ln w="12700">
            <a:solidFill>
              <a:srgbClr val="E5A800"/>
            </a:solidFill>
            <a:prstDash val="solid"/>
          </a:ln>
        </p:spPr>
      </p:sp>
      <p:sp>
        <p:nvSpPr>
          <p:cNvPr id="39" name="Text 37"/>
          <p:cNvSpPr/>
          <p:nvPr/>
        </p:nvSpPr>
        <p:spPr>
          <a:xfrm>
            <a:off x="6035040" y="996696"/>
            <a:ext cx="5806440" cy="283464"/>
          </a:xfrm>
          <a:prstGeom prst="rect">
            <a:avLst/>
          </a:prstGeom>
          <a:noFill/>
          <a:ln/>
        </p:spPr>
        <p:txBody>
          <a:bodyPr wrap="square" lIns="0" tIns="0" rIns="0" bIns="0" rtlCol="0" anchor="ctr"/>
          <a:lstStyle/>
          <a:p>
            <a:pPr marL="0" indent="0" algn="ctr">
              <a:buNone/>
            </a:pPr>
            <a:r>
              <a:rPr lang="en-US" sz="1100" b="1" kern="0" spc="100" dirty="0">
                <a:solidFill>
                  <a:srgbClr val="1A1A1A"/>
                </a:solidFill>
                <a:latin typeface="Arial" pitchFamily="34" charset="0"/>
                <a:ea typeface="Arial" pitchFamily="34" charset="-122"/>
                <a:cs typeface="Arial" pitchFamily="34" charset="-120"/>
              </a:rPr>
              <a:t>⚙  FEATURE ENGINEERING (Calculated Columns)</a:t>
            </a:r>
            <a:endParaRPr lang="en-US" sz="1100" dirty="0"/>
          </a:p>
        </p:txBody>
      </p:sp>
      <p:sp>
        <p:nvSpPr>
          <p:cNvPr id="40" name="Shape 38"/>
          <p:cNvSpPr/>
          <p:nvPr/>
        </p:nvSpPr>
        <p:spPr>
          <a:xfrm>
            <a:off x="6035040" y="1371600"/>
            <a:ext cx="5806440" cy="804672"/>
          </a:xfrm>
          <a:prstGeom prst="rect">
            <a:avLst/>
          </a:prstGeom>
          <a:solidFill>
            <a:srgbClr val="FFFFFF"/>
          </a:solidFill>
          <a:ln w="12700">
            <a:solidFill>
              <a:srgbClr val="EEEEEE"/>
            </a:solidFill>
            <a:prstDash val="solid"/>
          </a:ln>
        </p:spPr>
      </p:sp>
      <p:sp>
        <p:nvSpPr>
          <p:cNvPr id="41" name="Shape 39"/>
          <p:cNvSpPr/>
          <p:nvPr/>
        </p:nvSpPr>
        <p:spPr>
          <a:xfrm>
            <a:off x="6035040" y="1371600"/>
            <a:ext cx="73152" cy="804672"/>
          </a:xfrm>
          <a:prstGeom prst="rect">
            <a:avLst/>
          </a:prstGeom>
          <a:solidFill>
            <a:srgbClr val="FFC72C"/>
          </a:solidFill>
          <a:ln w="12700">
            <a:solidFill>
              <a:srgbClr val="FFC72C"/>
            </a:solidFill>
            <a:prstDash val="solid"/>
          </a:ln>
        </p:spPr>
      </p:sp>
      <p:sp>
        <p:nvSpPr>
          <p:cNvPr id="42" name="Text 40"/>
          <p:cNvSpPr/>
          <p:nvPr/>
        </p:nvSpPr>
        <p:spPr>
          <a:xfrm>
            <a:off x="6144768" y="1426464"/>
            <a:ext cx="1280160" cy="27432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Month Name</a:t>
            </a:r>
            <a:endParaRPr lang="en-US" sz="1050" dirty="0"/>
          </a:p>
        </p:txBody>
      </p:sp>
      <p:sp>
        <p:nvSpPr>
          <p:cNvPr id="43" name="Text 41"/>
          <p:cNvSpPr/>
          <p:nvPr/>
        </p:nvSpPr>
        <p:spPr>
          <a:xfrm>
            <a:off x="7452360" y="1426464"/>
            <a:ext cx="2286000" cy="274320"/>
          </a:xfrm>
          <a:prstGeom prst="rect">
            <a:avLst/>
          </a:prstGeom>
          <a:noFill/>
          <a:ln/>
        </p:spPr>
        <p:txBody>
          <a:bodyPr wrap="square" lIns="0" tIns="0" rIns="0" bIns="0" rtlCol="0" anchor="ctr"/>
          <a:lstStyle/>
          <a:p>
            <a:pPr marL="0" indent="0">
              <a:buNone/>
            </a:pPr>
            <a:r>
              <a:rPr lang="en-US" sz="900" i="1" dirty="0">
                <a:solidFill>
                  <a:srgbClr val="4A4A4A"/>
                </a:solidFill>
                <a:latin typeface="Calibri" pitchFamily="34" charset="0"/>
                <a:ea typeface="Calibri" pitchFamily="34" charset="-122"/>
                <a:cs typeface="Calibri" pitchFamily="34" charset="-120"/>
              </a:rPr>
              <a:t>Ex: January, February, March</a:t>
            </a:r>
            <a:endParaRPr lang="en-US" sz="900" dirty="0"/>
          </a:p>
        </p:txBody>
      </p:sp>
      <p:sp>
        <p:nvSpPr>
          <p:cNvPr id="44" name="Text 42"/>
          <p:cNvSpPr/>
          <p:nvPr/>
        </p:nvSpPr>
        <p:spPr>
          <a:xfrm>
            <a:off x="6144768" y="1719072"/>
            <a:ext cx="5577840" cy="402336"/>
          </a:xfrm>
          <a:prstGeom prst="rect">
            <a:avLst/>
          </a:prstGeom>
          <a:noFill/>
          <a:ln/>
        </p:spPr>
        <p:txBody>
          <a:bodyPr wrap="square" lIns="0" tIns="0" rIns="0" bIns="0" rtlCol="0" anchor="t"/>
          <a:lstStyle/>
          <a:p>
            <a:pPr marL="0" indent="0">
              <a:buNone/>
            </a:pPr>
            <a:r>
              <a:rPr lang="en-US" sz="900" dirty="0">
                <a:solidFill>
                  <a:srgbClr val="4A4A4A"/>
                </a:solidFill>
                <a:latin typeface="Calibri" pitchFamily="34" charset="0"/>
                <a:ea typeface="Calibri" pitchFamily="34" charset="-122"/>
                <a:cs typeface="Calibri" pitchFamily="34" charset="-120"/>
              </a:rPr>
              <a:t>Enables monthly revenue analysis and seasonal trend identification</a:t>
            </a:r>
            <a:endParaRPr lang="en-US" sz="900" dirty="0"/>
          </a:p>
        </p:txBody>
      </p:sp>
      <p:sp>
        <p:nvSpPr>
          <p:cNvPr id="45" name="Shape 43"/>
          <p:cNvSpPr/>
          <p:nvPr/>
        </p:nvSpPr>
        <p:spPr>
          <a:xfrm>
            <a:off x="6035040" y="2267712"/>
            <a:ext cx="5806440" cy="804672"/>
          </a:xfrm>
          <a:prstGeom prst="rect">
            <a:avLst/>
          </a:prstGeom>
          <a:solidFill>
            <a:srgbClr val="FAFAFA"/>
          </a:solidFill>
          <a:ln w="12700">
            <a:solidFill>
              <a:srgbClr val="EEEEEE"/>
            </a:solidFill>
            <a:prstDash val="solid"/>
          </a:ln>
        </p:spPr>
      </p:sp>
      <p:sp>
        <p:nvSpPr>
          <p:cNvPr id="46" name="Shape 44"/>
          <p:cNvSpPr/>
          <p:nvPr/>
        </p:nvSpPr>
        <p:spPr>
          <a:xfrm>
            <a:off x="6035040" y="2267712"/>
            <a:ext cx="73152" cy="804672"/>
          </a:xfrm>
          <a:prstGeom prst="rect">
            <a:avLst/>
          </a:prstGeom>
          <a:solidFill>
            <a:srgbClr val="FFC72C"/>
          </a:solidFill>
          <a:ln w="12700">
            <a:solidFill>
              <a:srgbClr val="FFC72C"/>
            </a:solidFill>
            <a:prstDash val="solid"/>
          </a:ln>
        </p:spPr>
      </p:sp>
      <p:sp>
        <p:nvSpPr>
          <p:cNvPr id="47" name="Text 45"/>
          <p:cNvSpPr/>
          <p:nvPr/>
        </p:nvSpPr>
        <p:spPr>
          <a:xfrm>
            <a:off x="6144768" y="2322576"/>
            <a:ext cx="1280160" cy="27432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Day Name</a:t>
            </a:r>
            <a:endParaRPr lang="en-US" sz="1050" dirty="0"/>
          </a:p>
        </p:txBody>
      </p:sp>
      <p:sp>
        <p:nvSpPr>
          <p:cNvPr id="48" name="Text 46"/>
          <p:cNvSpPr/>
          <p:nvPr/>
        </p:nvSpPr>
        <p:spPr>
          <a:xfrm>
            <a:off x="7452360" y="2322576"/>
            <a:ext cx="2286000" cy="274320"/>
          </a:xfrm>
          <a:prstGeom prst="rect">
            <a:avLst/>
          </a:prstGeom>
          <a:noFill/>
          <a:ln/>
        </p:spPr>
        <p:txBody>
          <a:bodyPr wrap="square" lIns="0" tIns="0" rIns="0" bIns="0" rtlCol="0" anchor="ctr"/>
          <a:lstStyle/>
          <a:p>
            <a:pPr marL="0" indent="0">
              <a:buNone/>
            </a:pPr>
            <a:r>
              <a:rPr lang="en-US" sz="900" i="1" dirty="0">
                <a:solidFill>
                  <a:srgbClr val="4A4A4A"/>
                </a:solidFill>
                <a:latin typeface="Calibri" pitchFamily="34" charset="0"/>
                <a:ea typeface="Calibri" pitchFamily="34" charset="-122"/>
                <a:cs typeface="Calibri" pitchFamily="34" charset="-120"/>
              </a:rPr>
              <a:t>Ex: Monday, Saturday...</a:t>
            </a:r>
            <a:endParaRPr lang="en-US" sz="900" dirty="0"/>
          </a:p>
        </p:txBody>
      </p:sp>
      <p:sp>
        <p:nvSpPr>
          <p:cNvPr id="49" name="Text 47"/>
          <p:cNvSpPr/>
          <p:nvPr/>
        </p:nvSpPr>
        <p:spPr>
          <a:xfrm>
            <a:off x="6144768" y="2615184"/>
            <a:ext cx="5577840" cy="402336"/>
          </a:xfrm>
          <a:prstGeom prst="rect">
            <a:avLst/>
          </a:prstGeom>
          <a:noFill/>
          <a:ln/>
        </p:spPr>
        <p:txBody>
          <a:bodyPr wrap="square" lIns="0" tIns="0" rIns="0" bIns="0" rtlCol="0" anchor="t"/>
          <a:lstStyle/>
          <a:p>
            <a:pPr marL="0" indent="0">
              <a:buNone/>
            </a:pPr>
            <a:r>
              <a:rPr lang="en-US" sz="900" dirty="0">
                <a:solidFill>
                  <a:srgbClr val="4A4A4A"/>
                </a:solidFill>
                <a:latin typeface="Calibri" pitchFamily="34" charset="0"/>
                <a:ea typeface="Calibri" pitchFamily="34" charset="-122"/>
                <a:cs typeface="Calibri" pitchFamily="34" charset="-120"/>
              </a:rPr>
              <a:t>Supports weekday vs weekend segmentation of customer behavior</a:t>
            </a:r>
            <a:endParaRPr lang="en-US" sz="900" dirty="0"/>
          </a:p>
        </p:txBody>
      </p:sp>
      <p:sp>
        <p:nvSpPr>
          <p:cNvPr id="50" name="Shape 48"/>
          <p:cNvSpPr/>
          <p:nvPr/>
        </p:nvSpPr>
        <p:spPr>
          <a:xfrm>
            <a:off x="6035040" y="3163824"/>
            <a:ext cx="5806440" cy="804672"/>
          </a:xfrm>
          <a:prstGeom prst="rect">
            <a:avLst/>
          </a:prstGeom>
          <a:solidFill>
            <a:srgbClr val="FFFFFF"/>
          </a:solidFill>
          <a:ln w="12700">
            <a:solidFill>
              <a:srgbClr val="EEEEEE"/>
            </a:solidFill>
            <a:prstDash val="solid"/>
          </a:ln>
        </p:spPr>
      </p:sp>
      <p:sp>
        <p:nvSpPr>
          <p:cNvPr id="51" name="Shape 49"/>
          <p:cNvSpPr/>
          <p:nvPr/>
        </p:nvSpPr>
        <p:spPr>
          <a:xfrm>
            <a:off x="6035040" y="3163824"/>
            <a:ext cx="73152" cy="804672"/>
          </a:xfrm>
          <a:prstGeom prst="rect">
            <a:avLst/>
          </a:prstGeom>
          <a:solidFill>
            <a:srgbClr val="FFC72C"/>
          </a:solidFill>
          <a:ln w="12700">
            <a:solidFill>
              <a:srgbClr val="FFC72C"/>
            </a:solidFill>
            <a:prstDash val="solid"/>
          </a:ln>
        </p:spPr>
      </p:sp>
      <p:sp>
        <p:nvSpPr>
          <p:cNvPr id="52" name="Text 50"/>
          <p:cNvSpPr/>
          <p:nvPr/>
        </p:nvSpPr>
        <p:spPr>
          <a:xfrm>
            <a:off x="6144768" y="3218688"/>
            <a:ext cx="1280160" cy="27432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Hour</a:t>
            </a:r>
            <a:endParaRPr lang="en-US" sz="1050" dirty="0"/>
          </a:p>
        </p:txBody>
      </p:sp>
      <p:sp>
        <p:nvSpPr>
          <p:cNvPr id="53" name="Text 51"/>
          <p:cNvSpPr/>
          <p:nvPr/>
        </p:nvSpPr>
        <p:spPr>
          <a:xfrm>
            <a:off x="7452360" y="3218688"/>
            <a:ext cx="2286000" cy="274320"/>
          </a:xfrm>
          <a:prstGeom prst="rect">
            <a:avLst/>
          </a:prstGeom>
          <a:noFill/>
          <a:ln/>
        </p:spPr>
        <p:txBody>
          <a:bodyPr wrap="square" lIns="0" tIns="0" rIns="0" bIns="0" rtlCol="0" anchor="ctr"/>
          <a:lstStyle/>
          <a:p>
            <a:pPr marL="0" indent="0">
              <a:buNone/>
            </a:pPr>
            <a:r>
              <a:rPr lang="en-US" sz="900" i="1" dirty="0">
                <a:solidFill>
                  <a:srgbClr val="4A4A4A"/>
                </a:solidFill>
                <a:latin typeface="Calibri" pitchFamily="34" charset="0"/>
                <a:ea typeface="Calibri" pitchFamily="34" charset="-122"/>
                <a:cs typeface="Calibri" pitchFamily="34" charset="-120"/>
              </a:rPr>
              <a:t>Ex: 10, 11, 12, 13...</a:t>
            </a:r>
            <a:endParaRPr lang="en-US" sz="900" dirty="0"/>
          </a:p>
        </p:txBody>
      </p:sp>
      <p:sp>
        <p:nvSpPr>
          <p:cNvPr id="54" name="Text 52"/>
          <p:cNvSpPr/>
          <p:nvPr/>
        </p:nvSpPr>
        <p:spPr>
          <a:xfrm>
            <a:off x="6144768" y="3511296"/>
            <a:ext cx="5577840" cy="402336"/>
          </a:xfrm>
          <a:prstGeom prst="rect">
            <a:avLst/>
          </a:prstGeom>
          <a:noFill/>
          <a:ln/>
        </p:spPr>
        <p:txBody>
          <a:bodyPr wrap="square" lIns="0" tIns="0" rIns="0" bIns="0" rtlCol="0" anchor="t"/>
          <a:lstStyle/>
          <a:p>
            <a:pPr marL="0" indent="0">
              <a:buNone/>
            </a:pPr>
            <a:r>
              <a:rPr lang="en-US" sz="900" dirty="0">
                <a:solidFill>
                  <a:srgbClr val="4A4A4A"/>
                </a:solidFill>
                <a:latin typeface="Calibri" pitchFamily="34" charset="0"/>
                <a:ea typeface="Calibri" pitchFamily="34" charset="-122"/>
                <a:cs typeface="Calibri" pitchFamily="34" charset="-120"/>
              </a:rPr>
              <a:t>Enables hourly order analysis to identify peak traffic windows</a:t>
            </a:r>
            <a:endParaRPr lang="en-US" sz="900" dirty="0"/>
          </a:p>
        </p:txBody>
      </p:sp>
      <p:sp>
        <p:nvSpPr>
          <p:cNvPr id="55" name="Shape 53"/>
          <p:cNvSpPr/>
          <p:nvPr/>
        </p:nvSpPr>
        <p:spPr>
          <a:xfrm>
            <a:off x="6035040" y="4059936"/>
            <a:ext cx="5806440" cy="804672"/>
          </a:xfrm>
          <a:prstGeom prst="rect">
            <a:avLst/>
          </a:prstGeom>
          <a:solidFill>
            <a:srgbClr val="FAFAFA"/>
          </a:solidFill>
          <a:ln w="12700">
            <a:solidFill>
              <a:srgbClr val="EEEEEE"/>
            </a:solidFill>
            <a:prstDash val="solid"/>
          </a:ln>
        </p:spPr>
      </p:sp>
      <p:sp>
        <p:nvSpPr>
          <p:cNvPr id="56" name="Shape 54"/>
          <p:cNvSpPr/>
          <p:nvPr/>
        </p:nvSpPr>
        <p:spPr>
          <a:xfrm>
            <a:off x="6035040" y="4059936"/>
            <a:ext cx="73152" cy="804672"/>
          </a:xfrm>
          <a:prstGeom prst="rect">
            <a:avLst/>
          </a:prstGeom>
          <a:solidFill>
            <a:srgbClr val="FFC72C"/>
          </a:solidFill>
          <a:ln w="12700">
            <a:solidFill>
              <a:srgbClr val="FFC72C"/>
            </a:solidFill>
            <a:prstDash val="solid"/>
          </a:ln>
        </p:spPr>
      </p:sp>
      <p:sp>
        <p:nvSpPr>
          <p:cNvPr id="57" name="Text 55"/>
          <p:cNvSpPr/>
          <p:nvPr/>
        </p:nvSpPr>
        <p:spPr>
          <a:xfrm>
            <a:off x="6144768" y="4114800"/>
            <a:ext cx="1280160" cy="27432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Day_Type</a:t>
            </a:r>
            <a:endParaRPr lang="en-US" sz="1050" dirty="0"/>
          </a:p>
        </p:txBody>
      </p:sp>
      <p:sp>
        <p:nvSpPr>
          <p:cNvPr id="58" name="Text 56"/>
          <p:cNvSpPr/>
          <p:nvPr/>
        </p:nvSpPr>
        <p:spPr>
          <a:xfrm>
            <a:off x="7452360" y="4114800"/>
            <a:ext cx="2286000" cy="274320"/>
          </a:xfrm>
          <a:prstGeom prst="rect">
            <a:avLst/>
          </a:prstGeom>
          <a:noFill/>
          <a:ln/>
        </p:spPr>
        <p:txBody>
          <a:bodyPr wrap="square" lIns="0" tIns="0" rIns="0" bIns="0" rtlCol="0" anchor="ctr"/>
          <a:lstStyle/>
          <a:p>
            <a:pPr marL="0" indent="0">
              <a:buNone/>
            </a:pPr>
            <a:r>
              <a:rPr lang="en-US" sz="900" i="1" dirty="0">
                <a:solidFill>
                  <a:srgbClr val="4A4A4A"/>
                </a:solidFill>
                <a:latin typeface="Calibri" pitchFamily="34" charset="0"/>
                <a:ea typeface="Calibri" pitchFamily="34" charset="-122"/>
                <a:cs typeface="Calibri" pitchFamily="34" charset="-120"/>
              </a:rPr>
              <a:t>Ex: Weekday / Weekend</a:t>
            </a:r>
            <a:endParaRPr lang="en-US" sz="900" dirty="0"/>
          </a:p>
        </p:txBody>
      </p:sp>
      <p:sp>
        <p:nvSpPr>
          <p:cNvPr id="59" name="Text 57"/>
          <p:cNvSpPr/>
          <p:nvPr/>
        </p:nvSpPr>
        <p:spPr>
          <a:xfrm>
            <a:off x="6144768" y="4407408"/>
            <a:ext cx="5577840" cy="402336"/>
          </a:xfrm>
          <a:prstGeom prst="rect">
            <a:avLst/>
          </a:prstGeom>
          <a:noFill/>
          <a:ln/>
        </p:spPr>
        <p:txBody>
          <a:bodyPr wrap="square" lIns="0" tIns="0" rIns="0" bIns="0" rtlCol="0" anchor="t"/>
          <a:lstStyle/>
          <a:p>
            <a:pPr marL="0" indent="0">
              <a:buNone/>
            </a:pPr>
            <a:r>
              <a:rPr lang="en-US" sz="900" dirty="0">
                <a:solidFill>
                  <a:srgbClr val="4A4A4A"/>
                </a:solidFill>
                <a:latin typeface="Calibri" pitchFamily="34" charset="0"/>
                <a:ea typeface="Calibri" pitchFamily="34" charset="-122"/>
                <a:cs typeface="Calibri" pitchFamily="34" charset="-120"/>
              </a:rPr>
              <a:t>Powers weekday vs weekend revenue comparison and behavioral analysis</a:t>
            </a:r>
            <a:endParaRPr lang="en-US" sz="900" dirty="0"/>
          </a:p>
        </p:txBody>
      </p:sp>
      <p:sp>
        <p:nvSpPr>
          <p:cNvPr id="60" name="Shape 58"/>
          <p:cNvSpPr/>
          <p:nvPr/>
        </p:nvSpPr>
        <p:spPr>
          <a:xfrm>
            <a:off x="6035040" y="4956048"/>
            <a:ext cx="5806440" cy="804672"/>
          </a:xfrm>
          <a:prstGeom prst="rect">
            <a:avLst/>
          </a:prstGeom>
          <a:solidFill>
            <a:srgbClr val="FFFFFF"/>
          </a:solidFill>
          <a:ln w="12700">
            <a:solidFill>
              <a:srgbClr val="EEEEEE"/>
            </a:solidFill>
            <a:prstDash val="solid"/>
          </a:ln>
        </p:spPr>
      </p:sp>
      <p:sp>
        <p:nvSpPr>
          <p:cNvPr id="61" name="Shape 59"/>
          <p:cNvSpPr/>
          <p:nvPr/>
        </p:nvSpPr>
        <p:spPr>
          <a:xfrm>
            <a:off x="6035040" y="4956048"/>
            <a:ext cx="73152" cy="804672"/>
          </a:xfrm>
          <a:prstGeom prst="rect">
            <a:avLst/>
          </a:prstGeom>
          <a:solidFill>
            <a:srgbClr val="FFC72C"/>
          </a:solidFill>
          <a:ln w="12700">
            <a:solidFill>
              <a:srgbClr val="FFC72C"/>
            </a:solidFill>
            <a:prstDash val="solid"/>
          </a:ln>
        </p:spPr>
      </p:sp>
      <p:sp>
        <p:nvSpPr>
          <p:cNvPr id="62" name="Text 60"/>
          <p:cNvSpPr/>
          <p:nvPr/>
        </p:nvSpPr>
        <p:spPr>
          <a:xfrm>
            <a:off x="6144768" y="5010912"/>
            <a:ext cx="1280160" cy="274320"/>
          </a:xfrm>
          <a:prstGeom prst="rect">
            <a:avLst/>
          </a:prstGeom>
          <a:noFill/>
          <a:ln/>
        </p:spPr>
        <p:txBody>
          <a:bodyPr wrap="square" lIns="0" tIns="0" rIns="0" bIns="0" rtlCol="0" anchor="ctr"/>
          <a:lstStyle/>
          <a:p>
            <a:pPr marL="0" indent="0">
              <a:buNone/>
            </a:pPr>
            <a:r>
              <a:rPr lang="en-US" sz="1050" b="1" dirty="0">
                <a:solidFill>
                  <a:srgbClr val="DA0000"/>
                </a:solidFill>
                <a:latin typeface="Arial" pitchFamily="34" charset="0"/>
                <a:ea typeface="Arial" pitchFamily="34" charset="-122"/>
                <a:cs typeface="Arial" pitchFamily="34" charset="-120"/>
              </a:rPr>
              <a:t>Time_Bucket</a:t>
            </a:r>
            <a:endParaRPr lang="en-US" sz="1050" dirty="0"/>
          </a:p>
        </p:txBody>
      </p:sp>
      <p:sp>
        <p:nvSpPr>
          <p:cNvPr id="63" name="Text 61"/>
          <p:cNvSpPr/>
          <p:nvPr/>
        </p:nvSpPr>
        <p:spPr>
          <a:xfrm>
            <a:off x="7452360" y="5010912"/>
            <a:ext cx="2286000" cy="274320"/>
          </a:xfrm>
          <a:prstGeom prst="rect">
            <a:avLst/>
          </a:prstGeom>
          <a:noFill/>
          <a:ln/>
        </p:spPr>
        <p:txBody>
          <a:bodyPr wrap="square" lIns="0" tIns="0" rIns="0" bIns="0" rtlCol="0" anchor="ctr"/>
          <a:lstStyle/>
          <a:p>
            <a:pPr marL="0" indent="0">
              <a:buNone/>
            </a:pPr>
            <a:r>
              <a:rPr lang="en-US" sz="900" i="1" dirty="0">
                <a:solidFill>
                  <a:srgbClr val="4A4A4A"/>
                </a:solidFill>
                <a:latin typeface="Calibri" pitchFamily="34" charset="0"/>
                <a:ea typeface="Calibri" pitchFamily="34" charset="-122"/>
                <a:cs typeface="Calibri" pitchFamily="34" charset="-120"/>
              </a:rPr>
              <a:t>Ex: Morning / Afternoon / Evening</a:t>
            </a:r>
            <a:endParaRPr lang="en-US" sz="900" dirty="0"/>
          </a:p>
        </p:txBody>
      </p:sp>
      <p:sp>
        <p:nvSpPr>
          <p:cNvPr id="64" name="Text 62"/>
          <p:cNvSpPr/>
          <p:nvPr/>
        </p:nvSpPr>
        <p:spPr>
          <a:xfrm>
            <a:off x="6144768" y="5303520"/>
            <a:ext cx="5577840" cy="402336"/>
          </a:xfrm>
          <a:prstGeom prst="rect">
            <a:avLst/>
          </a:prstGeom>
          <a:noFill/>
          <a:ln/>
        </p:spPr>
        <p:txBody>
          <a:bodyPr wrap="square" lIns="0" tIns="0" rIns="0" bIns="0" rtlCol="0" anchor="t"/>
          <a:lstStyle/>
          <a:p>
            <a:pPr marL="0" indent="0">
              <a:buNone/>
            </a:pPr>
            <a:r>
              <a:rPr lang="en-US" sz="900" dirty="0">
                <a:solidFill>
                  <a:srgbClr val="4A4A4A"/>
                </a:solidFill>
                <a:latin typeface="Calibri" pitchFamily="34" charset="0"/>
                <a:ea typeface="Calibri" pitchFamily="34" charset="-122"/>
                <a:cs typeface="Calibri" pitchFamily="34" charset="-120"/>
              </a:rPr>
              <a:t>Groups hours into business-relevant time buckets for operational insights</a:t>
            </a:r>
            <a:endParaRPr lang="en-US" sz="900" dirty="0"/>
          </a:p>
        </p:txBody>
      </p:sp>
      <p:sp>
        <p:nvSpPr>
          <p:cNvPr id="65" name="Shape 63"/>
          <p:cNvSpPr/>
          <p:nvPr/>
        </p:nvSpPr>
        <p:spPr>
          <a:xfrm>
            <a:off x="0" y="6537960"/>
            <a:ext cx="12161520" cy="320040"/>
          </a:xfrm>
          <a:prstGeom prst="rect">
            <a:avLst/>
          </a:prstGeom>
          <a:solidFill>
            <a:srgbClr val="DA0000"/>
          </a:solidFill>
          <a:ln w="12700">
            <a:solidFill>
              <a:srgbClr val="DA0000"/>
            </a:solidFill>
            <a:prstDash val="solid"/>
          </a:ln>
        </p:spPr>
      </p:sp>
      <p:sp>
        <p:nvSpPr>
          <p:cNvPr id="66" name="Text 64"/>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FFFFFF"/>
                </a:solidFill>
                <a:latin typeface="Arial" pitchFamily="34" charset="0"/>
                <a:ea typeface="Arial" pitchFamily="34" charset="-122"/>
                <a:cs typeface="Arial" pitchFamily="34" charset="-120"/>
              </a:rPr>
              <a:t>McDonald's Sales Analysis  |  Data Methodology  |  Prepared by: Ranjeet Anada</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000"/>
        </a:solidFill>
        <a:effectLst/>
      </p:bgPr>
    </p:bg>
    <p:spTree>
      <p:nvGrpSpPr>
        <p:cNvPr id="1" name=""/>
        <p:cNvGrpSpPr/>
        <p:nvPr/>
      </p:nvGrpSpPr>
      <p:grpSpPr>
        <a:xfrm>
          <a:off x="0" y="0"/>
          <a:ext cx="0" cy="0"/>
          <a:chOff x="0" y="0"/>
          <a:chExt cx="0" cy="0"/>
        </a:xfrm>
      </p:grpSpPr>
      <p:sp>
        <p:nvSpPr>
          <p:cNvPr id="2" name="Shape 0"/>
          <p:cNvSpPr/>
          <p:nvPr/>
        </p:nvSpPr>
        <p:spPr>
          <a:xfrm>
            <a:off x="0" y="0"/>
            <a:ext cx="5029200" cy="6858000"/>
          </a:xfrm>
          <a:prstGeom prst="rect">
            <a:avLst/>
          </a:prstGeom>
          <a:solidFill>
            <a:srgbClr val="DA0000"/>
          </a:solidFill>
          <a:ln w="12700">
            <a:solidFill>
              <a:srgbClr val="DA0000"/>
            </a:solidFill>
            <a:prstDash val="solid"/>
          </a:ln>
        </p:spPr>
      </p:sp>
      <p:sp>
        <p:nvSpPr>
          <p:cNvPr id="3" name="Shape 1"/>
          <p:cNvSpPr/>
          <p:nvPr/>
        </p:nvSpPr>
        <p:spPr>
          <a:xfrm>
            <a:off x="5029200" y="0"/>
            <a:ext cx="109728" cy="6858000"/>
          </a:xfrm>
          <a:prstGeom prst="rect">
            <a:avLst/>
          </a:prstGeom>
          <a:solidFill>
            <a:srgbClr val="FFC72C"/>
          </a:solidFill>
          <a:ln w="12700">
            <a:solidFill>
              <a:srgbClr val="FFC72C"/>
            </a:solidFill>
            <a:prstDash val="solid"/>
          </a:ln>
        </p:spPr>
      </p:sp>
      <p:sp>
        <p:nvSpPr>
          <p:cNvPr id="4" name="Text 2"/>
          <p:cNvSpPr/>
          <p:nvPr/>
        </p:nvSpPr>
        <p:spPr>
          <a:xfrm>
            <a:off x="274320" y="365760"/>
            <a:ext cx="4480560" cy="411480"/>
          </a:xfrm>
          <a:prstGeom prst="rect">
            <a:avLst/>
          </a:prstGeom>
          <a:noFill/>
          <a:ln/>
        </p:spPr>
        <p:txBody>
          <a:bodyPr wrap="square" lIns="0" tIns="0" rIns="0" bIns="0" rtlCol="0" anchor="ctr"/>
          <a:lstStyle/>
          <a:p>
            <a:pPr marL="0" indent="0" algn="ctr">
              <a:buNone/>
            </a:pPr>
            <a:r>
              <a:rPr lang="en-US" sz="1100" b="1" kern="0" spc="500" dirty="0">
                <a:solidFill>
                  <a:srgbClr val="FFC72C"/>
                </a:solidFill>
                <a:latin typeface="Arial" pitchFamily="34" charset="0"/>
                <a:ea typeface="Arial" pitchFamily="34" charset="-122"/>
                <a:cs typeface="Arial" pitchFamily="34" charset="-120"/>
              </a:rPr>
              <a:t>CONCLUSION</a:t>
            </a:r>
            <a:endParaRPr lang="en-US" sz="1100" dirty="0"/>
          </a:p>
        </p:txBody>
      </p:sp>
      <p:sp>
        <p:nvSpPr>
          <p:cNvPr id="5" name="Shape 3"/>
          <p:cNvSpPr/>
          <p:nvPr/>
        </p:nvSpPr>
        <p:spPr>
          <a:xfrm>
            <a:off x="548640" y="822960"/>
            <a:ext cx="3840480" cy="36576"/>
          </a:xfrm>
          <a:prstGeom prst="rect">
            <a:avLst/>
          </a:prstGeom>
          <a:solidFill>
            <a:srgbClr val="FFC72C"/>
          </a:solidFill>
          <a:ln w="12700">
            <a:solidFill>
              <a:srgbClr val="FFC72C"/>
            </a:solidFill>
            <a:prstDash val="solid"/>
          </a:ln>
        </p:spPr>
      </p:sp>
      <p:sp>
        <p:nvSpPr>
          <p:cNvPr id="6" name="Text 4"/>
          <p:cNvSpPr/>
          <p:nvPr/>
        </p:nvSpPr>
        <p:spPr>
          <a:xfrm>
            <a:off x="274320" y="914400"/>
            <a:ext cx="4480560"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Arial Black" pitchFamily="34" charset="0"/>
                <a:ea typeface="Arial Black" pitchFamily="34" charset="-122"/>
                <a:cs typeface="Arial Black" pitchFamily="34" charset="-120"/>
              </a:rPr>
              <a:t>Project</a:t>
            </a:r>
            <a:endParaRPr lang="en-US" sz="3800" dirty="0"/>
          </a:p>
          <a:p>
            <a:pPr marL="0" indent="0" algn="ctr">
              <a:buNone/>
            </a:pPr>
            <a:r>
              <a:rPr lang="en-US" sz="3800" b="1" dirty="0">
                <a:solidFill>
                  <a:srgbClr val="FFFFFF"/>
                </a:solidFill>
                <a:latin typeface="Arial Black" pitchFamily="34" charset="0"/>
                <a:ea typeface="Arial Black" pitchFamily="34" charset="-122"/>
                <a:cs typeface="Arial Black" pitchFamily="34" charset="-120"/>
              </a:rPr>
              <a:t>Summary</a:t>
            </a:r>
            <a:endParaRPr lang="en-US" sz="3800" dirty="0"/>
          </a:p>
        </p:txBody>
      </p:sp>
      <p:sp>
        <p:nvSpPr>
          <p:cNvPr id="7" name="Text 5"/>
          <p:cNvSpPr/>
          <p:nvPr/>
        </p:nvSpPr>
        <p:spPr>
          <a:xfrm>
            <a:off x="365760" y="2011680"/>
            <a:ext cx="4297680" cy="1097280"/>
          </a:xfrm>
          <a:prstGeom prst="rect">
            <a:avLst/>
          </a:prstGeom>
          <a:noFill/>
          <a:ln/>
        </p:spPr>
        <p:txBody>
          <a:bodyPr wrap="square" lIns="0" tIns="0" rIns="0" bIns="0" rtlCol="0" anchor="ctr"/>
          <a:lstStyle/>
          <a:p>
            <a:pPr marL="0" indent="0" algn="ctr">
              <a:buNone/>
            </a:pPr>
            <a:r>
              <a:rPr lang="en-US" sz="1100" dirty="0">
                <a:solidFill>
                  <a:srgbClr val="FFDDDD"/>
                </a:solidFill>
                <a:latin typeface="Calibri" pitchFamily="34" charset="0"/>
                <a:ea typeface="Calibri" pitchFamily="34" charset="-122"/>
                <a:cs typeface="Calibri" pitchFamily="34" charset="-120"/>
              </a:rPr>
              <a:t>This EDA report successfully uncovered actionable business insights from McDonald's Q1 2024 sales data through rigorous data cleaning, feature engineering, and visual analytics.</a:t>
            </a:r>
            <a:endParaRPr lang="en-US" sz="1100" dirty="0"/>
          </a:p>
        </p:txBody>
      </p:sp>
      <p:sp>
        <p:nvSpPr>
          <p:cNvPr id="8" name="Text 6"/>
          <p:cNvSpPr/>
          <p:nvPr/>
        </p:nvSpPr>
        <p:spPr>
          <a:xfrm>
            <a:off x="365760" y="3200400"/>
            <a:ext cx="4297680" cy="1463040"/>
          </a:xfrm>
          <a:prstGeom prst="rect">
            <a:avLst/>
          </a:prstGeom>
          <a:noFill/>
          <a:ln/>
        </p:spPr>
        <p:txBody>
          <a:bodyPr wrap="square" lIns="0" tIns="0" rIns="0" bIns="0" rtlCol="0" anchor="ctr"/>
          <a:lstStyle/>
          <a:p>
            <a:pPr marL="0" indent="0">
              <a:buNone/>
            </a:pPr>
            <a:r>
              <a:rPr lang="en-US" sz="1000" dirty="0">
                <a:solidFill>
                  <a:srgbClr val="FFEEEE"/>
                </a:solidFill>
                <a:latin typeface="Calibri" pitchFamily="34" charset="0"/>
                <a:ea typeface="Calibri" pitchFamily="34" charset="-122"/>
                <a:cs typeface="Calibri" pitchFamily="34" charset="-120"/>
              </a:rPr>
              <a:t>✅  ₹61,004 revenue analyzed across 5,343 orders</a:t>
            </a:r>
            <a:endParaRPr lang="en-US" sz="1000" dirty="0"/>
          </a:p>
          <a:p>
            <a:pPr marL="0" indent="0">
              <a:buNone/>
            </a:pPr>
            <a:r>
              <a:rPr lang="en-US" sz="1000" dirty="0">
                <a:solidFill>
                  <a:srgbClr val="FFEEEE"/>
                </a:solidFill>
                <a:latin typeface="Calibri" pitchFamily="34" charset="0"/>
                <a:ea typeface="Calibri" pitchFamily="34" charset="-122"/>
                <a:cs typeface="Calibri" pitchFamily="34" charset="-120"/>
              </a:rPr>
              <a:t>✅  10 product categories benchmarked</a:t>
            </a:r>
            <a:endParaRPr lang="en-US" sz="1000" dirty="0"/>
          </a:p>
          <a:p>
            <a:pPr marL="0" indent="0">
              <a:buNone/>
            </a:pPr>
            <a:r>
              <a:rPr lang="en-US" sz="1000" dirty="0">
                <a:solidFill>
                  <a:srgbClr val="FFEEEE"/>
                </a:solidFill>
                <a:latin typeface="Calibri" pitchFamily="34" charset="0"/>
                <a:ea typeface="Calibri" pitchFamily="34" charset="-122"/>
                <a:cs typeface="Calibri" pitchFamily="34" charset="-120"/>
              </a:rPr>
              <a:t>✅  Time-based behavioral patterns identified</a:t>
            </a:r>
            <a:endParaRPr lang="en-US" sz="1000" dirty="0"/>
          </a:p>
          <a:p>
            <a:pPr marL="0" indent="0">
              <a:buNone/>
            </a:pPr>
            <a:r>
              <a:rPr lang="en-US" sz="1000" dirty="0">
                <a:solidFill>
                  <a:srgbClr val="FFEEEE"/>
                </a:solidFill>
                <a:latin typeface="Calibri" pitchFamily="34" charset="0"/>
                <a:ea typeface="Calibri" pitchFamily="34" charset="-122"/>
                <a:cs typeface="Calibri" pitchFamily="34" charset="-120"/>
              </a:rPr>
              <a:t>✅  Business recommendations generated</a:t>
            </a:r>
            <a:endParaRPr lang="en-US" sz="1000" dirty="0"/>
          </a:p>
          <a:p>
            <a:pPr marL="0" indent="0">
              <a:buNone/>
            </a:pPr>
            <a:r>
              <a:rPr lang="en-US" sz="1000" dirty="0">
                <a:solidFill>
                  <a:srgbClr val="FFEEEE"/>
                </a:solidFill>
                <a:latin typeface="Calibri" pitchFamily="34" charset="0"/>
                <a:ea typeface="Calibri" pitchFamily="34" charset="-122"/>
                <a:cs typeface="Calibri" pitchFamily="34" charset="-120"/>
              </a:rPr>
              <a:t>✅  Interactive Excel dashboard delivered</a:t>
            </a:r>
            <a:endParaRPr lang="en-US" sz="1000" dirty="0"/>
          </a:p>
        </p:txBody>
      </p:sp>
      <p:sp>
        <p:nvSpPr>
          <p:cNvPr id="9" name="Shape 7"/>
          <p:cNvSpPr/>
          <p:nvPr/>
        </p:nvSpPr>
        <p:spPr>
          <a:xfrm>
            <a:off x="411480" y="4892040"/>
            <a:ext cx="4206240" cy="1508760"/>
          </a:xfrm>
          <a:prstGeom prst="rect">
            <a:avLst/>
          </a:prstGeom>
          <a:solidFill>
            <a:srgbClr val="9B0000"/>
          </a:solidFill>
          <a:ln w="12700">
            <a:solidFill>
              <a:srgbClr val="FFC72C"/>
            </a:solidFill>
            <a:prstDash val="solid"/>
          </a:ln>
          <a:effectLst>
            <a:outerShdw blurRad="101600" dist="38100" dir="8100000" algn="bl" rotWithShape="0">
              <a:srgbClr val="000000">
                <a:alpha val="12000"/>
              </a:srgbClr>
            </a:outerShdw>
          </a:effectLst>
        </p:spPr>
      </p:sp>
      <p:sp>
        <p:nvSpPr>
          <p:cNvPr id="10" name="Text 8"/>
          <p:cNvSpPr/>
          <p:nvPr/>
        </p:nvSpPr>
        <p:spPr>
          <a:xfrm>
            <a:off x="411480" y="4983480"/>
            <a:ext cx="4206240" cy="256032"/>
          </a:xfrm>
          <a:prstGeom prst="rect">
            <a:avLst/>
          </a:prstGeom>
          <a:noFill/>
          <a:ln/>
        </p:spPr>
        <p:txBody>
          <a:bodyPr wrap="square" lIns="0" tIns="0" rIns="0" bIns="0" rtlCol="0" anchor="ctr"/>
          <a:lstStyle/>
          <a:p>
            <a:pPr marL="0" indent="0" algn="ctr">
              <a:buNone/>
            </a:pPr>
            <a:r>
              <a:rPr lang="en-US" sz="900" b="1" kern="0" spc="300" dirty="0">
                <a:solidFill>
                  <a:srgbClr val="FFC72C"/>
                </a:solidFill>
                <a:latin typeface="Arial" pitchFamily="34" charset="0"/>
                <a:ea typeface="Arial" pitchFamily="34" charset="-122"/>
                <a:cs typeface="Arial" pitchFamily="34" charset="-120"/>
              </a:rPr>
              <a:t>REPORT PREPARED BY</a:t>
            </a:r>
            <a:endParaRPr lang="en-US" sz="900" dirty="0"/>
          </a:p>
        </p:txBody>
      </p:sp>
      <p:sp>
        <p:nvSpPr>
          <p:cNvPr id="11" name="Text 9"/>
          <p:cNvSpPr/>
          <p:nvPr/>
        </p:nvSpPr>
        <p:spPr>
          <a:xfrm>
            <a:off x="411480" y="5257800"/>
            <a:ext cx="4206240" cy="475488"/>
          </a:xfrm>
          <a:prstGeom prst="rect">
            <a:avLst/>
          </a:prstGeom>
          <a:noFill/>
          <a:ln/>
        </p:spPr>
        <p:txBody>
          <a:bodyPr wrap="square" lIns="0" tIns="0" rIns="0" bIns="0" rtlCol="0" anchor="ctr"/>
          <a:lstStyle/>
          <a:p>
            <a:pPr marL="0" indent="0" algn="ctr">
              <a:buNone/>
            </a:pPr>
            <a:r>
              <a:rPr lang="en-US" sz="2400" b="1" dirty="0">
                <a:solidFill>
                  <a:srgbClr val="FFFFFF"/>
                </a:solidFill>
                <a:latin typeface="Arial Black" pitchFamily="34" charset="0"/>
                <a:ea typeface="Arial Black" pitchFamily="34" charset="-122"/>
                <a:cs typeface="Arial Black" pitchFamily="34" charset="-120"/>
              </a:rPr>
              <a:t>RANJEET ANADA</a:t>
            </a:r>
            <a:endParaRPr lang="en-US" sz="2400" dirty="0"/>
          </a:p>
        </p:txBody>
      </p:sp>
      <p:sp>
        <p:nvSpPr>
          <p:cNvPr id="12" name="Text 10"/>
          <p:cNvSpPr/>
          <p:nvPr/>
        </p:nvSpPr>
        <p:spPr>
          <a:xfrm>
            <a:off x="411480" y="5742432"/>
            <a:ext cx="4206240" cy="256032"/>
          </a:xfrm>
          <a:prstGeom prst="rect">
            <a:avLst/>
          </a:prstGeom>
          <a:noFill/>
          <a:ln/>
        </p:spPr>
        <p:txBody>
          <a:bodyPr wrap="square" lIns="0" tIns="0" rIns="0" bIns="0" rtlCol="0" anchor="ctr"/>
          <a:lstStyle/>
          <a:p>
            <a:pPr marL="0" indent="0" algn="ctr">
              <a:buNone/>
            </a:pPr>
            <a:r>
              <a:rPr lang="en-US" sz="950" i="1" dirty="0">
                <a:solidFill>
                  <a:srgbClr val="FFC72C"/>
                </a:solidFill>
                <a:latin typeface="Calibri" pitchFamily="34" charset="0"/>
                <a:ea typeface="Calibri" pitchFamily="34" charset="-122"/>
                <a:cs typeface="Calibri" pitchFamily="34" charset="-120"/>
              </a:rPr>
              <a:t>Data Analyst  |  Excel &amp; Power Query Specialist</a:t>
            </a:r>
            <a:endParaRPr lang="en-US" sz="950" dirty="0"/>
          </a:p>
        </p:txBody>
      </p:sp>
      <p:sp>
        <p:nvSpPr>
          <p:cNvPr id="13" name="Text 11"/>
          <p:cNvSpPr/>
          <p:nvPr/>
        </p:nvSpPr>
        <p:spPr>
          <a:xfrm>
            <a:off x="411480" y="6035040"/>
            <a:ext cx="4206240" cy="256032"/>
          </a:xfrm>
          <a:prstGeom prst="rect">
            <a:avLst/>
          </a:prstGeom>
          <a:noFill/>
          <a:ln/>
        </p:spPr>
        <p:txBody>
          <a:bodyPr wrap="square" lIns="0" tIns="0" rIns="0" bIns="0" rtlCol="0" anchor="ctr"/>
          <a:lstStyle/>
          <a:p>
            <a:pPr marL="0" indent="0" algn="ctr">
              <a:buNone/>
            </a:pPr>
            <a:r>
              <a:rPr lang="en-US" sz="900" dirty="0">
                <a:solidFill>
                  <a:srgbClr val="FFCCCC"/>
                </a:solidFill>
                <a:latin typeface="Calibri" pitchFamily="34" charset="0"/>
                <a:ea typeface="Calibri" pitchFamily="34" charset="-122"/>
                <a:cs typeface="Calibri" pitchFamily="34" charset="-120"/>
              </a:rPr>
              <a:t>McDonald's Sales Analysis Dashboard  |  May 2026</a:t>
            </a:r>
            <a:endParaRPr lang="en-US" sz="900" dirty="0"/>
          </a:p>
        </p:txBody>
      </p:sp>
      <p:sp>
        <p:nvSpPr>
          <p:cNvPr id="14" name="Text 12"/>
          <p:cNvSpPr/>
          <p:nvPr/>
        </p:nvSpPr>
        <p:spPr>
          <a:xfrm>
            <a:off x="5394960" y="457200"/>
            <a:ext cx="6492240" cy="274320"/>
          </a:xfrm>
          <a:prstGeom prst="rect">
            <a:avLst/>
          </a:prstGeom>
          <a:noFill/>
          <a:ln/>
        </p:spPr>
        <p:txBody>
          <a:bodyPr wrap="square" lIns="0" tIns="0" rIns="0" bIns="0" rtlCol="0" anchor="ctr"/>
          <a:lstStyle/>
          <a:p>
            <a:pPr marL="0" indent="0">
              <a:buNone/>
            </a:pPr>
            <a:r>
              <a:rPr lang="en-US" sz="1000" b="1" kern="0" spc="300" dirty="0">
                <a:solidFill>
                  <a:srgbClr val="FFC72C"/>
                </a:solidFill>
                <a:latin typeface="Arial" pitchFamily="34" charset="0"/>
                <a:ea typeface="Arial" pitchFamily="34" charset="-122"/>
                <a:cs typeface="Arial" pitchFamily="34" charset="-120"/>
              </a:rPr>
              <a:t>FINAL PERFORMANCE SUMMARY</a:t>
            </a:r>
            <a:endParaRPr lang="en-US" sz="1000" dirty="0"/>
          </a:p>
        </p:txBody>
      </p:sp>
      <p:sp>
        <p:nvSpPr>
          <p:cNvPr id="15" name="Shape 13"/>
          <p:cNvSpPr/>
          <p:nvPr/>
        </p:nvSpPr>
        <p:spPr>
          <a:xfrm>
            <a:off x="5394960" y="758952"/>
            <a:ext cx="6492240" cy="36576"/>
          </a:xfrm>
          <a:prstGeom prst="rect">
            <a:avLst/>
          </a:prstGeom>
          <a:solidFill>
            <a:srgbClr val="FFC72C"/>
          </a:solidFill>
          <a:ln w="12700">
            <a:solidFill>
              <a:srgbClr val="FFC72C"/>
            </a:solidFill>
            <a:prstDash val="solid"/>
          </a:ln>
        </p:spPr>
      </p:sp>
      <p:sp>
        <p:nvSpPr>
          <p:cNvPr id="16" name="Shape 14"/>
          <p:cNvSpPr/>
          <p:nvPr/>
        </p:nvSpPr>
        <p:spPr>
          <a:xfrm>
            <a:off x="5394960" y="914400"/>
            <a:ext cx="2011680" cy="114300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17" name="Text 15"/>
          <p:cNvSpPr/>
          <p:nvPr/>
        </p:nvSpPr>
        <p:spPr>
          <a:xfrm>
            <a:off x="5394960" y="1051560"/>
            <a:ext cx="2011680" cy="548640"/>
          </a:xfrm>
          <a:prstGeom prst="rect">
            <a:avLst/>
          </a:prstGeom>
          <a:noFill/>
          <a:ln/>
        </p:spPr>
        <p:txBody>
          <a:bodyPr wrap="square" lIns="0" tIns="0" rIns="0" bIns="0" rtlCol="0" anchor="ctr"/>
          <a:lstStyle/>
          <a:p>
            <a:pPr marL="0" indent="0" algn="ctr">
              <a:buNone/>
            </a:pPr>
            <a:r>
              <a:rPr lang="en-US" sz="2000" b="1" dirty="0">
                <a:solidFill>
                  <a:srgbClr val="FFC72C"/>
                </a:solidFill>
                <a:latin typeface="Arial Black" pitchFamily="34" charset="0"/>
                <a:ea typeface="Arial Black" pitchFamily="34" charset="-122"/>
                <a:cs typeface="Arial Black" pitchFamily="34" charset="-120"/>
              </a:rPr>
              <a:t>₹61,004</a:t>
            </a:r>
            <a:endParaRPr lang="en-US" sz="2000" dirty="0"/>
          </a:p>
        </p:txBody>
      </p:sp>
      <p:sp>
        <p:nvSpPr>
          <p:cNvPr id="18" name="Text 16"/>
          <p:cNvSpPr/>
          <p:nvPr/>
        </p:nvSpPr>
        <p:spPr>
          <a:xfrm>
            <a:off x="5394960" y="1645920"/>
            <a:ext cx="2011680" cy="320040"/>
          </a:xfrm>
          <a:prstGeom prst="rect">
            <a:avLst/>
          </a:prstGeom>
          <a:noFill/>
          <a:ln/>
        </p:spPr>
        <p:txBody>
          <a:bodyPr wrap="square" lIns="0" tIns="0" rIns="0" bIns="0" rtlCol="0" anchor="ctr"/>
          <a:lstStyle/>
          <a:p>
            <a:pPr marL="0" indent="0" algn="ctr">
              <a:buNone/>
            </a:pPr>
            <a:r>
              <a:rPr lang="en-US" sz="850" kern="0" spc="100" dirty="0">
                <a:solidFill>
                  <a:srgbClr val="CCCCCC"/>
                </a:solidFill>
                <a:latin typeface="Arial" pitchFamily="34" charset="0"/>
                <a:ea typeface="Arial" pitchFamily="34" charset="-122"/>
                <a:cs typeface="Arial" pitchFamily="34" charset="-120"/>
              </a:rPr>
              <a:t>TOTAL Q1 REVENUE</a:t>
            </a:r>
            <a:endParaRPr lang="en-US" sz="850" dirty="0"/>
          </a:p>
        </p:txBody>
      </p:sp>
      <p:sp>
        <p:nvSpPr>
          <p:cNvPr id="19" name="Shape 17"/>
          <p:cNvSpPr/>
          <p:nvPr/>
        </p:nvSpPr>
        <p:spPr>
          <a:xfrm>
            <a:off x="7571232" y="914400"/>
            <a:ext cx="2011680" cy="114300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20" name="Text 18"/>
          <p:cNvSpPr/>
          <p:nvPr/>
        </p:nvSpPr>
        <p:spPr>
          <a:xfrm>
            <a:off x="7571232" y="1051560"/>
            <a:ext cx="2011680" cy="548640"/>
          </a:xfrm>
          <a:prstGeom prst="rect">
            <a:avLst/>
          </a:prstGeom>
          <a:noFill/>
          <a:ln/>
        </p:spPr>
        <p:txBody>
          <a:bodyPr wrap="square" lIns="0" tIns="0" rIns="0" bIns="0" rtlCol="0" anchor="ctr"/>
          <a:lstStyle/>
          <a:p>
            <a:pPr marL="0" indent="0" algn="ctr">
              <a:buNone/>
            </a:pPr>
            <a:r>
              <a:rPr lang="en-US" sz="2600" b="1" dirty="0">
                <a:solidFill>
                  <a:srgbClr val="FFC72C"/>
                </a:solidFill>
                <a:latin typeface="Arial Black" pitchFamily="34" charset="0"/>
                <a:ea typeface="Arial Black" pitchFamily="34" charset="-122"/>
                <a:cs typeface="Arial Black" pitchFamily="34" charset="-120"/>
              </a:rPr>
              <a:t>5,343</a:t>
            </a:r>
            <a:endParaRPr lang="en-US" sz="2600" dirty="0"/>
          </a:p>
        </p:txBody>
      </p:sp>
      <p:sp>
        <p:nvSpPr>
          <p:cNvPr id="21" name="Text 19"/>
          <p:cNvSpPr/>
          <p:nvPr/>
        </p:nvSpPr>
        <p:spPr>
          <a:xfrm>
            <a:off x="7571232" y="1645920"/>
            <a:ext cx="2011680" cy="320040"/>
          </a:xfrm>
          <a:prstGeom prst="rect">
            <a:avLst/>
          </a:prstGeom>
          <a:noFill/>
          <a:ln/>
        </p:spPr>
        <p:txBody>
          <a:bodyPr wrap="square" lIns="0" tIns="0" rIns="0" bIns="0" rtlCol="0" anchor="ctr"/>
          <a:lstStyle/>
          <a:p>
            <a:pPr marL="0" indent="0" algn="ctr">
              <a:buNone/>
            </a:pPr>
            <a:r>
              <a:rPr lang="en-US" sz="850" kern="0" spc="100" dirty="0">
                <a:solidFill>
                  <a:srgbClr val="CCCCCC"/>
                </a:solidFill>
                <a:latin typeface="Arial" pitchFamily="34" charset="0"/>
                <a:ea typeface="Arial" pitchFamily="34" charset="-122"/>
                <a:cs typeface="Arial" pitchFamily="34" charset="-120"/>
              </a:rPr>
              <a:t>TOTAL ORDERS</a:t>
            </a:r>
            <a:endParaRPr lang="en-US" sz="850" dirty="0"/>
          </a:p>
        </p:txBody>
      </p:sp>
      <p:sp>
        <p:nvSpPr>
          <p:cNvPr id="22" name="Shape 20"/>
          <p:cNvSpPr/>
          <p:nvPr/>
        </p:nvSpPr>
        <p:spPr>
          <a:xfrm>
            <a:off x="9747504" y="914400"/>
            <a:ext cx="2011680" cy="114300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23" name="Text 21"/>
          <p:cNvSpPr/>
          <p:nvPr/>
        </p:nvSpPr>
        <p:spPr>
          <a:xfrm>
            <a:off x="9747504" y="1051560"/>
            <a:ext cx="2011680" cy="548640"/>
          </a:xfrm>
          <a:prstGeom prst="rect">
            <a:avLst/>
          </a:prstGeom>
          <a:noFill/>
          <a:ln/>
        </p:spPr>
        <p:txBody>
          <a:bodyPr wrap="square" lIns="0" tIns="0" rIns="0" bIns="0" rtlCol="0" anchor="ctr"/>
          <a:lstStyle/>
          <a:p>
            <a:pPr marL="0" indent="0" algn="ctr">
              <a:buNone/>
            </a:pPr>
            <a:r>
              <a:rPr lang="en-US" sz="2600" b="1" dirty="0">
                <a:solidFill>
                  <a:srgbClr val="FFC72C"/>
                </a:solidFill>
                <a:latin typeface="Arial Black" pitchFamily="34" charset="0"/>
                <a:ea typeface="Arial Black" pitchFamily="34" charset="-122"/>
                <a:cs typeface="Arial Black" pitchFamily="34" charset="-120"/>
              </a:rPr>
              <a:t>35.2%</a:t>
            </a:r>
            <a:endParaRPr lang="en-US" sz="2600" dirty="0"/>
          </a:p>
        </p:txBody>
      </p:sp>
      <p:sp>
        <p:nvSpPr>
          <p:cNvPr id="24" name="Text 22"/>
          <p:cNvSpPr/>
          <p:nvPr/>
        </p:nvSpPr>
        <p:spPr>
          <a:xfrm>
            <a:off x="9747504" y="1645920"/>
            <a:ext cx="2011680" cy="320040"/>
          </a:xfrm>
          <a:prstGeom prst="rect">
            <a:avLst/>
          </a:prstGeom>
          <a:noFill/>
          <a:ln/>
        </p:spPr>
        <p:txBody>
          <a:bodyPr wrap="square" lIns="0" tIns="0" rIns="0" bIns="0" rtlCol="0" anchor="ctr"/>
          <a:lstStyle/>
          <a:p>
            <a:pPr marL="0" indent="0" algn="ctr">
              <a:buNone/>
            </a:pPr>
            <a:r>
              <a:rPr lang="en-US" sz="850" kern="0" spc="100" dirty="0">
                <a:solidFill>
                  <a:srgbClr val="CCCCCC"/>
                </a:solidFill>
                <a:latin typeface="Arial" pitchFamily="34" charset="0"/>
                <a:ea typeface="Arial" pitchFamily="34" charset="-122"/>
                <a:cs typeface="Arial" pitchFamily="34" charset="-120"/>
              </a:rPr>
              <a:t>BURGER REVENUE SHARE</a:t>
            </a:r>
            <a:endParaRPr lang="en-US" sz="850" dirty="0"/>
          </a:p>
        </p:txBody>
      </p:sp>
      <p:sp>
        <p:nvSpPr>
          <p:cNvPr id="25" name="Shape 23"/>
          <p:cNvSpPr/>
          <p:nvPr/>
        </p:nvSpPr>
        <p:spPr>
          <a:xfrm>
            <a:off x="5394960" y="2240280"/>
            <a:ext cx="2011680" cy="114300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26" name="Text 24"/>
          <p:cNvSpPr/>
          <p:nvPr/>
        </p:nvSpPr>
        <p:spPr>
          <a:xfrm>
            <a:off x="5394960" y="2377440"/>
            <a:ext cx="2011680" cy="548640"/>
          </a:xfrm>
          <a:prstGeom prst="rect">
            <a:avLst/>
          </a:prstGeom>
          <a:noFill/>
          <a:ln/>
        </p:spPr>
        <p:txBody>
          <a:bodyPr wrap="square" lIns="0" tIns="0" rIns="0" bIns="0" rtlCol="0" anchor="ctr"/>
          <a:lstStyle/>
          <a:p>
            <a:pPr marL="0" indent="0" algn="ctr">
              <a:buNone/>
            </a:pPr>
            <a:r>
              <a:rPr lang="en-US" sz="2600" b="1" dirty="0">
                <a:solidFill>
                  <a:srgbClr val="FFC72C"/>
                </a:solidFill>
                <a:latin typeface="Arial Black" pitchFamily="34" charset="0"/>
                <a:ea typeface="Arial Black" pitchFamily="34" charset="-122"/>
                <a:cs typeface="Arial Black" pitchFamily="34" charset="-120"/>
              </a:rPr>
              <a:t>72%</a:t>
            </a:r>
            <a:endParaRPr lang="en-US" sz="2600" dirty="0"/>
          </a:p>
        </p:txBody>
      </p:sp>
      <p:sp>
        <p:nvSpPr>
          <p:cNvPr id="27" name="Text 25"/>
          <p:cNvSpPr/>
          <p:nvPr/>
        </p:nvSpPr>
        <p:spPr>
          <a:xfrm>
            <a:off x="5394960" y="2971800"/>
            <a:ext cx="2011680" cy="320040"/>
          </a:xfrm>
          <a:prstGeom prst="rect">
            <a:avLst/>
          </a:prstGeom>
          <a:noFill/>
          <a:ln/>
        </p:spPr>
        <p:txBody>
          <a:bodyPr wrap="square" lIns="0" tIns="0" rIns="0" bIns="0" rtlCol="0" anchor="ctr"/>
          <a:lstStyle/>
          <a:p>
            <a:pPr marL="0" indent="0" algn="ctr">
              <a:buNone/>
            </a:pPr>
            <a:r>
              <a:rPr lang="en-US" sz="850" kern="0" spc="100" dirty="0">
                <a:solidFill>
                  <a:srgbClr val="CCCCCC"/>
                </a:solidFill>
                <a:latin typeface="Arial" pitchFamily="34" charset="0"/>
                <a:ea typeface="Arial" pitchFamily="34" charset="-122"/>
                <a:cs typeface="Arial" pitchFamily="34" charset="-120"/>
              </a:rPr>
              <a:t>WEEKEND REVENUE SHARE</a:t>
            </a:r>
            <a:endParaRPr lang="en-US" sz="850" dirty="0"/>
          </a:p>
        </p:txBody>
      </p:sp>
      <p:sp>
        <p:nvSpPr>
          <p:cNvPr id="28" name="Shape 26"/>
          <p:cNvSpPr/>
          <p:nvPr/>
        </p:nvSpPr>
        <p:spPr>
          <a:xfrm>
            <a:off x="7571232" y="2240280"/>
            <a:ext cx="2011680" cy="114300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29" name="Text 27"/>
          <p:cNvSpPr/>
          <p:nvPr/>
        </p:nvSpPr>
        <p:spPr>
          <a:xfrm>
            <a:off x="7571232" y="2377440"/>
            <a:ext cx="2011680" cy="548640"/>
          </a:xfrm>
          <a:prstGeom prst="rect">
            <a:avLst/>
          </a:prstGeom>
          <a:noFill/>
          <a:ln/>
        </p:spPr>
        <p:txBody>
          <a:bodyPr wrap="square" lIns="0" tIns="0" rIns="0" bIns="0" rtlCol="0" anchor="ctr"/>
          <a:lstStyle/>
          <a:p>
            <a:pPr marL="0" indent="0" algn="ctr">
              <a:buNone/>
            </a:pPr>
            <a:r>
              <a:rPr lang="en-US" sz="2000" b="1" dirty="0">
                <a:solidFill>
                  <a:srgbClr val="FFC72C"/>
                </a:solidFill>
                <a:latin typeface="Arial Black" pitchFamily="34" charset="0"/>
                <a:ea typeface="Arial Black" pitchFamily="34" charset="-122"/>
                <a:cs typeface="Arial Black" pitchFamily="34" charset="-120"/>
              </a:rPr>
              <a:t>₹20.91K</a:t>
            </a:r>
            <a:endParaRPr lang="en-US" sz="2000" dirty="0"/>
          </a:p>
        </p:txBody>
      </p:sp>
      <p:sp>
        <p:nvSpPr>
          <p:cNvPr id="30" name="Text 28"/>
          <p:cNvSpPr/>
          <p:nvPr/>
        </p:nvSpPr>
        <p:spPr>
          <a:xfrm>
            <a:off x="7571232" y="2971800"/>
            <a:ext cx="2011680" cy="320040"/>
          </a:xfrm>
          <a:prstGeom prst="rect">
            <a:avLst/>
          </a:prstGeom>
          <a:noFill/>
          <a:ln/>
        </p:spPr>
        <p:txBody>
          <a:bodyPr wrap="square" lIns="0" tIns="0" rIns="0" bIns="0" rtlCol="0" anchor="ctr"/>
          <a:lstStyle/>
          <a:p>
            <a:pPr marL="0" indent="0" algn="ctr">
              <a:buNone/>
            </a:pPr>
            <a:r>
              <a:rPr lang="en-US" sz="850" kern="0" spc="100" dirty="0">
                <a:solidFill>
                  <a:srgbClr val="CCCCCC"/>
                </a:solidFill>
                <a:latin typeface="Arial" pitchFamily="34" charset="0"/>
                <a:ea typeface="Arial" pitchFamily="34" charset="-122"/>
                <a:cs typeface="Arial" pitchFamily="34" charset="-120"/>
              </a:rPr>
              <a:t>BEST MONTH (MARCH)</a:t>
            </a:r>
            <a:endParaRPr lang="en-US" sz="850" dirty="0"/>
          </a:p>
        </p:txBody>
      </p:sp>
      <p:sp>
        <p:nvSpPr>
          <p:cNvPr id="31" name="Shape 29"/>
          <p:cNvSpPr/>
          <p:nvPr/>
        </p:nvSpPr>
        <p:spPr>
          <a:xfrm>
            <a:off x="9747504" y="2240280"/>
            <a:ext cx="2011680" cy="1143000"/>
          </a:xfrm>
          <a:prstGeom prst="rect">
            <a:avLst/>
          </a:prstGeom>
          <a:solidFill>
            <a:srgbClr val="2A0000"/>
          </a:solidFill>
          <a:ln w="12700">
            <a:solidFill>
              <a:srgbClr val="FFC72C"/>
            </a:solidFill>
            <a:prstDash val="solid"/>
          </a:ln>
          <a:effectLst>
            <a:outerShdw blurRad="101600" dist="38100" dir="8100000" algn="bl" rotWithShape="0">
              <a:srgbClr val="000000">
                <a:alpha val="12000"/>
              </a:srgbClr>
            </a:outerShdw>
          </a:effectLst>
        </p:spPr>
      </p:sp>
      <p:sp>
        <p:nvSpPr>
          <p:cNvPr id="32" name="Text 30"/>
          <p:cNvSpPr/>
          <p:nvPr/>
        </p:nvSpPr>
        <p:spPr>
          <a:xfrm>
            <a:off x="9747504" y="2377440"/>
            <a:ext cx="2011680" cy="548640"/>
          </a:xfrm>
          <a:prstGeom prst="rect">
            <a:avLst/>
          </a:prstGeom>
          <a:noFill/>
          <a:ln/>
        </p:spPr>
        <p:txBody>
          <a:bodyPr wrap="square" lIns="0" tIns="0" rIns="0" bIns="0" rtlCol="0" anchor="ctr"/>
          <a:lstStyle/>
          <a:p>
            <a:pPr marL="0" indent="0" algn="ctr">
              <a:buNone/>
            </a:pPr>
            <a:r>
              <a:rPr lang="en-US" sz="2600" b="1" dirty="0">
                <a:solidFill>
                  <a:srgbClr val="FFC72C"/>
                </a:solidFill>
                <a:latin typeface="Arial Black" pitchFamily="34" charset="0"/>
                <a:ea typeface="Arial Black" pitchFamily="34" charset="-122"/>
                <a:cs typeface="Arial Black" pitchFamily="34" charset="-120"/>
              </a:rPr>
              <a:t>622</a:t>
            </a:r>
            <a:endParaRPr lang="en-US" sz="2600" dirty="0"/>
          </a:p>
        </p:txBody>
      </p:sp>
      <p:sp>
        <p:nvSpPr>
          <p:cNvPr id="33" name="Text 31"/>
          <p:cNvSpPr/>
          <p:nvPr/>
        </p:nvSpPr>
        <p:spPr>
          <a:xfrm>
            <a:off x="9747504" y="2971800"/>
            <a:ext cx="2011680" cy="320040"/>
          </a:xfrm>
          <a:prstGeom prst="rect">
            <a:avLst/>
          </a:prstGeom>
          <a:noFill/>
          <a:ln/>
        </p:spPr>
        <p:txBody>
          <a:bodyPr wrap="square" lIns="0" tIns="0" rIns="0" bIns="0" rtlCol="0" anchor="ctr"/>
          <a:lstStyle/>
          <a:p>
            <a:pPr marL="0" indent="0" algn="ctr">
              <a:buNone/>
            </a:pPr>
            <a:r>
              <a:rPr lang="en-US" sz="850" kern="0" spc="100" dirty="0">
                <a:solidFill>
                  <a:srgbClr val="CCCCCC"/>
                </a:solidFill>
                <a:latin typeface="Arial" pitchFamily="34" charset="0"/>
                <a:ea typeface="Arial" pitchFamily="34" charset="-122"/>
                <a:cs typeface="Arial" pitchFamily="34" charset="-120"/>
              </a:rPr>
              <a:t>BIG MAC ORDERS (#1)</a:t>
            </a:r>
            <a:endParaRPr lang="en-US" sz="850" dirty="0"/>
          </a:p>
        </p:txBody>
      </p:sp>
      <p:sp>
        <p:nvSpPr>
          <p:cNvPr id="34" name="Shape 32"/>
          <p:cNvSpPr/>
          <p:nvPr/>
        </p:nvSpPr>
        <p:spPr>
          <a:xfrm>
            <a:off x="5394960" y="3611880"/>
            <a:ext cx="6492240" cy="1417320"/>
          </a:xfrm>
          <a:prstGeom prst="rect">
            <a:avLst/>
          </a:prstGeom>
          <a:solidFill>
            <a:srgbClr val="2A0000"/>
          </a:solidFill>
          <a:ln w="12700">
            <a:solidFill>
              <a:srgbClr val="444444"/>
            </a:solidFill>
            <a:prstDash val="solid"/>
          </a:ln>
        </p:spPr>
      </p:sp>
      <p:sp>
        <p:nvSpPr>
          <p:cNvPr id="35" name="Shape 33"/>
          <p:cNvSpPr/>
          <p:nvPr/>
        </p:nvSpPr>
        <p:spPr>
          <a:xfrm>
            <a:off x="5394960" y="3611880"/>
            <a:ext cx="73152" cy="1417320"/>
          </a:xfrm>
          <a:prstGeom prst="rect">
            <a:avLst/>
          </a:prstGeom>
          <a:solidFill>
            <a:srgbClr val="FFC72C"/>
          </a:solidFill>
          <a:ln w="12700">
            <a:solidFill>
              <a:srgbClr val="FFC72C"/>
            </a:solidFill>
            <a:prstDash val="solid"/>
          </a:ln>
        </p:spPr>
      </p:sp>
      <p:sp>
        <p:nvSpPr>
          <p:cNvPr id="36" name="Text 34"/>
          <p:cNvSpPr/>
          <p:nvPr/>
        </p:nvSpPr>
        <p:spPr>
          <a:xfrm>
            <a:off x="5532120" y="3703320"/>
            <a:ext cx="6263640" cy="1234440"/>
          </a:xfrm>
          <a:prstGeom prst="rect">
            <a:avLst/>
          </a:prstGeom>
          <a:noFill/>
          <a:ln/>
        </p:spPr>
        <p:txBody>
          <a:bodyPr wrap="square" lIns="0" tIns="0" rIns="0" bIns="0" rtlCol="0" anchor="t"/>
          <a:lstStyle/>
          <a:p>
            <a:pPr marL="0" indent="0">
              <a:buNone/>
            </a:pPr>
            <a:r>
              <a:rPr lang="en-US" sz="1100" i="1" dirty="0">
                <a:solidFill>
                  <a:srgbClr val="DDDDDD"/>
                </a:solidFill>
                <a:latin typeface="Calibri" pitchFamily="34" charset="0"/>
                <a:ea typeface="Calibri" pitchFamily="34" charset="-122"/>
                <a:cs typeface="Calibri" pitchFamily="34" charset="-120"/>
              </a:rPr>
              <a:t>"Data transforms restaurant operations — from guessing what customers want to knowing exactly when, what, and how much they will order. This analysis equips McDonald's decision-makers with the clarity to act strategically, not reactively."</a:t>
            </a:r>
            <a:endParaRPr lang="en-US" sz="1100" dirty="0"/>
          </a:p>
        </p:txBody>
      </p:sp>
      <p:sp>
        <p:nvSpPr>
          <p:cNvPr id="37" name="Shape 35"/>
          <p:cNvSpPr/>
          <p:nvPr/>
        </p:nvSpPr>
        <p:spPr>
          <a:xfrm>
            <a:off x="5394960" y="5166360"/>
            <a:ext cx="6492240" cy="36576"/>
          </a:xfrm>
          <a:prstGeom prst="rect">
            <a:avLst/>
          </a:prstGeom>
          <a:solidFill>
            <a:srgbClr val="FFC72C"/>
          </a:solidFill>
          <a:ln w="12700">
            <a:solidFill>
              <a:srgbClr val="FFC72C"/>
            </a:solidFill>
            <a:prstDash val="solid"/>
          </a:ln>
        </p:spPr>
      </p:sp>
      <p:sp>
        <p:nvSpPr>
          <p:cNvPr id="38" name="Text 36"/>
          <p:cNvSpPr/>
          <p:nvPr/>
        </p:nvSpPr>
        <p:spPr>
          <a:xfrm>
            <a:off x="5394960" y="5257800"/>
            <a:ext cx="6492240" cy="256032"/>
          </a:xfrm>
          <a:prstGeom prst="rect">
            <a:avLst/>
          </a:prstGeom>
          <a:noFill/>
          <a:ln/>
        </p:spPr>
        <p:txBody>
          <a:bodyPr wrap="square" lIns="0" tIns="0" rIns="0" bIns="0" rtlCol="0" anchor="ctr"/>
          <a:lstStyle/>
          <a:p>
            <a:pPr marL="0" indent="0" algn="ctr">
              <a:buNone/>
            </a:pPr>
            <a:r>
              <a:rPr lang="en-US" sz="900" b="1" kern="0" spc="300" dirty="0">
                <a:solidFill>
                  <a:srgbClr val="FFC72C"/>
                </a:solidFill>
                <a:latin typeface="Arial" pitchFamily="34" charset="0"/>
                <a:ea typeface="Arial" pitchFamily="34" charset="-122"/>
                <a:cs typeface="Arial" pitchFamily="34" charset="-120"/>
              </a:rPr>
              <a:t>TOOLS USED IN THIS PROJECT</a:t>
            </a:r>
            <a:endParaRPr lang="en-US" sz="900" dirty="0"/>
          </a:p>
        </p:txBody>
      </p:sp>
      <p:sp>
        <p:nvSpPr>
          <p:cNvPr id="39" name="Shape 37"/>
          <p:cNvSpPr/>
          <p:nvPr/>
        </p:nvSpPr>
        <p:spPr>
          <a:xfrm>
            <a:off x="5394960" y="5577840"/>
            <a:ext cx="1207008" cy="502920"/>
          </a:xfrm>
          <a:prstGeom prst="rect">
            <a:avLst/>
          </a:prstGeom>
          <a:solidFill>
            <a:srgbClr val="DA0000"/>
          </a:solidFill>
          <a:ln w="12700">
            <a:solidFill>
              <a:srgbClr val="9B0000"/>
            </a:solidFill>
            <a:prstDash val="solid"/>
          </a:ln>
        </p:spPr>
      </p:sp>
      <p:sp>
        <p:nvSpPr>
          <p:cNvPr id="40" name="Text 38"/>
          <p:cNvSpPr/>
          <p:nvPr/>
        </p:nvSpPr>
        <p:spPr>
          <a:xfrm>
            <a:off x="5394960" y="5614416"/>
            <a:ext cx="1207008" cy="42976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Microsoft Excel</a:t>
            </a:r>
            <a:endParaRPr lang="en-US" sz="850" dirty="0"/>
          </a:p>
        </p:txBody>
      </p:sp>
      <p:sp>
        <p:nvSpPr>
          <p:cNvPr id="41" name="Shape 39"/>
          <p:cNvSpPr/>
          <p:nvPr/>
        </p:nvSpPr>
        <p:spPr>
          <a:xfrm>
            <a:off x="6693408" y="5577840"/>
            <a:ext cx="1207008" cy="502920"/>
          </a:xfrm>
          <a:prstGeom prst="rect">
            <a:avLst/>
          </a:prstGeom>
          <a:solidFill>
            <a:srgbClr val="DA0000"/>
          </a:solidFill>
          <a:ln w="12700">
            <a:solidFill>
              <a:srgbClr val="9B0000"/>
            </a:solidFill>
            <a:prstDash val="solid"/>
          </a:ln>
        </p:spPr>
      </p:sp>
      <p:sp>
        <p:nvSpPr>
          <p:cNvPr id="42" name="Text 40"/>
          <p:cNvSpPr/>
          <p:nvPr/>
        </p:nvSpPr>
        <p:spPr>
          <a:xfrm>
            <a:off x="6693408" y="5614416"/>
            <a:ext cx="1207008" cy="42976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Power Query</a:t>
            </a:r>
            <a:endParaRPr lang="en-US" sz="850" dirty="0"/>
          </a:p>
        </p:txBody>
      </p:sp>
      <p:sp>
        <p:nvSpPr>
          <p:cNvPr id="43" name="Shape 41"/>
          <p:cNvSpPr/>
          <p:nvPr/>
        </p:nvSpPr>
        <p:spPr>
          <a:xfrm>
            <a:off x="7991856" y="5577840"/>
            <a:ext cx="1207008" cy="502920"/>
          </a:xfrm>
          <a:prstGeom prst="rect">
            <a:avLst/>
          </a:prstGeom>
          <a:solidFill>
            <a:srgbClr val="DA0000"/>
          </a:solidFill>
          <a:ln w="12700">
            <a:solidFill>
              <a:srgbClr val="9B0000"/>
            </a:solidFill>
            <a:prstDash val="solid"/>
          </a:ln>
        </p:spPr>
      </p:sp>
      <p:sp>
        <p:nvSpPr>
          <p:cNvPr id="44" name="Text 42"/>
          <p:cNvSpPr/>
          <p:nvPr/>
        </p:nvSpPr>
        <p:spPr>
          <a:xfrm>
            <a:off x="7991856" y="5614416"/>
            <a:ext cx="1207008" cy="42976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Pivot Tables</a:t>
            </a:r>
            <a:endParaRPr lang="en-US" sz="850" dirty="0"/>
          </a:p>
        </p:txBody>
      </p:sp>
      <p:sp>
        <p:nvSpPr>
          <p:cNvPr id="45" name="Shape 43"/>
          <p:cNvSpPr/>
          <p:nvPr/>
        </p:nvSpPr>
        <p:spPr>
          <a:xfrm>
            <a:off x="9290304" y="5577840"/>
            <a:ext cx="1207008" cy="502920"/>
          </a:xfrm>
          <a:prstGeom prst="rect">
            <a:avLst/>
          </a:prstGeom>
          <a:solidFill>
            <a:srgbClr val="DA0000"/>
          </a:solidFill>
          <a:ln w="12700">
            <a:solidFill>
              <a:srgbClr val="9B0000"/>
            </a:solidFill>
            <a:prstDash val="solid"/>
          </a:ln>
        </p:spPr>
      </p:sp>
      <p:sp>
        <p:nvSpPr>
          <p:cNvPr id="46" name="Text 44"/>
          <p:cNvSpPr/>
          <p:nvPr/>
        </p:nvSpPr>
        <p:spPr>
          <a:xfrm>
            <a:off x="9290304" y="5614416"/>
            <a:ext cx="1207008" cy="42976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Pivot Charts</a:t>
            </a:r>
            <a:endParaRPr lang="en-US" sz="850" dirty="0"/>
          </a:p>
        </p:txBody>
      </p:sp>
      <p:sp>
        <p:nvSpPr>
          <p:cNvPr id="47" name="Shape 45"/>
          <p:cNvSpPr/>
          <p:nvPr/>
        </p:nvSpPr>
        <p:spPr>
          <a:xfrm>
            <a:off x="10588752" y="5577840"/>
            <a:ext cx="1207008" cy="502920"/>
          </a:xfrm>
          <a:prstGeom prst="rect">
            <a:avLst/>
          </a:prstGeom>
          <a:solidFill>
            <a:srgbClr val="DA0000"/>
          </a:solidFill>
          <a:ln w="12700">
            <a:solidFill>
              <a:srgbClr val="9B0000"/>
            </a:solidFill>
            <a:prstDash val="solid"/>
          </a:ln>
        </p:spPr>
      </p:sp>
      <p:sp>
        <p:nvSpPr>
          <p:cNvPr id="48" name="Text 46"/>
          <p:cNvSpPr/>
          <p:nvPr/>
        </p:nvSpPr>
        <p:spPr>
          <a:xfrm>
            <a:off x="10588752" y="5614416"/>
            <a:ext cx="1207008" cy="429768"/>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Dashboard Design</a:t>
            </a:r>
            <a:endParaRPr lang="en-US" sz="850" dirty="0"/>
          </a:p>
        </p:txBody>
      </p:sp>
      <p:sp>
        <p:nvSpPr>
          <p:cNvPr id="49" name="Shape 47"/>
          <p:cNvSpPr/>
          <p:nvPr/>
        </p:nvSpPr>
        <p:spPr>
          <a:xfrm>
            <a:off x="0" y="6537960"/>
            <a:ext cx="12161520" cy="320040"/>
          </a:xfrm>
          <a:prstGeom prst="rect">
            <a:avLst/>
          </a:prstGeom>
          <a:solidFill>
            <a:srgbClr val="0A0000"/>
          </a:solidFill>
          <a:ln w="12700">
            <a:solidFill>
              <a:srgbClr val="0A0000"/>
            </a:solidFill>
            <a:prstDash val="solid"/>
          </a:ln>
        </p:spPr>
      </p:sp>
      <p:sp>
        <p:nvSpPr>
          <p:cNvPr id="50" name="Text 48"/>
          <p:cNvSpPr/>
          <p:nvPr/>
        </p:nvSpPr>
        <p:spPr>
          <a:xfrm>
            <a:off x="274320" y="6565392"/>
            <a:ext cx="11612880" cy="256032"/>
          </a:xfrm>
          <a:prstGeom prst="rect">
            <a:avLst/>
          </a:prstGeom>
          <a:noFill/>
          <a:ln/>
        </p:spPr>
        <p:txBody>
          <a:bodyPr wrap="square" lIns="0" tIns="0" rIns="0" bIns="0" rtlCol="0" anchor="ctr"/>
          <a:lstStyle/>
          <a:p>
            <a:pPr marL="0" indent="0" algn="ctr">
              <a:buNone/>
            </a:pPr>
            <a:r>
              <a:rPr lang="en-US" sz="850" dirty="0">
                <a:solidFill>
                  <a:srgbClr val="888888"/>
                </a:solidFill>
                <a:latin typeface="Arial" pitchFamily="34" charset="0"/>
                <a:ea typeface="Arial" pitchFamily="34" charset="-122"/>
                <a:cs typeface="Arial" pitchFamily="34" charset="-120"/>
              </a:rPr>
              <a:t>McDonald's Sales Analysis Dashboard  |  EDA Report  |  Prepared by: Ranjeet Anada  |  May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1640</Words>
  <Application>Microsoft Office PowerPoint</Application>
  <PresentationFormat>Widescreen</PresentationFormat>
  <Paragraphs>286</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Calibri</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McDonald's Sales Analysis - EDA Report</dc:title>
  <dc:subject>PptxGenJS Presentation</dc:subject>
  <dc:creator>Ranjeet Anada</dc:creator>
  <cp:lastModifiedBy>RANJEET CHOUDHARY</cp:lastModifiedBy>
  <cp:revision>2</cp:revision>
  <dcterms:created xsi:type="dcterms:W3CDTF">2026-05-11T11:22:23Z</dcterms:created>
  <dcterms:modified xsi:type="dcterms:W3CDTF">2026-05-12T10:39:04Z</dcterms:modified>
</cp:coreProperties>
</file>