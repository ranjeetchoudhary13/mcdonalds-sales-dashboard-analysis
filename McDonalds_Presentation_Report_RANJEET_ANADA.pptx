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DA00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355-430D-9DB9-715D0EBBD09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355-430D-9DB9-715D0EBBD09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355-430D-9DB9-715D0EBBD09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6355-430D-9DB9-715D0EBBD09D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6355-430D-9DB9-715D0EBBD09D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6355-430D-9DB9-715D0EBBD09D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6355-430D-9DB9-715D0EBBD09D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6355-430D-9DB9-715D0EBBD09D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6355-430D-9DB9-715D0EBBD09D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6355-430D-9DB9-715D0EBBD09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Breakfast</c:v>
                </c:pt>
                <c:pt idx="1">
                  <c:v>Burger</c:v>
                </c:pt>
                <c:pt idx="2">
                  <c:v>Chicken</c:v>
                </c:pt>
                <c:pt idx="3">
                  <c:v>Fries</c:v>
                </c:pt>
                <c:pt idx="4">
                  <c:v>Pasta</c:v>
                </c:pt>
                <c:pt idx="5">
                  <c:v>Salad</c:v>
                </c:pt>
                <c:pt idx="6">
                  <c:v>Sandwich</c:v>
                </c:pt>
                <c:pt idx="7">
                  <c:v>Shakes</c:v>
                </c:pt>
                <c:pt idx="8">
                  <c:v>Sides</c:v>
                </c:pt>
                <c:pt idx="9">
                  <c:v>Wraps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1270</c:v>
                </c:pt>
                <c:pt idx="1">
                  <c:v>21460</c:v>
                </c:pt>
                <c:pt idx="2">
                  <c:v>12280</c:v>
                </c:pt>
                <c:pt idx="3">
                  <c:v>2460</c:v>
                </c:pt>
                <c:pt idx="4">
                  <c:v>9150</c:v>
                </c:pt>
                <c:pt idx="5">
                  <c:v>1140</c:v>
                </c:pt>
                <c:pt idx="6">
                  <c:v>8130</c:v>
                </c:pt>
                <c:pt idx="7">
                  <c:v>1070</c:v>
                </c:pt>
                <c:pt idx="8">
                  <c:v>2820</c:v>
                </c:pt>
                <c:pt idx="9">
                  <c:v>1220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6355-430D-9DB9-715D0EBBD0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ln w="50800" cap="flat">
              <a:solidFill>
                <a:srgbClr val="DA00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A0000"/>
              </a:solidFill>
              <a:ln w="9525" cap="flat">
                <a:solidFill>
                  <a:srgbClr val="DA000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February</c:v>
                </c:pt>
                <c:pt idx="1">
                  <c:v>January</c:v>
                </c:pt>
                <c:pt idx="2">
                  <c:v>March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19480</c:v>
                </c:pt>
                <c:pt idx="1">
                  <c:v>20610</c:v>
                </c:pt>
                <c:pt idx="2">
                  <c:v>20910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91B-4A08-9389-7AC4142969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ln w="38100" cap="flat">
              <a:solidFill>
                <a:srgbClr val="DA00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A0000"/>
              </a:solidFill>
              <a:ln w="9525" cap="flat">
                <a:solidFill>
                  <a:srgbClr val="DA0000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10</c:v>
                </c:pt>
                <c:pt idx="1">
                  <c:v>11</c:v>
                </c:pt>
                <c:pt idx="2">
                  <c:v>12</c:v>
                </c:pt>
                <c:pt idx="3">
                  <c:v>13</c:v>
                </c:pt>
                <c:pt idx="4">
                  <c:v>14</c:v>
                </c:pt>
                <c:pt idx="5">
                  <c:v>15</c:v>
                </c:pt>
                <c:pt idx="6">
                  <c:v>16</c:v>
                </c:pt>
                <c:pt idx="7">
                  <c:v>17</c:v>
                </c:pt>
                <c:pt idx="8">
                  <c:v>18</c:v>
                </c:pt>
                <c:pt idx="9">
                  <c:v>19</c:v>
                </c:pt>
                <c:pt idx="10">
                  <c:v>20</c:v>
                </c:pt>
                <c:pt idx="11">
                  <c:v>21</c:v>
                </c:pt>
                <c:pt idx="12">
                  <c:v>22</c:v>
                </c:pt>
                <c:pt idx="13">
                  <c:v>23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120</c:v>
                </c:pt>
                <c:pt idx="1">
                  <c:v>280</c:v>
                </c:pt>
                <c:pt idx="2">
                  <c:v>640</c:v>
                </c:pt>
                <c:pt idx="3">
                  <c:v>580</c:v>
                </c:pt>
                <c:pt idx="4">
                  <c:v>560</c:v>
                </c:pt>
                <c:pt idx="5">
                  <c:v>490</c:v>
                </c:pt>
                <c:pt idx="6">
                  <c:v>380</c:v>
                </c:pt>
                <c:pt idx="7">
                  <c:v>600</c:v>
                </c:pt>
                <c:pt idx="8">
                  <c:v>580</c:v>
                </c:pt>
                <c:pt idx="9">
                  <c:v>570</c:v>
                </c:pt>
                <c:pt idx="10">
                  <c:v>400</c:v>
                </c:pt>
                <c:pt idx="11">
                  <c:v>350</c:v>
                </c:pt>
                <c:pt idx="12">
                  <c:v>200</c:v>
                </c:pt>
                <c:pt idx="13">
                  <c:v>10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515-42AB-A347-E51FCF4C67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C72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524-4311-9A54-F8ED92D15F15}"/>
              </c:ext>
            </c:extLst>
          </c:dPt>
          <c:dPt>
            <c:idx val="1"/>
            <c:bubble3D val="0"/>
            <c:spPr>
              <a:solidFill>
                <a:srgbClr val="DA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524-4311-9A54-F8ED92D15F15}"/>
              </c:ext>
            </c:extLst>
          </c:dPt>
          <c:dPt>
            <c:idx val="2"/>
            <c:bubble3D val="0"/>
            <c:spPr>
              <a:solidFill>
                <a:srgbClr val="1A1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524-4311-9A54-F8ED92D15F1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524-4311-9A54-F8ED92D15F1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524-4311-9A54-F8ED92D15F1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524-4311-9A54-F8ED92D15F1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Afternoon (2490)</c:v>
                </c:pt>
                <c:pt idx="1">
                  <c:v>Evening (2565)</c:v>
                </c:pt>
                <c:pt idx="2">
                  <c:v>Morning (288)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2490</c:v>
                </c:pt>
                <c:pt idx="1">
                  <c:v>2565</c:v>
                </c:pt>
                <c:pt idx="2">
                  <c:v>288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524-4311-9A54-F8ED92D15F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8B00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D22-4123-A6F1-EEE424F95D68}"/>
              </c:ext>
            </c:extLst>
          </c:dPt>
          <c:dPt>
            <c:idx val="1"/>
            <c:invertIfNegative val="0"/>
            <c:bubble3D val="0"/>
            <c:spPr>
              <a:solidFill>
                <a:srgbClr val="AA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D22-4123-A6F1-EEE424F95D68}"/>
              </c:ext>
            </c:extLst>
          </c:dPt>
          <c:dPt>
            <c:idx val="2"/>
            <c:invertIfNegative val="0"/>
            <c:bubble3D val="0"/>
            <c:spPr>
              <a:solidFill>
                <a:srgbClr val="C800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D22-4123-A6F1-EEE424F95D68}"/>
              </c:ext>
            </c:extLst>
          </c:dPt>
          <c:dPt>
            <c:idx val="3"/>
            <c:invertIfNegative val="0"/>
            <c:bubble3D val="0"/>
            <c:spPr>
              <a:solidFill>
                <a:srgbClr val="AA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D22-4123-A6F1-EEE424F95D68}"/>
              </c:ext>
            </c:extLst>
          </c:dPt>
          <c:dPt>
            <c:idx val="4"/>
            <c:invertIfNegative val="0"/>
            <c:bubble3D val="0"/>
            <c:spPr>
              <a:solidFill>
                <a:srgbClr val="DA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D22-4123-A6F1-EEE424F95D6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French Fries (Large)</c:v>
                </c:pt>
                <c:pt idx="1">
                  <c:v>Quarter Pounder with Cheese</c:v>
                </c:pt>
                <c:pt idx="2">
                  <c:v>Bulgogi Burger</c:v>
                </c:pt>
                <c:pt idx="3">
                  <c:v>Side Salad</c:v>
                </c:pt>
                <c:pt idx="4">
                  <c:v>Big Mac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571</c:v>
                </c:pt>
                <c:pt idx="1">
                  <c:v>583</c:v>
                </c:pt>
                <c:pt idx="2">
                  <c:v>588</c:v>
                </c:pt>
                <c:pt idx="3">
                  <c:v>620</c:v>
                </c:pt>
                <c:pt idx="4">
                  <c:v>622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D22-4123-A6F1-EEE424F95D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7724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5029200" y="0"/>
            <a:ext cx="109728" cy="685800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0"/>
            <a:ext cx="4480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FFC72C">
                    <a:alpha val="8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274320" y="26517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McDonald's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0" y="1005840"/>
            <a:ext cx="57943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IN" sz="2800" b="1" dirty="0">
                <a:solidFill>
                  <a:srgbClr val="FFC72C"/>
                </a:solidFill>
                <a:latin typeface="Arial Black" pitchFamily="34" charset="0"/>
              </a:rPr>
              <a:t>McDonald’s Sales Dashboard </a:t>
            </a:r>
            <a:endParaRPr lang="en-US" sz="2800" b="1" dirty="0">
              <a:solidFill>
                <a:srgbClr val="FFC72C"/>
              </a:solidFill>
              <a:latin typeface="Arial Black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0" y="16002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ANALYSIS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486400" y="2331720"/>
            <a:ext cx="6217920" cy="4572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2514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Using Excel, Power Query &amp; Pivot Tables</a:t>
            </a:r>
          </a:p>
        </p:txBody>
      </p:sp>
      <p:pic>
        <p:nvPicPr>
          <p:cNvPr id="10" name="Image 0" descr="/home/claude/dash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0" y="2971799"/>
            <a:ext cx="6400800" cy="3447661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6263640"/>
            <a:ext cx="5138928" cy="594360"/>
          </a:xfrm>
          <a:prstGeom prst="rect">
            <a:avLst/>
          </a:prstGeom>
          <a:solidFill>
            <a:srgbClr val="AA0000"/>
          </a:solidFill>
          <a:ln w="12700">
            <a:solidFill>
              <a:srgbClr val="AA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2880" y="62636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RANJEET ANADA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12161520" cy="64008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8872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73152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338560" y="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365760" y="868680"/>
            <a:ext cx="3657600" cy="534924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868680"/>
            <a:ext cx="3657600" cy="109728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05156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C72C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548640" y="2011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Objective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542032"/>
            <a:ext cx="45720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69748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McDonald's sales data to uncover revenue patterns, top-performing products, customer ordering behavior, and time-based trends across Feb–March.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160520" y="868680"/>
            <a:ext cx="3657600" cy="5349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160520" y="868680"/>
            <a:ext cx="3657600" cy="109728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97680" y="105156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C72C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5200" dirty="0"/>
          </a:p>
        </p:txBody>
      </p:sp>
      <p:sp>
        <p:nvSpPr>
          <p:cNvPr id="16" name="Text 13"/>
          <p:cNvSpPr/>
          <p:nvPr/>
        </p:nvSpPr>
        <p:spPr>
          <a:xfrm>
            <a:off x="4343400" y="2011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Purpose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343400" y="2542032"/>
            <a:ext cx="45720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43400" y="269748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Excel dashboard that enables data-driven decisions, tracks KPIs in real-time, and communicates insights visually to business stakeholders.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955280" y="868680"/>
            <a:ext cx="3657600" cy="5349240"/>
          </a:xfrm>
          <a:prstGeom prst="rect">
            <a:avLst/>
          </a:prstGeom>
          <a:solidFill>
            <a:srgbClr val="AA0000"/>
          </a:solidFill>
          <a:ln w="12700">
            <a:solidFill>
              <a:srgbClr val="AA0000"/>
            </a:solidFill>
            <a:prstDash val="solid"/>
          </a:ln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955280" y="868680"/>
            <a:ext cx="3657600" cy="109728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92440" y="105156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C72C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5200" dirty="0"/>
          </a:p>
        </p:txBody>
      </p:sp>
      <p:sp>
        <p:nvSpPr>
          <p:cNvPr id="22" name="Text 19"/>
          <p:cNvSpPr/>
          <p:nvPr/>
        </p:nvSpPr>
        <p:spPr>
          <a:xfrm>
            <a:off x="8138160" y="2011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Analysis Goals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138160" y="2542032"/>
            <a:ext cx="45720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38160" y="269748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high-revenue categories, peak ordering hours, weekday vs. weekend splits, and recommend targeted promotions to maximize revenue growth.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12161520" cy="64008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8872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73152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&amp; TECHNOLOGIES USED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338560" y="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457200" y="914400"/>
            <a:ext cx="5394960" cy="246888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914400"/>
            <a:ext cx="91440" cy="246888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14300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10972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Microsoft Excel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1463040" y="1664208"/>
            <a:ext cx="91440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0080" y="19202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tool for data storage, processing, and dashboard creation with advanced formulas and conditional formatting.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26480" y="914400"/>
            <a:ext cx="5394960" cy="2468880"/>
          </a:xfrm>
          <a:prstGeom prst="rect">
            <a:avLst/>
          </a:prstGeom>
          <a:solidFill>
            <a:srgbClr val="AA0000"/>
          </a:solidFill>
          <a:ln w="12700">
            <a:solidFill>
              <a:srgbClr val="AA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126480" y="914400"/>
            <a:ext cx="91440" cy="246888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14300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32320" y="10972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Query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7132320" y="1664208"/>
            <a:ext cx="91440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309360" y="19202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ETL operations — importing raw CSV data, cleaning columns, transforming data types, and merging tables.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3657600"/>
            <a:ext cx="5394960" cy="24688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" y="3657600"/>
            <a:ext cx="91440" cy="246888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886200"/>
            <a:ext cx="640080" cy="6400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3840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Pivot Tables</a:t>
            </a:r>
            <a:endParaRPr lang="en-US" sz="1700" dirty="0"/>
          </a:p>
        </p:txBody>
      </p:sp>
      <p:sp>
        <p:nvSpPr>
          <p:cNvPr id="23" name="Shape 17"/>
          <p:cNvSpPr/>
          <p:nvPr/>
        </p:nvSpPr>
        <p:spPr>
          <a:xfrm>
            <a:off x="1463040" y="4407408"/>
            <a:ext cx="91440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40080" y="46634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analysis engine for aggregating sales by category, time, product, and weekday/weekend splits.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126480" y="3657600"/>
            <a:ext cx="5394960" cy="2468880"/>
          </a:xfrm>
          <a:prstGeom prst="rect">
            <a:avLst/>
          </a:prstGeom>
          <a:solidFill>
            <a:srgbClr val="C8000B"/>
          </a:solidFill>
          <a:ln w="12700">
            <a:solidFill>
              <a:srgbClr val="C800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126480" y="3657600"/>
            <a:ext cx="91440" cy="246888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3886200"/>
            <a:ext cx="640080" cy="6400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32320" y="3840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Design</a:t>
            </a:r>
            <a:endParaRPr lang="en-US" sz="1700" dirty="0"/>
          </a:p>
        </p:txBody>
      </p:sp>
      <p:sp>
        <p:nvSpPr>
          <p:cNvPr id="29" name="Shape 22"/>
          <p:cNvSpPr/>
          <p:nvPr/>
        </p:nvSpPr>
        <p:spPr>
          <a:xfrm>
            <a:off x="7132320" y="4407408"/>
            <a:ext cx="91440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6309360" y="46634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chart configurations, slicers, KPI cards, donut charts, and interactive filters for a professional analytics feel.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12161520" cy="64008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8872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73152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338560" y="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365760" y="914400"/>
            <a:ext cx="530352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914400"/>
            <a:ext cx="5303520" cy="45720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914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COLUMNS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1508760"/>
            <a:ext cx="5303520" cy="448056"/>
          </a:xfrm>
          <a:prstGeom prst="rect">
            <a:avLst/>
          </a:prstGeom>
          <a:solidFill>
            <a:srgbClr val="FFF8E8"/>
          </a:solidFill>
          <a:ln w="12700">
            <a:solidFill>
              <a:srgbClr val="FFF8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1508760"/>
            <a:ext cx="1828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468880" y="1508760"/>
            <a:ext cx="3017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 for each order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1956816"/>
            <a:ext cx="1828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468880" y="1956816"/>
            <a:ext cx="3017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the order was placed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2404872"/>
            <a:ext cx="5303520" cy="448056"/>
          </a:xfrm>
          <a:prstGeom prst="rect">
            <a:avLst/>
          </a:prstGeom>
          <a:solidFill>
            <a:srgbClr val="FFF8E8"/>
          </a:solidFill>
          <a:ln w="12700">
            <a:solidFill>
              <a:srgbClr val="FFF8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404872"/>
            <a:ext cx="1828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Time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468880" y="2404872"/>
            <a:ext cx="3017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timestamp of order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48640" y="2852928"/>
            <a:ext cx="1828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Name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468880" y="2852928"/>
            <a:ext cx="3017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ordered by customer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65760" y="3300984"/>
            <a:ext cx="5303520" cy="448056"/>
          </a:xfrm>
          <a:prstGeom prst="rect">
            <a:avLst/>
          </a:prstGeom>
          <a:solidFill>
            <a:srgbClr val="FFF8E8"/>
          </a:solidFill>
          <a:ln w="12700">
            <a:solidFill>
              <a:srgbClr val="FFF8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3300984"/>
            <a:ext cx="1828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468880" y="3300984"/>
            <a:ext cx="3017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category (Burger, Chicken, etc.)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8640" y="3749040"/>
            <a:ext cx="1828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468880" y="3749040"/>
            <a:ext cx="3017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items ordered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65760" y="4197096"/>
            <a:ext cx="5303520" cy="448056"/>
          </a:xfrm>
          <a:prstGeom prst="rect">
            <a:avLst/>
          </a:prstGeom>
          <a:solidFill>
            <a:srgbClr val="FFF8E8"/>
          </a:solidFill>
          <a:ln w="12700">
            <a:solidFill>
              <a:srgbClr val="FFF8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" y="4197096"/>
            <a:ext cx="1828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 (₹)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468880" y="4197096"/>
            <a:ext cx="3017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item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48640" y="4645152"/>
            <a:ext cx="1828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(₹)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468880" y="4645152"/>
            <a:ext cx="3017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× Unit Price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65760" y="5093208"/>
            <a:ext cx="5303520" cy="448056"/>
          </a:xfrm>
          <a:prstGeom prst="rect">
            <a:avLst/>
          </a:prstGeom>
          <a:solidFill>
            <a:srgbClr val="FFF8E8"/>
          </a:solidFill>
          <a:ln w="12700">
            <a:solidFill>
              <a:srgbClr val="FFF8E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8640" y="5093208"/>
            <a:ext cx="1828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Type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2468880" y="5093208"/>
            <a:ext cx="3017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or Weekend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48640" y="5541264"/>
            <a:ext cx="1828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Name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2468880" y="5541264"/>
            <a:ext cx="3017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February, January, March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126480" y="914400"/>
            <a:ext cx="5669280" cy="256032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6400800" y="10058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STATISTICS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400800" y="1508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Records: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9052560" y="1508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~12,000+ rows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6400800" y="18562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Range: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9052560" y="18562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Mar 2024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400800" y="22037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Orders: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9052560" y="22037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5,343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6400800" y="25511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9052560" y="25511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food categories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6400800" y="28986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052560" y="28986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Excel .xlsx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6126480" y="3657600"/>
            <a:ext cx="5669280" cy="28346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Text 45"/>
          <p:cNvSpPr/>
          <p:nvPr/>
        </p:nvSpPr>
        <p:spPr>
          <a:xfrm>
            <a:off x="6400800" y="3794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STRUCTURE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6400800" y="425196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structured as a flat, denormalized transaction table where each row represents one item ordered. Multiple rows may share the same Order ID when a customer ordered multiple items, enabling order-level aggregation via Pivot Tables.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12161520" cy="64008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8872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73152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CLEANING PROCESS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338560" y="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274320" y="914400"/>
            <a:ext cx="3749040" cy="2606040"/>
          </a:xfrm>
          <a:prstGeom prst="rect">
            <a:avLst/>
          </a:prstGeom>
          <a:solidFill>
            <a:srgbClr val="DA0000"/>
          </a:solidFill>
          <a:ln w="12700">
            <a:solidFill>
              <a:srgbClr val="44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914400"/>
            <a:ext cx="3749040" cy="7315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10515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C72C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411480" y="1783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Null Handling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" y="2212848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and removed blank rows in Order ID, Item Name, and Revenue columns. Filled missing Category values using lookup from item reference table.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24528" y="914400"/>
            <a:ext cx="3749040" cy="2606040"/>
          </a:xfrm>
          <a:prstGeom prst="rect">
            <a:avLst/>
          </a:prstGeom>
          <a:solidFill>
            <a:srgbClr val="AA0000"/>
          </a:solidFill>
          <a:ln w="12700">
            <a:solidFill>
              <a:srgbClr val="44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24528" y="914400"/>
            <a:ext cx="3749040" cy="7315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61688" y="10515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C72C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4361688" y="1783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Date Formatting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361688" y="2212848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Order Date to DD/MM/YYYY format. Extracted Month Name and Hour using TEXT() and HOUR() functions for time-based analysis.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174736" y="914400"/>
            <a:ext cx="3749040" cy="2606040"/>
          </a:xfrm>
          <a:prstGeom prst="rect">
            <a:avLst/>
          </a:prstGeom>
          <a:solidFill>
            <a:srgbClr val="2D2D4E"/>
          </a:solidFill>
          <a:ln w="12700">
            <a:solidFill>
              <a:srgbClr val="44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174736" y="914400"/>
            <a:ext cx="3749040" cy="7315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11896" y="10515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C72C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800" dirty="0"/>
          </a:p>
        </p:txBody>
      </p:sp>
      <p:sp>
        <p:nvSpPr>
          <p:cNvPr id="20" name="Text 17"/>
          <p:cNvSpPr/>
          <p:nvPr/>
        </p:nvSpPr>
        <p:spPr>
          <a:xfrm>
            <a:off x="8311896" y="1783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Transformation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311896" y="2212848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Revenue column to numeric type. Added calculated columns: Total Revenue = Quantity × Unit Price. Validated all data types in Power Query.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274320" y="3703320"/>
            <a:ext cx="3749040" cy="2606040"/>
          </a:xfrm>
          <a:prstGeom prst="rect">
            <a:avLst/>
          </a:prstGeom>
          <a:solidFill>
            <a:srgbClr val="8B0000"/>
          </a:solidFill>
          <a:ln w="12700">
            <a:solidFill>
              <a:srgbClr val="44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74320" y="3703320"/>
            <a:ext cx="3749040" cy="7315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" y="38404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C72C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800" dirty="0"/>
          </a:p>
        </p:txBody>
      </p:sp>
      <p:sp>
        <p:nvSpPr>
          <p:cNvPr id="25" name="Text 22"/>
          <p:cNvSpPr/>
          <p:nvPr/>
        </p:nvSpPr>
        <p:spPr>
          <a:xfrm>
            <a:off x="411480" y="4572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Table Merging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11480" y="5001768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transactional data with a category reference table using Order ID as the primary key via Power Query merge (left join).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224528" y="3703320"/>
            <a:ext cx="3749040" cy="2606040"/>
          </a:xfrm>
          <a:prstGeom prst="rect">
            <a:avLst/>
          </a:prstGeom>
          <a:solidFill>
            <a:srgbClr val="3D1A00"/>
          </a:solidFill>
          <a:ln w="12700">
            <a:solidFill>
              <a:srgbClr val="44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224528" y="3703320"/>
            <a:ext cx="3749040" cy="7315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361688" y="38404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C72C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3800" dirty="0"/>
          </a:p>
        </p:txBody>
      </p:sp>
      <p:sp>
        <p:nvSpPr>
          <p:cNvPr id="30" name="Text 27"/>
          <p:cNvSpPr/>
          <p:nvPr/>
        </p:nvSpPr>
        <p:spPr>
          <a:xfrm>
            <a:off x="4361688" y="4572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361688" y="5001768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'Time Bucket' column (Morning/Afternoon/Evening) based on order hour. Added 'Day Type' column (Weekday/Weekend) from Order Date.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174736" y="3703320"/>
            <a:ext cx="3749040" cy="2606040"/>
          </a:xfrm>
          <a:prstGeom prst="rect">
            <a:avLst/>
          </a:prstGeom>
          <a:solidFill>
            <a:srgbClr val="1A3A1A"/>
          </a:solidFill>
          <a:ln w="12700">
            <a:solidFill>
              <a:srgbClr val="44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174736" y="3703320"/>
            <a:ext cx="3749040" cy="7315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311896" y="38404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C72C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3800" dirty="0"/>
          </a:p>
        </p:txBody>
      </p:sp>
      <p:sp>
        <p:nvSpPr>
          <p:cNvPr id="35" name="Text 32"/>
          <p:cNvSpPr/>
          <p:nvPr/>
        </p:nvSpPr>
        <p:spPr>
          <a:xfrm>
            <a:off x="8311896" y="4572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Final Validation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8311896" y="5001768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total order counts and revenue figures. Verified 5,343 unique orders and ₹61,004 total revenue before building the dashboard.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12161520" cy="64008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8872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73152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PERFORMANCE INDICATORS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338560" y="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365760" y="914400"/>
            <a:ext cx="2697480" cy="274320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914400"/>
            <a:ext cx="2697480" cy="9144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097280"/>
            <a:ext cx="685800" cy="685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18745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₹61,004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57200" y="26974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Jan–Mar 2024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218688" y="914400"/>
            <a:ext cx="2697480" cy="2743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218688" y="914400"/>
            <a:ext cx="2697480" cy="9144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528" y="1097280"/>
            <a:ext cx="685800" cy="6858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10128" y="18745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5,343</a:t>
            </a:r>
            <a:endParaRPr lang="en-US" sz="3200" dirty="0"/>
          </a:p>
        </p:txBody>
      </p:sp>
      <p:sp>
        <p:nvSpPr>
          <p:cNvPr id="17" name="Text 12"/>
          <p:cNvSpPr/>
          <p:nvPr/>
        </p:nvSpPr>
        <p:spPr>
          <a:xfrm>
            <a:off x="3310128" y="26974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3310128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unique orders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071616" y="914400"/>
            <a:ext cx="2697480" cy="2743200"/>
          </a:xfrm>
          <a:prstGeom prst="rect">
            <a:avLst/>
          </a:prstGeom>
          <a:solidFill>
            <a:srgbClr val="AA0000"/>
          </a:solidFill>
          <a:ln w="12700">
            <a:solidFill>
              <a:srgbClr val="AA0000"/>
            </a:solidFill>
            <a:prstDash val="solid"/>
          </a:ln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071616" y="914400"/>
            <a:ext cx="2697480" cy="9144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7456" y="1097280"/>
            <a:ext cx="685800" cy="6858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63056" y="18745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2.26</a:t>
            </a:r>
            <a:endParaRPr lang="en-US" sz="3200" dirty="0"/>
          </a:p>
        </p:txBody>
      </p:sp>
      <p:sp>
        <p:nvSpPr>
          <p:cNvPr id="23" name="Text 17"/>
          <p:cNvSpPr/>
          <p:nvPr/>
        </p:nvSpPr>
        <p:spPr>
          <a:xfrm>
            <a:off x="6163056" y="26974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AVG ITEMS / ORDER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6163056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per transaction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8924544" y="914400"/>
            <a:ext cx="2697480" cy="27432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924544" y="914400"/>
            <a:ext cx="2697480" cy="9144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0384" y="1097280"/>
            <a:ext cx="685800" cy="6858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015984" y="18745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Big Mac</a:t>
            </a:r>
            <a:endParaRPr lang="en-US" sz="2200" dirty="0"/>
          </a:p>
        </p:txBody>
      </p:sp>
      <p:sp>
        <p:nvSpPr>
          <p:cNvPr id="29" name="Text 22"/>
          <p:cNvSpPr/>
          <p:nvPr/>
        </p:nvSpPr>
        <p:spPr>
          <a:xfrm>
            <a:off x="9015984" y="26974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PRODUCT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9015984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ordered item — 622 orders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365760" y="3703320"/>
            <a:ext cx="11384280" cy="31883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Text 25"/>
          <p:cNvSpPr/>
          <p:nvPr/>
        </p:nvSpPr>
        <p:spPr>
          <a:xfrm>
            <a:off x="548640" y="3931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A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PREVIEW</a:t>
            </a:r>
            <a:endParaRPr lang="en-US" sz="1000" dirty="0"/>
          </a:p>
        </p:txBody>
      </p:sp>
      <p:pic>
        <p:nvPicPr>
          <p:cNvPr id="33" name="Image 5" descr="/home/claude/dashboar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394236" y="3731312"/>
            <a:ext cx="9227788" cy="31266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12161520" cy="64008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8872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73152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CATEGORY-WISE REVENUE ANALYSIS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338560" y="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36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914400"/>
          <a:ext cx="7132320" cy="5212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7772400" y="914400"/>
            <a:ext cx="4023360" cy="521208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95528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955280" y="1508760"/>
            <a:ext cx="91440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95528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Burger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955280" y="2057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₹21,460 — Top revenue category (35% share)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95528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🍗 Chicken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955280" y="2880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₹12,280 — Strong second performer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95528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🍝 Pasta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955280" y="3703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₹9,150 — Solid mid-tier category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95528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🥪 Sandwich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955280" y="4526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₹8,130 — Popular menu choice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7955280" y="5029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📉 Breakfast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955280" y="5349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₹1,270 — Lowest — growth opportunity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12161520" cy="64008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8872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73152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MONTHLY REVENUE TREND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338560" y="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36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914400"/>
          <a:ext cx="7772400" cy="5212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8503920" y="1005840"/>
            <a:ext cx="3291840" cy="15544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503920" y="1005840"/>
            <a:ext cx="91440" cy="155448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732520" y="10972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February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732520" y="14447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₹19,480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8732520" y="20116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baseline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8503920" y="2697480"/>
            <a:ext cx="3291840" cy="1554480"/>
          </a:xfrm>
          <a:prstGeom prst="rect">
            <a:avLst/>
          </a:prstGeom>
          <a:solidFill>
            <a:srgbClr val="AA0000"/>
          </a:solidFill>
          <a:ln w="12700">
            <a:solidFill>
              <a:srgbClr val="AA000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503920" y="2697480"/>
            <a:ext cx="91440" cy="155448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732520" y="27889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January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732520" y="31363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₹20,610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10607040" y="32004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5.8%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732520" y="37033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+5.8% from Feb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8503920" y="4389120"/>
            <a:ext cx="3291840" cy="155448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503920" y="4389120"/>
            <a:ext cx="91440" cy="155448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732520" y="44805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March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8732520" y="48280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₹20,910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10607040" y="4892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7.3%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732520" y="53949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 — highest revenue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8503920" y="6126480"/>
            <a:ext cx="3291840" cy="50292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549640" y="6126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recorded the highest revenue at ₹20,910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12161520" cy="64008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8872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73152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ORDER ANALYSIS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338560" y="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365760" y="914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A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ORDERS BY HOUR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1325880"/>
          <a:ext cx="685800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365760" y="4114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A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ORDERS BY TIME BUCKET</a:t>
            </a:r>
            <a:endParaRPr lang="en-US" sz="13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365760" y="4480560"/>
          <a:ext cx="41148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Shape 6"/>
          <p:cNvSpPr/>
          <p:nvPr/>
        </p:nvSpPr>
        <p:spPr>
          <a:xfrm>
            <a:off x="7589520" y="914400"/>
            <a:ext cx="4206240" cy="557784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7772400" y="1051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ORDER INSIGHTS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7772400" y="1508760"/>
            <a:ext cx="91440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7772400" y="1737360"/>
            <a:ext cx="73152" cy="64008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955280" y="1737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Peak Hour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7955280" y="2029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PM with 640+ orders — lunchtime rush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7772400" y="2514600"/>
            <a:ext cx="73152" cy="64008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955280" y="2514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Evening Bucket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7955280" y="2807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2,565 orders — busiest time of day (48%)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7772400" y="3291840"/>
            <a:ext cx="73152" cy="64008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955280" y="3291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Afternoon Bucket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7955280" y="3584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2,490 orders — strong afternoon demand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7772400" y="4069080"/>
            <a:ext cx="73152" cy="64008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955280" y="4069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Morning Bucket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7955280" y="43616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288 orders — breakfast gap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7772400" y="4846320"/>
            <a:ext cx="73152" cy="64008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955280" y="4846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Double Peak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7955280" y="51389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(12 PM) and early evening (5–6 PM) show dual peaks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7772400" y="5623560"/>
            <a:ext cx="73152" cy="64008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955280" y="5623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Night Drop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7955280" y="5916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drop sharply after 10 PM to near zero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12161520" cy="64008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8872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73152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5 PRODUCTS BY ORDERS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338560" y="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36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914400"/>
          <a:ext cx="6858000" cy="5212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7589520" y="96012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589520" y="960120"/>
            <a:ext cx="685800" cy="91440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589520" y="960120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#1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366760" y="10332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Big Mac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366760" y="14356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622 orders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0332720" y="1435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11.6%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589520" y="1984248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589520" y="1984248"/>
            <a:ext cx="685800" cy="914400"/>
          </a:xfrm>
          <a:prstGeom prst="rect">
            <a:avLst/>
          </a:prstGeom>
          <a:solidFill>
            <a:srgbClr val="AA0000"/>
          </a:solidFill>
          <a:ln w="12700">
            <a:solidFill>
              <a:srgbClr val="AA000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589520" y="1984248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8366760" y="20574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Side Salad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8366760" y="24597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620 orders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0332720" y="24597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11.6%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589520" y="3008376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589520" y="3008376"/>
            <a:ext cx="685800" cy="914400"/>
          </a:xfrm>
          <a:prstGeom prst="rect">
            <a:avLst/>
          </a:prstGeom>
          <a:solidFill>
            <a:srgbClr val="C8000B"/>
          </a:solidFill>
          <a:ln w="12700">
            <a:solidFill>
              <a:srgbClr val="C8000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589520" y="3008376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#3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8366760" y="30815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Bulgogi Burger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8366760" y="34838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588 orders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10332720" y="3483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7589520" y="4032504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7589520" y="4032504"/>
            <a:ext cx="685800" cy="914400"/>
          </a:xfrm>
          <a:prstGeom prst="rect">
            <a:avLst/>
          </a:prstGeom>
          <a:solidFill>
            <a:srgbClr val="AA0000"/>
          </a:solidFill>
          <a:ln w="12700">
            <a:solidFill>
              <a:srgbClr val="AA000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589520" y="4032504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#4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8366760" y="410565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Quarter Pounder with Cheese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8366760" y="45079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583 orders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10332720" y="45079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10.9%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7589520" y="5056632"/>
            <a:ext cx="4206240" cy="91440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7589520" y="5056632"/>
            <a:ext cx="685800" cy="9144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589520" y="5056632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#5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8366760" y="51297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French Fries (Large)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8366760" y="5532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571 orders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10332720" y="55321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10.7%</a:t>
            </a:r>
            <a:endParaRPr lang="en-US" sz="1000" dirty="0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6012460"/>
            <a:ext cx="457200" cy="45720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8915400" y="6036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Mac remains McDonald's top-selling product with 622 orders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12161520" cy="64008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8872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73152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INSIGHTS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338560" y="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320040" y="914400"/>
            <a:ext cx="5577840" cy="2606040"/>
          </a:xfrm>
          <a:prstGeom prst="rect">
            <a:avLst/>
          </a:prstGeom>
          <a:solidFill>
            <a:srgbClr val="DA0000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914400"/>
            <a:ext cx="5577840" cy="9144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0972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1051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Weekend Sales Dominate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02920" y="1645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₹44,029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502920" y="2240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vs ₹16,974 Weekday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502920" y="25603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Weekends account for 72% of total revenue. This significant split indicates McDonald's core customer base is leisure/weekend shoppers, not daily commuters.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914400"/>
            <a:ext cx="5577840" cy="260604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914400"/>
            <a:ext cx="5577840" cy="9144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09728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49440" y="1051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Burger Category Drives Revenue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09360" y="1645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₹21.46K</a:t>
            </a:r>
            <a:endParaRPr lang="en-US" sz="2800" dirty="0"/>
          </a:p>
        </p:txBody>
      </p:sp>
      <p:sp>
        <p:nvSpPr>
          <p:cNvPr id="19" name="Text 14"/>
          <p:cNvSpPr/>
          <p:nvPr/>
        </p:nvSpPr>
        <p:spPr>
          <a:xfrm>
            <a:off x="6309360" y="2240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of total category revenue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6309360" y="25603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Burgers are the dominant revenue driver. Chicken and Pasta are strong secondary categories, while Breakfast remains largely untapped.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20040" y="3703320"/>
            <a:ext cx="5577840" cy="2606040"/>
          </a:xfrm>
          <a:prstGeom prst="rect">
            <a:avLst/>
          </a:prstGeom>
          <a:solidFill>
            <a:srgbClr val="AA0000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20040" y="3703320"/>
            <a:ext cx="5577840" cy="9144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886200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43000" y="3840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Evening Orders Peak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02920" y="4434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2,565</a:t>
            </a:r>
            <a:endParaRPr lang="en-US" sz="2800" dirty="0"/>
          </a:p>
        </p:txBody>
      </p:sp>
      <p:sp>
        <p:nvSpPr>
          <p:cNvPr id="26" name="Text 20"/>
          <p:cNvSpPr/>
          <p:nvPr/>
        </p:nvSpPr>
        <p:spPr>
          <a:xfrm>
            <a:off x="502920" y="5029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= 48% of all orders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502920" y="53492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is the busiest time bucket. Afternoon follows closely. Morning represents only 5% of orders, indicating low breakfast adoption.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6126480" y="3703320"/>
            <a:ext cx="5577840" cy="2606040"/>
          </a:xfrm>
          <a:prstGeom prst="rect">
            <a:avLst/>
          </a:prstGeom>
          <a:solidFill>
            <a:srgbClr val="8B691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126480" y="3703320"/>
            <a:ext cx="5577840" cy="9144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3886200"/>
            <a:ext cx="502920" cy="5029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949440" y="3840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Big Mac Strongest Performer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6309360" y="4434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622</a:t>
            </a:r>
            <a:endParaRPr lang="en-US" sz="2800" dirty="0"/>
          </a:p>
        </p:txBody>
      </p:sp>
      <p:sp>
        <p:nvSpPr>
          <p:cNvPr id="33" name="Text 26"/>
          <p:cNvSpPr/>
          <p:nvPr/>
        </p:nvSpPr>
        <p:spPr>
          <a:xfrm>
            <a:off x="6309360" y="5029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— Top product overall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6309360" y="53492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Mac leads all items with 622 orders. Side Salad ranks 2nd, showing customers often pair burgers with healthy sides.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12161520" cy="64008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8872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73152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STRATEGIC RECOMMENDATIONS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338560" y="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365760" y="914400"/>
            <a:ext cx="5486400" cy="265176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914400"/>
            <a:ext cx="5486400" cy="9144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0058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C72C">
                    <a:alpha val="7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48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05156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1828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Weekend Promotions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2304288"/>
            <a:ext cx="64008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8640" y="2450592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targeted weekend combo deals and family meal bundles. With 72% of revenue from weekends, even a 5% uplift would add ~₹2,200 revenue.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80760" y="914400"/>
            <a:ext cx="5486400" cy="26517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80760" y="914400"/>
            <a:ext cx="5486400" cy="9144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17920" y="10058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C72C">
                    <a:alpha val="7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48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9880" y="105156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1828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Breakfast Menu Expansion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263640" y="2304288"/>
            <a:ext cx="64008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263640" y="2450592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Breakfast generates only ₹1,270 — the lowest category. Introduce value breakfast sets and morning loyalty rewards to grow this untapped segment.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65760" y="3749040"/>
            <a:ext cx="5486400" cy="2651760"/>
          </a:xfrm>
          <a:prstGeom prst="rect">
            <a:avLst/>
          </a:prstGeom>
          <a:solidFill>
            <a:srgbClr val="AA0000"/>
          </a:solidFill>
          <a:ln w="12700">
            <a:solidFill>
              <a:srgbClr val="AA0000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65760" y="3749040"/>
            <a:ext cx="5486400" cy="9144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02920" y="3840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C72C">
                    <a:alpha val="7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48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88620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8640" y="46634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Evening Staffing Optimization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548640" y="5138928"/>
            <a:ext cx="64008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48640" y="5285232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is peak time with 2,565 orders. Schedule maximum staffing 5–9 PM to reduce wait times, boost customer satisfaction and order volume.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080760" y="3749040"/>
            <a:ext cx="5486400" cy="26517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080760" y="3749040"/>
            <a:ext cx="5486400" cy="9144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217920" y="3840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C72C">
                    <a:alpha val="7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48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9880" y="3886200"/>
            <a:ext cx="502920" cy="5029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263640" y="46634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Combo &amp; Upsell Deals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6263640" y="5138928"/>
            <a:ext cx="64008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6263640" y="5285232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Mac + Side Salad is a natural combo (top 2 products). Bundle with Fries or Shakes to increase average items per order from 2.26 to 3+.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12161520" cy="64008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8872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73152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 &amp; SUMMARY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338560" y="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365760" y="914400"/>
            <a:ext cx="5394960" cy="557784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4360" y="1097280"/>
            <a:ext cx="320040" cy="32004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107899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Sales Trends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1481328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E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from ₹19.48K (Feb) to ₹20.91K (March), showing a consistent upward trajectory across the quarter.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4360" y="2395728"/>
            <a:ext cx="320040" cy="32004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51560" y="23774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Behavior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4360" y="2779776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E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and weekend customers dominate. Average order size of 2.26 items suggests high single-visit frequency with lean cart sizes.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94360" y="3694176"/>
            <a:ext cx="320040" cy="32004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51560" y="367588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Impact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4360" y="4078224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E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Excel dashboard delivers instant visual insights across categories, hours, and products — enabling faster, data-backed operational decisions.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94360" y="4992624"/>
            <a:ext cx="320040" cy="32004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51560" y="497433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Opportunity Areas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94360" y="5376672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E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Breakfast and weekday sales represent the biggest untapped revenue opportunities for targeted promotions and menu innovation.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126480" y="914400"/>
            <a:ext cx="5669280" cy="557784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400800" y="10972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IMPACT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0" y="1691640"/>
            <a:ext cx="5212080" cy="594360"/>
          </a:xfrm>
          <a:prstGeom prst="rect">
            <a:avLst/>
          </a:prstGeom>
          <a:solidFill>
            <a:srgbClr val="252525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0" y="1691640"/>
            <a:ext cx="73152" cy="59436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83680" y="16916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9418320" y="16916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₹61,004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00800" y="2359152"/>
            <a:ext cx="5212080" cy="59436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00800" y="2359152"/>
            <a:ext cx="73152" cy="594360"/>
          </a:xfrm>
          <a:prstGeom prst="rect">
            <a:avLst/>
          </a:prstGeom>
          <a:solidFill>
            <a:srgbClr val="AA0000"/>
          </a:solidFill>
          <a:ln w="12700">
            <a:solidFill>
              <a:srgbClr val="AA00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83680" y="235915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Analyzed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9418320" y="235915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5,343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400800" y="3026664"/>
            <a:ext cx="5212080" cy="594360"/>
          </a:xfrm>
          <a:prstGeom prst="rect">
            <a:avLst/>
          </a:prstGeom>
          <a:solidFill>
            <a:srgbClr val="252525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00800" y="3026664"/>
            <a:ext cx="73152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83680" y="302666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Covered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9418320" y="3026664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(Jan–Mar)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400800" y="3694176"/>
            <a:ext cx="5212080" cy="59436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400800" y="3694176"/>
            <a:ext cx="73152" cy="5943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83680" y="369417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Analyzed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9418320" y="3694176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food types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400800" y="4361688"/>
            <a:ext cx="5212080" cy="594360"/>
          </a:xfrm>
          <a:prstGeom prst="rect">
            <a:avLst/>
          </a:prstGeom>
          <a:solidFill>
            <a:srgbClr val="252525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400800" y="4361688"/>
            <a:ext cx="73152" cy="59436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583680" y="436168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9418320" y="436168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Big Mac (622 orders)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400800" y="5029200"/>
            <a:ext cx="5212080" cy="594360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400800" y="5029200"/>
            <a:ext cx="73152" cy="594360"/>
          </a:xfrm>
          <a:prstGeom prst="rect">
            <a:avLst/>
          </a:prstGeom>
          <a:solidFill>
            <a:srgbClr val="AA0000"/>
          </a:solidFill>
          <a:ln w="12700">
            <a:solidFill>
              <a:srgbClr val="AA000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583680" y="5029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Period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9418320" y="50292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Evening (48% of orders)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6400800" y="5696712"/>
            <a:ext cx="5212080" cy="594360"/>
          </a:xfrm>
          <a:prstGeom prst="rect">
            <a:avLst/>
          </a:prstGeom>
          <a:solidFill>
            <a:srgbClr val="252525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400800" y="5696712"/>
            <a:ext cx="73152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583680" y="569671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Revenue Share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9418320" y="569671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72% (₹44,029)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6126480" y="6217920"/>
            <a:ext cx="5669280" cy="64008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309360" y="62179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Prepared By: RANJEET ANADA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00400"/>
            <a:ext cx="12161520" cy="109728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-457200"/>
            <a:ext cx="12161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0" b="1" dirty="0">
                <a:solidFill>
                  <a:srgbClr val="AA0000">
                    <a:alpha val="4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28000" dirty="0"/>
          </a:p>
        </p:txBody>
      </p:sp>
      <p:sp>
        <p:nvSpPr>
          <p:cNvPr id="5" name="Text 3"/>
          <p:cNvSpPr/>
          <p:nvPr/>
        </p:nvSpPr>
        <p:spPr>
          <a:xfrm>
            <a:off x="0" y="640080"/>
            <a:ext cx="12161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0" y="1965960"/>
            <a:ext cx="1216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reviewing this analysis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3657600"/>
            <a:ext cx="1216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RANJEET ANADA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0" y="4343400"/>
            <a:ext cx="1216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 |  McDonald's Sales Dashboard Project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0" y="4983480"/>
            <a:ext cx="109728" cy="10972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4983480"/>
            <a:ext cx="109728" cy="10972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4983480"/>
            <a:ext cx="109728" cy="10972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0680" y="4983480"/>
            <a:ext cx="109728" cy="109728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4983480"/>
            <a:ext cx="109728" cy="10972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43800" y="4983480"/>
            <a:ext cx="109728" cy="10972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4983480"/>
            <a:ext cx="109728" cy="10972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5303520"/>
            <a:ext cx="1216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 ·  Power Query  ·  Pivot Tables  ·  Dashboard Design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6355080"/>
            <a:ext cx="12161520" cy="50292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6355080"/>
            <a:ext cx="1216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McDonald's Sales Dashboard Analysis  |  Prepared by RANJEET ANADA  |  Jan–Mar 2024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1270</Words>
  <Application>Microsoft Office PowerPoint</Application>
  <PresentationFormat>Widescreen</PresentationFormat>
  <Paragraphs>247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McDonald's Sales Dashboard Analysis</dc:title>
  <dc:subject>PptxGenJS Presentation</dc:subject>
  <dc:creator>RANJEET ANADA</dc:creator>
  <cp:lastModifiedBy>RANJEET CHOUDHARY</cp:lastModifiedBy>
  <cp:revision>3</cp:revision>
  <dcterms:created xsi:type="dcterms:W3CDTF">2026-05-12T09:42:08Z</dcterms:created>
  <dcterms:modified xsi:type="dcterms:W3CDTF">2026-05-12T10:12:15Z</dcterms:modified>
</cp:coreProperties>
</file>