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199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8229600" cy="4251960"/>
          </a:xfrm>
          <a:prstGeom prst="rect">
            <a:avLst/>
          </a:prstGeom>
          <a:solidFill>
            <a:srgbClr val="FFFFFF"/>
          </a:solidFill>
          <a:ln/>
          <a:effectLst>
            <a:outerShdw blurRad="254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502920"/>
            <a:ext cx="109728" cy="42519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02920"/>
            <a:ext cx="8229600" cy="7315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731520"/>
            <a:ext cx="1463040" cy="8229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731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C72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194560" y="7132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A02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McDONALD'S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194560" y="11155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 Report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" y="1600200"/>
            <a:ext cx="8010144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737360"/>
            <a:ext cx="3840480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737360"/>
            <a:ext cx="3840480" cy="18288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3736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PROJECT TITLE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938528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McDonald's Data Cleaning &amp; Preprocessing Report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90288" y="1737360"/>
            <a:ext cx="3840480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90288" y="1737360"/>
            <a:ext cx="3840480" cy="18288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737360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PREPARED BY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663440" y="1938528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RANJEET ANADA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2578608"/>
            <a:ext cx="3840480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2578608"/>
            <a:ext cx="3840480" cy="18288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7860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OBJECTIVE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0080" y="2779776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/>
              <a:t>To clean, transform, and preprocess raw McDonald’s sales data for accurate dashboard analysis and business insights.</a:t>
            </a:r>
          </a:p>
        </p:txBody>
      </p:sp>
      <p:sp>
        <p:nvSpPr>
          <p:cNvPr id="23" name="Shape 21"/>
          <p:cNvSpPr/>
          <p:nvPr/>
        </p:nvSpPr>
        <p:spPr>
          <a:xfrm>
            <a:off x="4626864" y="2615184"/>
            <a:ext cx="3840480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90288" y="2578608"/>
            <a:ext cx="3840480" cy="18288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578608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DATASETS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63440" y="2779776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/>
              <a:t>order_details.csv (Transaction Data) </a:t>
            </a:r>
          </a:p>
          <a:p>
            <a:pPr marL="0" indent="0">
              <a:buNone/>
            </a:pPr>
            <a:r>
              <a:rPr lang="fr-FR" sz="1000" dirty="0"/>
              <a:t>menu_items.xlsx (Product Information)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3419856"/>
            <a:ext cx="3840480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Shape 26"/>
          <p:cNvSpPr/>
          <p:nvPr/>
        </p:nvSpPr>
        <p:spPr>
          <a:xfrm>
            <a:off x="566928" y="3419856"/>
            <a:ext cx="3840480" cy="18288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419856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TOOLS USED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0080" y="3621024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Microsoft Excel  •  Power Query Editor • </a:t>
            </a:r>
            <a:r>
              <a:rPr lang="en-IN" sz="1000" dirty="0"/>
              <a:t>Pivot Tables </a:t>
            </a:r>
            <a:r>
              <a:rPr lang="en-US" sz="1000" dirty="0">
                <a:solidFill>
                  <a:srgbClr val="1A1A1A"/>
                </a:solidFill>
              </a:rPr>
              <a:t>•</a:t>
            </a:r>
            <a:r>
              <a:rPr lang="en-IN" sz="1000" dirty="0"/>
              <a:t> Data Transformation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90288" y="3419856"/>
            <a:ext cx="3840480" cy="74980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590288" y="3419856"/>
            <a:ext cx="3840480" cy="18288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3419856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REPORT DATE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663440" y="3621024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May 2026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McDonald's Data Cleaning &amp; Preprocessing Report  |  Prepared by: RANJEET ANADA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12480" y="4901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1 / 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9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RAW DATASET OVERVIEW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498080" y="173736"/>
            <a:ext cx="1463040" cy="256032"/>
          </a:xfrm>
          <a:prstGeom prst="roundRect">
            <a:avLst>
              <a:gd name="adj" fmla="val 42857"/>
            </a:avLst>
          </a:prstGeom>
          <a:solidFill>
            <a:srgbClr val="DA020E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73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01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McDonald's Data Cleaning &amp; Preprocessing Report  |  Prepared by: RANJEET ANADA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901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2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749808"/>
            <a:ext cx="4160520" cy="397764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749808"/>
            <a:ext cx="4160520" cy="420624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8046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7589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order_details.csv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A020E"/>
                </a:solidFill>
              </a:rPr>
              <a:t>FIELDS: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11480" y="1481328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411480" y="1481328"/>
            <a:ext cx="54864" cy="292608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order_id  —  Unique order identifier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11480" y="1828800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411480" y="1828800"/>
            <a:ext cx="54864" cy="292608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20" name="Text 16"/>
          <p:cNvSpPr/>
          <p:nvPr/>
        </p:nvSpPr>
        <p:spPr>
          <a:xfrm>
            <a:off x="512064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item_id  —  References menu item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11480" y="2176272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411480" y="2176272"/>
            <a:ext cx="54864" cy="292608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23" name="Text 19"/>
          <p:cNvSpPr/>
          <p:nvPr/>
        </p:nvSpPr>
        <p:spPr>
          <a:xfrm>
            <a:off x="512064" y="2176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order_date  —  Date of transaction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11480" y="2523744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11480" y="2523744"/>
            <a:ext cx="54864" cy="292608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26" name="Text 22"/>
          <p:cNvSpPr/>
          <p:nvPr/>
        </p:nvSpPr>
        <p:spPr>
          <a:xfrm>
            <a:off x="512064" y="2523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order_time  —  Time of order placement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11480" y="2889504"/>
            <a:ext cx="384048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8" name="Shape 24"/>
          <p:cNvSpPr/>
          <p:nvPr/>
        </p:nvSpPr>
        <p:spPr>
          <a:xfrm>
            <a:off x="640080" y="2999232"/>
            <a:ext cx="164592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54096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69264" y="29992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DA020E"/>
                </a:solidFill>
              </a:rPr>
              <a:t>~5,370 rows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969264" y="33284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Total Rows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2560320" y="2999232"/>
            <a:ext cx="164592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3054096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889504" y="29992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DA020E"/>
                </a:solidFill>
              </a:rPr>
              <a:t>4 columns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2889504" y="33284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Columns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411480" y="3767328"/>
            <a:ext cx="3840480" cy="3657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7" name="Text 31"/>
          <p:cNvSpPr/>
          <p:nvPr/>
        </p:nvSpPr>
        <p:spPr>
          <a:xfrm>
            <a:off x="411480" y="3858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60A"/>
                </a:solidFill>
              </a:rPr>
              <a:t>⚠  Known Issues: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411480" y="4059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Null values, date format issues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754880" y="749808"/>
            <a:ext cx="4160520" cy="3977640"/>
          </a:xfrm>
          <a:prstGeom prst="rect">
            <a:avLst/>
          </a:prstGeom>
          <a:solidFill>
            <a:srgbClr val="F5F5F5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754880" y="749808"/>
            <a:ext cx="4160520" cy="420624"/>
          </a:xfrm>
          <a:prstGeom prst="rect">
            <a:avLst/>
          </a:prstGeom>
          <a:solidFill>
            <a:srgbClr val="C8860A"/>
          </a:solidFill>
          <a:ln/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804672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193792" y="7589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menu_items.xlsx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489204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A020E"/>
                </a:solidFill>
              </a:rPr>
              <a:t>FIELDS: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4892040" y="1481328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8"/>
          <p:cNvSpPr/>
          <p:nvPr/>
        </p:nvSpPr>
        <p:spPr>
          <a:xfrm>
            <a:off x="4892040" y="1481328"/>
            <a:ext cx="54864" cy="292608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46" name="Text 39"/>
          <p:cNvSpPr/>
          <p:nvPr/>
        </p:nvSpPr>
        <p:spPr>
          <a:xfrm>
            <a:off x="4992624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menu_item_id  —  Primary key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4892040" y="1828800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1"/>
          <p:cNvSpPr/>
          <p:nvPr/>
        </p:nvSpPr>
        <p:spPr>
          <a:xfrm>
            <a:off x="4892040" y="1828800"/>
            <a:ext cx="54864" cy="292608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49" name="Text 42"/>
          <p:cNvSpPr/>
          <p:nvPr/>
        </p:nvSpPr>
        <p:spPr>
          <a:xfrm>
            <a:off x="4992624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item_name  —  Name of menu item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4892040" y="2176272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4"/>
          <p:cNvSpPr/>
          <p:nvPr/>
        </p:nvSpPr>
        <p:spPr>
          <a:xfrm>
            <a:off x="4892040" y="2176272"/>
            <a:ext cx="54864" cy="292608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52" name="Text 45"/>
          <p:cNvSpPr/>
          <p:nvPr/>
        </p:nvSpPr>
        <p:spPr>
          <a:xfrm>
            <a:off x="4992624" y="2176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category  —  Food category group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4892040" y="2523744"/>
            <a:ext cx="3840480" cy="2926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7"/>
          <p:cNvSpPr/>
          <p:nvPr/>
        </p:nvSpPr>
        <p:spPr>
          <a:xfrm>
            <a:off x="4892040" y="2523744"/>
            <a:ext cx="54864" cy="292608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55" name="Text 48"/>
          <p:cNvSpPr/>
          <p:nvPr/>
        </p:nvSpPr>
        <p:spPr>
          <a:xfrm>
            <a:off x="4992624" y="25237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price  —  Item price (INR)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4892040" y="2889504"/>
            <a:ext cx="384048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57" name="Shape 50"/>
          <p:cNvSpPr/>
          <p:nvPr/>
        </p:nvSpPr>
        <p:spPr>
          <a:xfrm>
            <a:off x="5120640" y="2999232"/>
            <a:ext cx="164592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054096"/>
            <a:ext cx="201168" cy="201168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5449824" y="29992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C8860A"/>
                </a:solidFill>
              </a:rPr>
              <a:t>~32 rows</a:t>
            </a:r>
            <a:endParaRPr lang="en-US" sz="1300" dirty="0"/>
          </a:p>
        </p:txBody>
      </p:sp>
      <p:sp>
        <p:nvSpPr>
          <p:cNvPr id="60" name="Text 52"/>
          <p:cNvSpPr/>
          <p:nvPr/>
        </p:nvSpPr>
        <p:spPr>
          <a:xfrm>
            <a:off x="5449824" y="33284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Total Rows</a:t>
            </a:r>
            <a:endParaRPr lang="en-US" sz="800" dirty="0"/>
          </a:p>
        </p:txBody>
      </p:sp>
      <p:sp>
        <p:nvSpPr>
          <p:cNvPr id="61" name="Shape 53"/>
          <p:cNvSpPr/>
          <p:nvPr/>
        </p:nvSpPr>
        <p:spPr>
          <a:xfrm>
            <a:off x="7040880" y="2999232"/>
            <a:ext cx="164592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3054096"/>
            <a:ext cx="201168" cy="201168"/>
          </a:xfrm>
          <a:prstGeom prst="rect">
            <a:avLst/>
          </a:prstGeom>
        </p:spPr>
      </p:pic>
      <p:sp>
        <p:nvSpPr>
          <p:cNvPr id="63" name="Text 54"/>
          <p:cNvSpPr/>
          <p:nvPr/>
        </p:nvSpPr>
        <p:spPr>
          <a:xfrm>
            <a:off x="7370064" y="29992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C8860A"/>
                </a:solidFill>
              </a:rPr>
              <a:t>4 columns</a:t>
            </a:r>
            <a:endParaRPr lang="en-US" sz="1300" dirty="0"/>
          </a:p>
        </p:txBody>
      </p:sp>
      <p:sp>
        <p:nvSpPr>
          <p:cNvPr id="64" name="Text 55"/>
          <p:cNvSpPr/>
          <p:nvPr/>
        </p:nvSpPr>
        <p:spPr>
          <a:xfrm>
            <a:off x="7370064" y="33284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Columns</a:t>
            </a:r>
            <a:endParaRPr lang="en-US" sz="800" dirty="0"/>
          </a:p>
        </p:txBody>
      </p:sp>
      <p:sp>
        <p:nvSpPr>
          <p:cNvPr id="65" name="Shape 56"/>
          <p:cNvSpPr/>
          <p:nvPr/>
        </p:nvSpPr>
        <p:spPr>
          <a:xfrm>
            <a:off x="4892040" y="3767328"/>
            <a:ext cx="3840480" cy="3657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6" name="Text 57"/>
          <p:cNvSpPr/>
          <p:nvPr/>
        </p:nvSpPr>
        <p:spPr>
          <a:xfrm>
            <a:off x="4892040" y="3858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60A"/>
                </a:solidFill>
              </a:rPr>
              <a:t>⚠  Known Issues:</a:t>
            </a:r>
            <a:endParaRPr lang="en-US" sz="850" dirty="0"/>
          </a:p>
        </p:txBody>
      </p:sp>
      <p:sp>
        <p:nvSpPr>
          <p:cNvPr id="67" name="Text 58"/>
          <p:cNvSpPr/>
          <p:nvPr/>
        </p:nvSpPr>
        <p:spPr>
          <a:xfrm>
            <a:off x="4892040" y="405993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Extra spaces, type mismatches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9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ISSUES IDENTIFIED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498080" y="173736"/>
            <a:ext cx="1463040" cy="256032"/>
          </a:xfrm>
          <a:prstGeom prst="roundRect">
            <a:avLst>
              <a:gd name="adj" fmla="val 42857"/>
            </a:avLst>
          </a:prstGeom>
          <a:solidFill>
            <a:srgbClr val="DA020E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73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02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McDonald's Data Cleaning &amp; Preprocessing Report  |  Prepared by: RANJEET ANADA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901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3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2880" y="777240"/>
            <a:ext cx="283464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777240"/>
            <a:ext cx="283464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9"/>
          <p:cNvSpPr/>
          <p:nvPr/>
        </p:nvSpPr>
        <p:spPr>
          <a:xfrm>
            <a:off x="182880" y="832104"/>
            <a:ext cx="2834640" cy="42062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8696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8321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NULL VALUES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340864" y="905256"/>
            <a:ext cx="594360" cy="201168"/>
          </a:xfrm>
          <a:prstGeom prst="roundRect">
            <a:avLst>
              <a:gd name="adj" fmla="val 36364"/>
            </a:avLst>
          </a:prstGeom>
          <a:solidFill>
            <a:srgbClr val="C0392B"/>
          </a:solidFill>
          <a:ln/>
        </p:spPr>
      </p:sp>
      <p:sp>
        <p:nvSpPr>
          <p:cNvPr id="16" name="Text 12"/>
          <p:cNvSpPr/>
          <p:nvPr/>
        </p:nvSpPr>
        <p:spPr>
          <a:xfrm>
            <a:off x="2340864" y="9052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274320" y="1307592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Missing item_id entries in order_details causing join failures and incorrect order counts.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154680" y="777240"/>
            <a:ext cx="283464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54680" y="777240"/>
            <a:ext cx="283464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Shape 16"/>
          <p:cNvSpPr/>
          <p:nvPr/>
        </p:nvSpPr>
        <p:spPr>
          <a:xfrm>
            <a:off x="3154680" y="832104"/>
            <a:ext cx="2834640" cy="42062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88696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566160" y="8321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INCONSISTENT DATE FORMATS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312664" y="905256"/>
            <a:ext cx="594360" cy="201168"/>
          </a:xfrm>
          <a:prstGeom prst="roundRect">
            <a:avLst>
              <a:gd name="adj" fmla="val 36364"/>
            </a:avLst>
          </a:prstGeom>
          <a:solidFill>
            <a:srgbClr val="C0392B"/>
          </a:solidFill>
          <a:ln/>
        </p:spPr>
      </p:sp>
      <p:sp>
        <p:nvSpPr>
          <p:cNvPr id="24" name="Text 19"/>
          <p:cNvSpPr/>
          <p:nvPr/>
        </p:nvSpPr>
        <p:spPr>
          <a:xfrm>
            <a:off x="5312664" y="9052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HIGH</a:t>
            </a:r>
            <a:endParaRPr lang="en-US" sz="650" dirty="0"/>
          </a:p>
        </p:txBody>
      </p:sp>
      <p:sp>
        <p:nvSpPr>
          <p:cNvPr id="25" name="Text 20"/>
          <p:cNvSpPr/>
          <p:nvPr/>
        </p:nvSpPr>
        <p:spPr>
          <a:xfrm>
            <a:off x="3246120" y="1307592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order_date column had mixed formats: DD/MM/YYYY, MM-DD-YY, and YYYY-MM-DD across rows.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126480" y="777240"/>
            <a:ext cx="283464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26480" y="777240"/>
            <a:ext cx="2834640" cy="54864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28" name="Shape 23"/>
          <p:cNvSpPr/>
          <p:nvPr/>
        </p:nvSpPr>
        <p:spPr>
          <a:xfrm>
            <a:off x="6126480" y="832104"/>
            <a:ext cx="2834640" cy="42062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886968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537960" y="8321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860A"/>
                </a:solidFill>
              </a:rPr>
              <a:t>INCORRECT DATA TYPES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284464" y="905256"/>
            <a:ext cx="594360" cy="201168"/>
          </a:xfrm>
          <a:prstGeom prst="roundRect">
            <a:avLst>
              <a:gd name="adj" fmla="val 36364"/>
            </a:avLst>
          </a:prstGeom>
          <a:solidFill>
            <a:srgbClr val="C8860A"/>
          </a:solidFill>
          <a:ln/>
        </p:spPr>
      </p:sp>
      <p:sp>
        <p:nvSpPr>
          <p:cNvPr id="32" name="Text 26"/>
          <p:cNvSpPr/>
          <p:nvPr/>
        </p:nvSpPr>
        <p:spPr>
          <a:xfrm>
            <a:off x="8284464" y="9052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</a:t>
            </a:r>
            <a:endParaRPr lang="en-US" sz="650" dirty="0"/>
          </a:p>
        </p:txBody>
      </p:sp>
      <p:sp>
        <p:nvSpPr>
          <p:cNvPr id="33" name="Text 27"/>
          <p:cNvSpPr/>
          <p:nvPr/>
        </p:nvSpPr>
        <p:spPr>
          <a:xfrm>
            <a:off x="6217920" y="1307592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order_id stored as Text instead of Integer. price field stored as Text preventing calculations.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182880" y="2807208"/>
            <a:ext cx="283464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82880" y="2807208"/>
            <a:ext cx="2834640" cy="54864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36" name="Shape 30"/>
          <p:cNvSpPr/>
          <p:nvPr/>
        </p:nvSpPr>
        <p:spPr>
          <a:xfrm>
            <a:off x="182880" y="2862072"/>
            <a:ext cx="2834640" cy="42062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916936"/>
            <a:ext cx="256032" cy="25603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94360" y="28620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860A"/>
                </a:solidFill>
              </a:rPr>
              <a:t>UNCLEAN TEXT FORMATTING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2340864" y="2935224"/>
            <a:ext cx="594360" cy="201168"/>
          </a:xfrm>
          <a:prstGeom prst="roundRect">
            <a:avLst>
              <a:gd name="adj" fmla="val 36364"/>
            </a:avLst>
          </a:prstGeom>
          <a:solidFill>
            <a:srgbClr val="C8860A"/>
          </a:solidFill>
          <a:ln/>
        </p:spPr>
      </p:sp>
      <p:sp>
        <p:nvSpPr>
          <p:cNvPr id="40" name="Text 33"/>
          <p:cNvSpPr/>
          <p:nvPr/>
        </p:nvSpPr>
        <p:spPr>
          <a:xfrm>
            <a:off x="2340864" y="29352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</a:t>
            </a:r>
            <a:endParaRPr lang="en-US" sz="650" dirty="0"/>
          </a:p>
        </p:txBody>
      </p:sp>
      <p:sp>
        <p:nvSpPr>
          <p:cNvPr id="41" name="Text 34"/>
          <p:cNvSpPr/>
          <p:nvPr/>
        </p:nvSpPr>
        <p:spPr>
          <a:xfrm>
            <a:off x="274320" y="3337560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Category names had mixed casing: 'burger', 'Burger', 'BURGER' — causing grouping errors.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3154680" y="2807208"/>
            <a:ext cx="283464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154680" y="2807208"/>
            <a:ext cx="283464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44" name="Shape 37"/>
          <p:cNvSpPr/>
          <p:nvPr/>
        </p:nvSpPr>
        <p:spPr>
          <a:xfrm>
            <a:off x="3154680" y="2862072"/>
            <a:ext cx="2834640" cy="42062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2916936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566160" y="28620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</a:rPr>
              <a:t>EXTRA WHITESPACE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5312664" y="2935224"/>
            <a:ext cx="594360" cy="201168"/>
          </a:xfrm>
          <a:prstGeom prst="roundRect">
            <a:avLst>
              <a:gd name="adj" fmla="val 36364"/>
            </a:avLst>
          </a:prstGeom>
          <a:solidFill>
            <a:srgbClr val="2980B9"/>
          </a:solidFill>
          <a:ln/>
        </p:spPr>
      </p:sp>
      <p:sp>
        <p:nvSpPr>
          <p:cNvPr id="48" name="Text 40"/>
          <p:cNvSpPr/>
          <p:nvPr/>
        </p:nvSpPr>
        <p:spPr>
          <a:xfrm>
            <a:off x="5312664" y="29352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LOW</a:t>
            </a:r>
            <a:endParaRPr lang="en-US" sz="650" dirty="0"/>
          </a:p>
        </p:txBody>
      </p:sp>
      <p:sp>
        <p:nvSpPr>
          <p:cNvPr id="49" name="Text 41"/>
          <p:cNvSpPr/>
          <p:nvPr/>
        </p:nvSpPr>
        <p:spPr>
          <a:xfrm>
            <a:off x="3246120" y="3337560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item_name and category columns had leading/trailing spaces breaking exact-match filters.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6126480" y="2807208"/>
            <a:ext cx="283464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6126480" y="2807208"/>
            <a:ext cx="2834640" cy="54864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52" name="Shape 44"/>
          <p:cNvSpPr/>
          <p:nvPr/>
        </p:nvSpPr>
        <p:spPr>
          <a:xfrm>
            <a:off x="6126480" y="2862072"/>
            <a:ext cx="2834640" cy="420624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916936"/>
            <a:ext cx="256032" cy="256032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6537960" y="286207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860A"/>
                </a:solidFill>
              </a:rPr>
              <a:t>MISSING REFERENCES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8284464" y="2935224"/>
            <a:ext cx="594360" cy="201168"/>
          </a:xfrm>
          <a:prstGeom prst="roundRect">
            <a:avLst>
              <a:gd name="adj" fmla="val 36364"/>
            </a:avLst>
          </a:prstGeom>
          <a:solidFill>
            <a:srgbClr val="C8860A"/>
          </a:solidFill>
          <a:ln/>
        </p:spPr>
      </p:sp>
      <p:sp>
        <p:nvSpPr>
          <p:cNvPr id="56" name="Text 47"/>
          <p:cNvSpPr/>
          <p:nvPr/>
        </p:nvSpPr>
        <p:spPr>
          <a:xfrm>
            <a:off x="8284464" y="29352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MEDIUM</a:t>
            </a:r>
            <a:endParaRPr lang="en-US" sz="650" dirty="0"/>
          </a:p>
        </p:txBody>
      </p:sp>
      <p:sp>
        <p:nvSpPr>
          <p:cNvPr id="57" name="Text 48"/>
          <p:cNvSpPr/>
          <p:nvPr/>
        </p:nvSpPr>
        <p:spPr>
          <a:xfrm>
            <a:off x="6217920" y="3337560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Some item_id values in order_details had no matching menu_item_id in menu_items table.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9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QUERY CLEANING PROCESS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498080" y="173736"/>
            <a:ext cx="1463040" cy="256032"/>
          </a:xfrm>
          <a:prstGeom prst="roundRect">
            <a:avLst>
              <a:gd name="adj" fmla="val 42857"/>
            </a:avLst>
          </a:prstGeom>
          <a:solidFill>
            <a:srgbClr val="DA020E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73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03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McDonald's Data Cleaning &amp; Preprocessing Report  |  Prepared by: RANJEET ANADA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901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4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2880" y="749808"/>
            <a:ext cx="4160520" cy="3977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182880" y="749808"/>
            <a:ext cx="4160520" cy="347472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7498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order_details.csv — Cleaning Steps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2880" y="1133856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170432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3776" y="1133856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1.  Imported CSV via Power Query Editor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182880" y="1472184"/>
            <a:ext cx="4160520" cy="320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5087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3776" y="1472184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2.  Promoted first row as column headers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82880" y="1810512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184708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3776" y="181051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3.  Changed order_id → Whole Number type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182880" y="2148840"/>
            <a:ext cx="4160520" cy="320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2185416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3776" y="2148840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4.  Fixed order_date → standardised to Date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182880" y="2487168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2523744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3776" y="248716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5.  Converted order_time → Time data type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182880" y="2825496"/>
            <a:ext cx="4160520" cy="320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2862072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3776" y="2825496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6.  Added Month Name column (custom)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182880" y="3163824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3200400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93776" y="3163824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7.  Added Day Name column (custom)</a:t>
            </a:r>
            <a:endParaRPr lang="en-US" sz="950" dirty="0"/>
          </a:p>
        </p:txBody>
      </p:sp>
      <p:sp>
        <p:nvSpPr>
          <p:cNvPr id="34" name="Shape 24"/>
          <p:cNvSpPr/>
          <p:nvPr/>
        </p:nvSpPr>
        <p:spPr>
          <a:xfrm>
            <a:off x="182880" y="3502152"/>
            <a:ext cx="4160520" cy="320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3538728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493776" y="3502152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8.  Extracted Hour from order_time column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182880" y="3840480"/>
            <a:ext cx="416052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3877056"/>
            <a:ext cx="201168" cy="20116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93776" y="3840480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9.  Removed rows with null item_id values</a:t>
            </a:r>
            <a:endParaRPr lang="en-US" sz="950" dirty="0"/>
          </a:p>
        </p:txBody>
      </p:sp>
      <p:sp>
        <p:nvSpPr>
          <p:cNvPr id="40" name="Shape 28"/>
          <p:cNvSpPr/>
          <p:nvPr/>
        </p:nvSpPr>
        <p:spPr>
          <a:xfrm>
            <a:off x="4572000" y="749808"/>
            <a:ext cx="4343400" cy="3977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Shape 29"/>
          <p:cNvSpPr/>
          <p:nvPr/>
        </p:nvSpPr>
        <p:spPr>
          <a:xfrm>
            <a:off x="4572000" y="749808"/>
            <a:ext cx="4343400" cy="347472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42" name="Text 30"/>
          <p:cNvSpPr/>
          <p:nvPr/>
        </p:nvSpPr>
        <p:spPr>
          <a:xfrm>
            <a:off x="4663440" y="7498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menu_items.xlsx — Cleaning Steps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4572000" y="1133856"/>
            <a:ext cx="434340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170432"/>
            <a:ext cx="201168" cy="201168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4882896" y="1133856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1.  Imported XLSX file via Power Query</a:t>
            </a:r>
            <a:endParaRPr lang="en-US" sz="950" dirty="0"/>
          </a:p>
        </p:txBody>
      </p:sp>
      <p:sp>
        <p:nvSpPr>
          <p:cNvPr id="46" name="Shape 33"/>
          <p:cNvSpPr/>
          <p:nvPr/>
        </p:nvSpPr>
        <p:spPr>
          <a:xfrm>
            <a:off x="4572000" y="1472184"/>
            <a:ext cx="4343400" cy="320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508760"/>
            <a:ext cx="201168" cy="20116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4882896" y="1472184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2.  Promoted first row as headers</a:t>
            </a:r>
            <a:endParaRPr lang="en-US" sz="950" dirty="0"/>
          </a:p>
        </p:txBody>
      </p:sp>
      <p:sp>
        <p:nvSpPr>
          <p:cNvPr id="49" name="Shape 35"/>
          <p:cNvSpPr/>
          <p:nvPr/>
        </p:nvSpPr>
        <p:spPr>
          <a:xfrm>
            <a:off x="4572000" y="1810512"/>
            <a:ext cx="434340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847088"/>
            <a:ext cx="201168" cy="2011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4882896" y="1810512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3.  Removed fully blank/null rows</a:t>
            </a:r>
            <a:endParaRPr lang="en-US" sz="950" dirty="0"/>
          </a:p>
        </p:txBody>
      </p:sp>
      <p:sp>
        <p:nvSpPr>
          <p:cNvPr id="52" name="Shape 37"/>
          <p:cNvSpPr/>
          <p:nvPr/>
        </p:nvSpPr>
        <p:spPr>
          <a:xfrm>
            <a:off x="4572000" y="2148840"/>
            <a:ext cx="4343400" cy="320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185416"/>
            <a:ext cx="201168" cy="201168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4882896" y="2148840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4.  Applied Text.Trim to item_name</a:t>
            </a:r>
            <a:endParaRPr lang="en-US" sz="950" dirty="0"/>
          </a:p>
        </p:txBody>
      </p:sp>
      <p:sp>
        <p:nvSpPr>
          <p:cNvPr id="55" name="Shape 39"/>
          <p:cNvSpPr/>
          <p:nvPr/>
        </p:nvSpPr>
        <p:spPr>
          <a:xfrm>
            <a:off x="4572000" y="2487168"/>
            <a:ext cx="434340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523744"/>
            <a:ext cx="201168" cy="201168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4882896" y="248716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5.  Applied Text.Trim to category</a:t>
            </a:r>
            <a:endParaRPr lang="en-US" sz="950" dirty="0"/>
          </a:p>
        </p:txBody>
      </p:sp>
      <p:sp>
        <p:nvSpPr>
          <p:cNvPr id="58" name="Shape 41"/>
          <p:cNvSpPr/>
          <p:nvPr/>
        </p:nvSpPr>
        <p:spPr>
          <a:xfrm>
            <a:off x="4572000" y="2825496"/>
            <a:ext cx="4343400" cy="320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59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862072"/>
            <a:ext cx="201168" cy="201168"/>
          </a:xfrm>
          <a:prstGeom prst="rect">
            <a:avLst/>
          </a:prstGeom>
        </p:spPr>
      </p:pic>
      <p:sp>
        <p:nvSpPr>
          <p:cNvPr id="60" name="Text 42"/>
          <p:cNvSpPr/>
          <p:nvPr/>
        </p:nvSpPr>
        <p:spPr>
          <a:xfrm>
            <a:off x="4882896" y="2825496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6.  Standardised category casing (Proper)</a:t>
            </a:r>
            <a:endParaRPr lang="en-US" sz="950" dirty="0"/>
          </a:p>
        </p:txBody>
      </p:sp>
      <p:sp>
        <p:nvSpPr>
          <p:cNvPr id="61" name="Shape 43"/>
          <p:cNvSpPr/>
          <p:nvPr/>
        </p:nvSpPr>
        <p:spPr>
          <a:xfrm>
            <a:off x="4572000" y="3163824"/>
            <a:ext cx="4343400" cy="320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2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200400"/>
            <a:ext cx="201168" cy="201168"/>
          </a:xfrm>
          <a:prstGeom prst="rect">
            <a:avLst/>
          </a:prstGeom>
        </p:spPr>
      </p:pic>
      <p:sp>
        <p:nvSpPr>
          <p:cNvPr id="63" name="Text 44"/>
          <p:cNvSpPr/>
          <p:nvPr/>
        </p:nvSpPr>
        <p:spPr>
          <a:xfrm>
            <a:off x="4882896" y="3163824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7.  Changed price column → Decimal type</a:t>
            </a:r>
            <a:endParaRPr lang="en-US" sz="950" dirty="0"/>
          </a:p>
        </p:txBody>
      </p:sp>
      <p:sp>
        <p:nvSpPr>
          <p:cNvPr id="64" name="Shape 45"/>
          <p:cNvSpPr/>
          <p:nvPr/>
        </p:nvSpPr>
        <p:spPr>
          <a:xfrm>
            <a:off x="4572000" y="3502152"/>
            <a:ext cx="4343400" cy="3200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3538728"/>
            <a:ext cx="201168" cy="201168"/>
          </a:xfrm>
          <a:prstGeom prst="rect">
            <a:avLst/>
          </a:prstGeom>
        </p:spPr>
      </p:pic>
      <p:sp>
        <p:nvSpPr>
          <p:cNvPr id="66" name="Text 46"/>
          <p:cNvSpPr/>
          <p:nvPr/>
        </p:nvSpPr>
        <p:spPr>
          <a:xfrm>
            <a:off x="4882896" y="3502152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8.  Verified menu_item_id uniqueness</a:t>
            </a:r>
            <a:endParaRPr lang="en-US" sz="950" dirty="0"/>
          </a:p>
        </p:txBody>
      </p:sp>
      <p:sp>
        <p:nvSpPr>
          <p:cNvPr id="67" name="Shape 47"/>
          <p:cNvSpPr/>
          <p:nvPr/>
        </p:nvSpPr>
        <p:spPr>
          <a:xfrm>
            <a:off x="4370832" y="1133856"/>
            <a:ext cx="173736" cy="3392424"/>
          </a:xfrm>
          <a:prstGeom prst="rect">
            <a:avLst/>
          </a:prstGeom>
          <a:solidFill>
            <a:srgbClr val="FFC72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9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 MERGING &amp; JOIN LOGIC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498080" y="173736"/>
            <a:ext cx="1463040" cy="256032"/>
          </a:xfrm>
          <a:prstGeom prst="roundRect">
            <a:avLst>
              <a:gd name="adj" fmla="val 42857"/>
            </a:avLst>
          </a:prstGeom>
          <a:solidFill>
            <a:srgbClr val="DA020E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73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04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McDonald's Data Cleaning &amp; Preprocessing Report  |  Prepared by: RANJEET ANADA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901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5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74320" y="777240"/>
            <a:ext cx="2560320" cy="155448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777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order_details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1124712"/>
            <a:ext cx="256032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112471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order_id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1426464"/>
            <a:ext cx="2560320" cy="2834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" y="142646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item_id  ◄ JOIN KEY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1728216"/>
            <a:ext cx="256032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172821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order_date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2029968"/>
            <a:ext cx="256032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202996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order_time</a:t>
            </a:r>
            <a:endParaRPr lang="en-US" sz="9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325880"/>
            <a:ext cx="54864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944368" y="1673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A020E"/>
                </a:solidFill>
              </a:rPr>
              <a:t>LEFT JOIN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023360" y="777240"/>
            <a:ext cx="2560320" cy="1554480"/>
          </a:xfrm>
          <a:prstGeom prst="rect">
            <a:avLst/>
          </a:prstGeom>
          <a:solidFill>
            <a:srgbClr val="C8860A"/>
          </a:solidFill>
          <a:ln/>
        </p:spPr>
      </p:sp>
      <p:sp>
        <p:nvSpPr>
          <p:cNvPr id="24" name="Text 20"/>
          <p:cNvSpPr/>
          <p:nvPr/>
        </p:nvSpPr>
        <p:spPr>
          <a:xfrm>
            <a:off x="4023360" y="7772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menu_items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023360" y="1124712"/>
            <a:ext cx="2560320" cy="2834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26" name="Text 22"/>
          <p:cNvSpPr/>
          <p:nvPr/>
        </p:nvSpPr>
        <p:spPr>
          <a:xfrm>
            <a:off x="4114800" y="112471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</a:rPr>
              <a:t>menu_item_id  ◄ JOIN KEY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023360" y="1426464"/>
            <a:ext cx="256032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4114800" y="142646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item_name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023360" y="1728216"/>
            <a:ext cx="256032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0" y="172821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category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023360" y="2029968"/>
            <a:ext cx="2560320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4114800" y="202996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</a:rPr>
              <a:t>price</a:t>
            </a:r>
            <a:endParaRPr lang="en-US" sz="95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325880"/>
            <a:ext cx="457200" cy="45720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7406640" y="777240"/>
            <a:ext cx="1554480" cy="1554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1"/>
          <p:cNvSpPr/>
          <p:nvPr/>
        </p:nvSpPr>
        <p:spPr>
          <a:xfrm>
            <a:off x="7406640" y="1097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MERGED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TABLE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406640" y="2011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72C"/>
                </a:solidFill>
              </a:rPr>
              <a:t>orders_merged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274320" y="2487168"/>
            <a:ext cx="8641080" cy="23774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4"/>
          <p:cNvSpPr/>
          <p:nvPr/>
        </p:nvSpPr>
        <p:spPr>
          <a:xfrm>
            <a:off x="365760" y="2487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C72C"/>
                </a:solidFill>
              </a:rPr>
              <a:t>Power Query M Code — Table Merge Logic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274320" y="2724912"/>
            <a:ext cx="8641080" cy="20116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1" name="Text 36"/>
          <p:cNvSpPr/>
          <p:nvPr/>
        </p:nvSpPr>
        <p:spPr>
          <a:xfrm>
            <a:off x="411480" y="274320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411480" y="292608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Source_Orders   = Excel.CurrentWorkbook(){[Name="order_details"]}[Content],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411480" y="31089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Source_Menu     = Excel.CurrentWorkbook(){[Name="menu_items"]}[Content],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411480" y="32918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Merged_Table    = Table.NestedJoin(Source_Orders, {"item_id"},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411480" y="34747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Source_Menu, {"menu_item_id"},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411480" y="365760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"menu_items", JoinKind.LeftOuter),</a:t>
            </a:r>
            <a:endParaRPr lang="en-US" sz="850" dirty="0"/>
          </a:p>
        </p:txBody>
      </p:sp>
      <p:sp>
        <p:nvSpPr>
          <p:cNvPr id="47" name="Text 42"/>
          <p:cNvSpPr/>
          <p:nvPr/>
        </p:nvSpPr>
        <p:spPr>
          <a:xfrm>
            <a:off x="411480" y="384048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Expanded        = Table.ExpandTableColumn(Merged_Table, "menu_items",</a:t>
            </a:r>
            <a:endParaRPr lang="en-US" sz="850" dirty="0"/>
          </a:p>
        </p:txBody>
      </p:sp>
      <p:sp>
        <p:nvSpPr>
          <p:cNvPr id="48" name="Text 43"/>
          <p:cNvSpPr/>
          <p:nvPr/>
        </p:nvSpPr>
        <p:spPr>
          <a:xfrm>
            <a:off x="411480" y="402336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{"item_name", "category", "price"})</a:t>
            </a:r>
            <a:endParaRPr lang="en-US" sz="850" dirty="0"/>
          </a:p>
        </p:txBody>
      </p:sp>
      <p:sp>
        <p:nvSpPr>
          <p:cNvPr id="49" name="Text 44"/>
          <p:cNvSpPr/>
          <p:nvPr/>
        </p:nvSpPr>
        <p:spPr>
          <a:xfrm>
            <a:off x="411480" y="42062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C7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411480" y="43891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Expanded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274320" y="4754880"/>
            <a:ext cx="8641080" cy="91440"/>
          </a:xfrm>
          <a:prstGeom prst="rect">
            <a:avLst/>
          </a:prstGeom>
          <a:solidFill>
            <a:srgbClr val="FFC72C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9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 &amp; TRANSFORMATION LOGIC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498080" y="173736"/>
            <a:ext cx="1463040" cy="256032"/>
          </a:xfrm>
          <a:prstGeom prst="roundRect">
            <a:avLst>
              <a:gd name="adj" fmla="val 42857"/>
            </a:avLst>
          </a:prstGeom>
          <a:solidFill>
            <a:srgbClr val="DA020E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73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05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McDonald's Data Cleaning &amp; Preprocessing Report  |  Prepared by: RANJEET ANADA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901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6 / 8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2880" y="768096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82880" y="768096"/>
            <a:ext cx="2834640" cy="347472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83210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768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 Name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4320" y="11704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55555"/>
                </a:solidFill>
              </a:rPr>
              <a:t>Logic: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74320" y="1335024"/>
            <a:ext cx="265176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2"/>
          <p:cNvSpPr/>
          <p:nvPr/>
        </p:nvSpPr>
        <p:spPr>
          <a:xfrm>
            <a:off x="310896" y="134416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Date.MonthName([order_date])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274320" y="184708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Purpose: Enables monthly trend analysis &amp; time-series reporting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154680" y="768096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54680" y="768096"/>
            <a:ext cx="2834640" cy="347472"/>
          </a:xfrm>
          <a:prstGeom prst="rect">
            <a:avLst/>
          </a:prstGeom>
          <a:solidFill>
            <a:srgbClr val="C8860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832104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38728" y="768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 Name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246120" y="11704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55555"/>
                </a:solidFill>
              </a:rPr>
              <a:t>Logic: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3246120" y="1335024"/>
            <a:ext cx="265176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4" name="Text 19"/>
          <p:cNvSpPr/>
          <p:nvPr/>
        </p:nvSpPr>
        <p:spPr>
          <a:xfrm>
            <a:off x="3282696" y="134416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Date.DayOfWeekName([order_date])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3246120" y="184708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Purpose: Supports weekday vs weekend segmentation analysis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126480" y="768096"/>
            <a:ext cx="28346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26480" y="768096"/>
            <a:ext cx="2834640" cy="347472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83210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10528" y="768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Hour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217920" y="11704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55555"/>
                </a:solidFill>
              </a:rPr>
              <a:t>Logic: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6217920" y="1335024"/>
            <a:ext cx="265176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2" name="Text 26"/>
          <p:cNvSpPr/>
          <p:nvPr/>
        </p:nvSpPr>
        <p:spPr>
          <a:xfrm>
            <a:off x="6254496" y="1344168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Time.Hour([order_time])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6217920" y="1847088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Purpose: Enables hourly order distribution and peak-hour analysis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182880" y="2651760"/>
            <a:ext cx="4297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82880" y="2651760"/>
            <a:ext cx="4297680" cy="347472"/>
          </a:xfrm>
          <a:prstGeom prst="rect">
            <a:avLst/>
          </a:prstGeom>
          <a:solidFill>
            <a:srgbClr val="6C3483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2715768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66928" y="2651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Day_Type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274320" y="30540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55555"/>
                </a:solidFill>
              </a:rPr>
              <a:t>Logic:</a:t>
            </a:r>
            <a:endParaRPr lang="en-US" sz="750" dirty="0"/>
          </a:p>
        </p:txBody>
      </p:sp>
      <p:sp>
        <p:nvSpPr>
          <p:cNvPr id="39" name="Shape 32"/>
          <p:cNvSpPr/>
          <p:nvPr/>
        </p:nvSpPr>
        <p:spPr>
          <a:xfrm>
            <a:off x="274320" y="3218688"/>
            <a:ext cx="411480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0" name="Text 33"/>
          <p:cNvSpPr/>
          <p:nvPr/>
        </p:nvSpPr>
        <p:spPr>
          <a:xfrm>
            <a:off x="310896" y="3227832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Date.DayOfWeek([order_date]) &gt;= 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"Weekend" else "Weekday"</a:t>
            </a:r>
            <a:endParaRPr lang="en-US" sz="750" dirty="0"/>
          </a:p>
        </p:txBody>
      </p:sp>
      <p:sp>
        <p:nvSpPr>
          <p:cNvPr id="41" name="Text 34"/>
          <p:cNvSpPr/>
          <p:nvPr/>
        </p:nvSpPr>
        <p:spPr>
          <a:xfrm>
            <a:off x="274320" y="373075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Purpose: Segments orders for weekday vs weekend revenue comparison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3154680" y="2651760"/>
            <a:ext cx="42976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3154680" y="2651760"/>
            <a:ext cx="4297680" cy="347472"/>
          </a:xfrm>
          <a:prstGeom prst="rect">
            <a:avLst/>
          </a:prstGeom>
          <a:solidFill>
            <a:srgbClr val="117A65"/>
          </a:solidFill>
          <a:ln/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715768"/>
            <a:ext cx="219456" cy="21945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538728" y="2651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Time_Bucket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3246120" y="30540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55555"/>
                </a:solidFill>
              </a:rPr>
              <a:t>Logic:</a:t>
            </a:r>
            <a:endParaRPr lang="en-US" sz="750" dirty="0"/>
          </a:p>
        </p:txBody>
      </p:sp>
      <p:sp>
        <p:nvSpPr>
          <p:cNvPr id="47" name="Shape 39"/>
          <p:cNvSpPr/>
          <p:nvPr/>
        </p:nvSpPr>
        <p:spPr>
          <a:xfrm>
            <a:off x="3246120" y="3218688"/>
            <a:ext cx="411480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8" name="Text 40"/>
          <p:cNvSpPr/>
          <p:nvPr/>
        </p:nvSpPr>
        <p:spPr>
          <a:xfrm>
            <a:off x="3282696" y="3227832"/>
            <a:ext cx="4041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[Hour] &lt; 12 then "Morning"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[Hour] &lt; 17 then "Afternoon"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"Evening"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3246120" y="373075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Purpose: Groups orders into time periods for shift-level analysis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972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QUALITY IMPROVEMENTS &amp; FINAL SUMMARY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498080" y="173736"/>
            <a:ext cx="1463040" cy="256032"/>
          </a:xfrm>
          <a:prstGeom prst="roundRect">
            <a:avLst>
              <a:gd name="adj" fmla="val 42857"/>
            </a:avLst>
          </a:prstGeom>
          <a:solidFill>
            <a:srgbClr val="DA020E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173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06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McDonald's Data Cleaning &amp; Preprocessing Report  |  Prepared by: RANJEET ANADA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901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7 / 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020E"/>
                </a:solidFill>
              </a:rPr>
              <a:t>Before vs After Cleaning Comparison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24128"/>
          <a:ext cx="8595360" cy="204825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Issue Identified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Before Cleaning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02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After Cleaning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02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Null Values in item_id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~38 null rows present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nulls removed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Accurate order 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Date Format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Mixed: DD/MM, MM-DD, ISO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Standardised Date type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Correct time analysis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Data Types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Text for numeric fields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Correct types applied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Calculations enabled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Text Casing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burger / BURGER / Burger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Proper Case applied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Consistent grouping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Whitespace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Leading/trailing spaces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Text.Trim applied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Exact match filters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Missing References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Orphan item IDs exist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Left Join with validation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 broken joins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74320" y="32186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020E"/>
                </a:solidFill>
              </a:rPr>
              <a:t>Final Dataset Benefits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" y="3511296"/>
            <a:ext cx="2029968" cy="1243584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3511296"/>
            <a:ext cx="2029968" cy="54864"/>
          </a:xfrm>
          <a:prstGeom prst="rect">
            <a:avLst/>
          </a:prstGeom>
          <a:solidFill>
            <a:srgbClr val="FFC72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027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" y="3566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A020E"/>
                </a:solidFill>
              </a:rPr>
              <a:t>Analysis Ready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5760" y="39319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Clean, structured dataset ready for pivot tables and dashboards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2441448" y="3511296"/>
            <a:ext cx="2029968" cy="1243584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441448" y="3511296"/>
            <a:ext cx="2029968" cy="54864"/>
          </a:xfrm>
          <a:prstGeom prst="rect">
            <a:avLst/>
          </a:prstGeom>
          <a:solidFill>
            <a:srgbClr val="FFC72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8" y="36027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862072" y="3566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A020E"/>
                </a:solidFill>
              </a:rPr>
              <a:t>Improved Consistency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2532888" y="39319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Uniform data types and naming conventions throughout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608576" y="3511296"/>
            <a:ext cx="2029968" cy="1243584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08576" y="3511296"/>
            <a:ext cx="2029968" cy="54864"/>
          </a:xfrm>
          <a:prstGeom prst="rect">
            <a:avLst/>
          </a:prstGeom>
          <a:solidFill>
            <a:srgbClr val="FFC72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6027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029200" y="3566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A020E"/>
                </a:solidFill>
              </a:rPr>
              <a:t>Accurate KPIs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700016" y="39319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Revenue, order counts, and averages compute correctly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6775704" y="3511296"/>
            <a:ext cx="2029968" cy="1243584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775704" y="3511296"/>
            <a:ext cx="2029968" cy="54864"/>
          </a:xfrm>
          <a:prstGeom prst="rect">
            <a:avLst/>
          </a:prstGeom>
          <a:solidFill>
            <a:srgbClr val="FFC72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3602736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96328" y="3566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A020E"/>
                </a:solidFill>
              </a:rPr>
              <a:t>Better Reporting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6867144" y="39319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Time-based slicing by month, day, hour, and bucket enabled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02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8229600" cy="4572000"/>
          </a:xfrm>
          <a:prstGeom prst="rect">
            <a:avLst/>
          </a:prstGeom>
          <a:solidFill>
            <a:srgbClr val="FFFFFF"/>
          </a:solidFill>
          <a:ln/>
          <a:effectLst>
            <a:outerShdw blurRad="2540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457200"/>
            <a:ext cx="1097280" cy="658368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5720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C72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28800" y="43891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A020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80467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McDonald's Data Cleaning &amp; Preprocessing Report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170432"/>
            <a:ext cx="8010144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280160"/>
            <a:ext cx="8010144" cy="4023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280160"/>
            <a:ext cx="54864" cy="402336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344168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9264" y="1280160"/>
            <a:ext cx="7534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The raw datasets were imported from order_details.csv and menu_items.xlsx using Power Query Editor in Microsoft Excel.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1737360"/>
            <a:ext cx="8010144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66928" y="1737360"/>
            <a:ext cx="54864" cy="402336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80136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69264" y="1737360"/>
            <a:ext cx="7534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Six major data quality issues were identified including null values, inconsistent date formats, incorrect data types, and unclean text.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66928" y="2194560"/>
            <a:ext cx="8010144" cy="4023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6"/>
          <p:cNvSpPr/>
          <p:nvPr/>
        </p:nvSpPr>
        <p:spPr>
          <a:xfrm>
            <a:off x="566928" y="2194560"/>
            <a:ext cx="54864" cy="402336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25856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9264" y="2194560"/>
            <a:ext cx="7534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A systematic cleaning workflow was applied to each table separately before merging via a Left Join on item_id / menu_item_id.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66928" y="2651760"/>
            <a:ext cx="8010144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9"/>
          <p:cNvSpPr/>
          <p:nvPr/>
        </p:nvSpPr>
        <p:spPr>
          <a:xfrm>
            <a:off x="566928" y="2651760"/>
            <a:ext cx="54864" cy="402336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715768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9264" y="2651760"/>
            <a:ext cx="7534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Five new engineered columns were created: Month Name, Day Name, Hour, Day_Type, and Time_Bucket to support advanced analysis.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66928" y="3108960"/>
            <a:ext cx="8010144" cy="402336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Shape 22"/>
          <p:cNvSpPr/>
          <p:nvPr/>
        </p:nvSpPr>
        <p:spPr>
          <a:xfrm>
            <a:off x="566928" y="3108960"/>
            <a:ext cx="54864" cy="402336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172968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9264" y="3108960"/>
            <a:ext cx="7534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The final merged and cleaned dataset enabled accurate calculation of all KPIs including total revenue, orders by time, and category-wise analysis.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66928" y="3566160"/>
            <a:ext cx="8010144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5"/>
          <p:cNvSpPr/>
          <p:nvPr/>
        </p:nvSpPr>
        <p:spPr>
          <a:xfrm>
            <a:off x="566928" y="3566160"/>
            <a:ext cx="54864" cy="402336"/>
          </a:xfrm>
          <a:prstGeom prst="rect">
            <a:avLst/>
          </a:prstGeom>
          <a:solidFill>
            <a:srgbClr val="DA020E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630168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69264" y="3566160"/>
            <a:ext cx="7534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</a:rPr>
              <a:t>The cleaned dataset directly powered the McDonald's Sales Dashboard with reliable, analysis-ready data.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66928" y="4059936"/>
            <a:ext cx="8010144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6" name="Text 28"/>
          <p:cNvSpPr/>
          <p:nvPr/>
        </p:nvSpPr>
        <p:spPr>
          <a:xfrm>
            <a:off x="566928" y="41513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020E"/>
                </a:solidFill>
              </a:rPr>
              <a:t>Prepared By: RANJEET ANADA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4754880" y="415137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</a:rPr>
              <a:t>McDonald's Sales Analytics Project  •  May 2026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566928" y="449884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Data Quality Ensured  •  Power Query Workflow Documented  •  Dashboard-Ready Output Delivered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DA020E"/>
          </a:solidFill>
          <a:ln/>
        </p:spPr>
      </p:sp>
      <p:sp>
        <p:nvSpPr>
          <p:cNvPr id="40" name="Text 32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McDonald's Data Cleaning &amp; Preprocessing Report  |  Prepared by: RANJEET ANADA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8412480" y="49011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1252</Words>
  <Application>Microsoft Office PowerPoint</Application>
  <PresentationFormat>On-screen Show (16:9)</PresentationFormat>
  <Paragraphs>211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Impact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Data Cleaning &amp; Preprocessing Report</dc:title>
  <dc:subject>PptxGenJS Presentation</dc:subject>
  <dc:creator>Ranjeet Anada</dc:creator>
  <cp:lastModifiedBy>RANJEET CHOUDHARY</cp:lastModifiedBy>
  <cp:revision>3</cp:revision>
  <dcterms:created xsi:type="dcterms:W3CDTF">2026-05-11T11:58:38Z</dcterms:created>
  <dcterms:modified xsi:type="dcterms:W3CDTF">2026-05-12T11:43:09Z</dcterms:modified>
</cp:coreProperties>
</file>